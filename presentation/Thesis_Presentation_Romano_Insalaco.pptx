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ExtraBold"/>
      <p:bold r:id="rId35"/>
      <p:boldItalic r:id="rId36"/>
    </p:embeddedFont>
    <p:embeddedFont>
      <p:font typeface="Roboto Mono"/>
      <p:regular r:id="rId37"/>
      <p:bold r:id="rId38"/>
      <p:italic r:id="rId39"/>
      <p:boldItalic r:id="rId40"/>
    </p:embeddedFont>
    <p:embeddedFont>
      <p:font typeface="Merriweather"/>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Italic.fntdata"/><Relationship Id="rId20" Type="http://schemas.openxmlformats.org/officeDocument/2006/relationships/slide" Target="slides/slide14.xml"/><Relationship Id="rId42" Type="http://schemas.openxmlformats.org/officeDocument/2006/relationships/font" Target="fonts/Merriweather-bold.fntdata"/><Relationship Id="rId41" Type="http://schemas.openxmlformats.org/officeDocument/2006/relationships/font" Target="fonts/Merriweather-regular.fntdata"/><Relationship Id="rId22" Type="http://schemas.openxmlformats.org/officeDocument/2006/relationships/slide" Target="slides/slide16.xml"/><Relationship Id="rId44" Type="http://schemas.openxmlformats.org/officeDocument/2006/relationships/font" Target="fonts/Merriweather-boldItalic.fntdata"/><Relationship Id="rId21" Type="http://schemas.openxmlformats.org/officeDocument/2006/relationships/slide" Target="slides/slide15.xml"/><Relationship Id="rId43" Type="http://schemas.openxmlformats.org/officeDocument/2006/relationships/font" Target="fonts/Merriweather-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ExtraBold-bold.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Mono-regular.fntdata"/><Relationship Id="rId14" Type="http://schemas.openxmlformats.org/officeDocument/2006/relationships/slide" Target="slides/slide8.xml"/><Relationship Id="rId36" Type="http://schemas.openxmlformats.org/officeDocument/2006/relationships/font" Target="fonts/RobotoExtraBold-boldItalic.fntdata"/><Relationship Id="rId17" Type="http://schemas.openxmlformats.org/officeDocument/2006/relationships/slide" Target="slides/slide11.xml"/><Relationship Id="rId39" Type="http://schemas.openxmlformats.org/officeDocument/2006/relationships/font" Target="fonts/RobotoMono-italic.fntdata"/><Relationship Id="rId16" Type="http://schemas.openxmlformats.org/officeDocument/2006/relationships/slide" Target="slides/slide10.xml"/><Relationship Id="rId38" Type="http://schemas.openxmlformats.org/officeDocument/2006/relationships/font" Target="fonts/RobotoMon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01d95b6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f501d95b6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Good morning, everyone. I am Giuseppe Insalaco, and today, together with my colleague Simone Romano, I will present our thesis work on the design and implementation of an eBPF-based runtime security monitoring tool. The work was carried out in collaboration with Rakuten Mobile and is based on a common system architecture, while our individual theses focus on different components of the system.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501d95b6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501d95b6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1"/>
                </a:solidFill>
              </a:rPr>
              <a:t>Before presenting the system and our individual contributions, I will briefly introduce the technology on which it is based. eBPF allows small programs to run within the Linux kernel. The program is initially loaded from user space and checked by the kernel verifier, which ensures that it can execute safely. After verification, the program is attached to a specific kernel hook. When the corresponding kernel event occurs, the hook triggers the eBPF program, which reads the available context and collects the relevant event data. This approach provides direct visibility into kernel activity. It also allows unnecessary data to be discarded before transferring information to user space, reducing processing overhead. These properties make eBPF a suitable foundation for the runtime security monitoring system presented in this thesis. </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bbd871c4d_6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g3fbbd871c4d_6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it" sz="1200"/>
              <a:t>With this background, I can now introduce the project context. The system had to satisfy two main requirements.</a:t>
            </a:r>
            <a:endParaRPr sz="1200"/>
          </a:p>
          <a:p>
            <a:pPr indent="0" lvl="0" marL="0" rtl="0" algn="l">
              <a:lnSpc>
                <a:spcPct val="115000"/>
              </a:lnSpc>
              <a:spcBef>
                <a:spcPts val="1200"/>
              </a:spcBef>
              <a:spcAft>
                <a:spcPts val="0"/>
              </a:spcAft>
              <a:buSzPts val="1100"/>
              <a:buNone/>
            </a:pPr>
            <a:r>
              <a:rPr lang="it" sz="1200"/>
              <a:t>The first was compatibility with Rocky Linux 8.10 and its 4.18-based enterprise kernel. Since enterprise distributions backport selected capabilities, eBPF support could not be determined from the kernel version alone. Therefore, program types, helpers, maps and attachment mechanisms had to be verified on the target platform.</a:t>
            </a:r>
            <a:endParaRPr sz="1200"/>
          </a:p>
          <a:p>
            <a:pPr indent="0" lvl="0" marL="0" rtl="0" algn="l">
              <a:lnSpc>
                <a:spcPct val="115000"/>
              </a:lnSpc>
              <a:spcBef>
                <a:spcPts val="1200"/>
              </a:spcBef>
              <a:spcAft>
                <a:spcPts val="0"/>
              </a:spcAft>
              <a:buClr>
                <a:schemeClr val="dk1"/>
              </a:buClr>
              <a:buSzPts val="1100"/>
              <a:buFont typeface="Arial"/>
              <a:buNone/>
            </a:pPr>
            <a:r>
              <a:rPr lang="it" sz="1200"/>
              <a:t>The second requirement concerned performance: CPU usage had to remain below 5 percent of one logical core under the recommended workload-scoped configuration.</a:t>
            </a:r>
            <a:endParaRPr sz="1200"/>
          </a:p>
          <a:p>
            <a:pPr indent="0" lvl="0" marL="0" rtl="0" algn="l">
              <a:lnSpc>
                <a:spcPct val="115000"/>
              </a:lnSpc>
              <a:spcBef>
                <a:spcPts val="1200"/>
              </a:spcBef>
              <a:spcAft>
                <a:spcPts val="0"/>
              </a:spcAft>
              <a:buClr>
                <a:schemeClr val="dk1"/>
              </a:buClr>
              <a:buSzPts val="1100"/>
              <a:buFont typeface="Arial"/>
              <a:buNone/>
            </a:pPr>
            <a:r>
              <a:rPr lang="it" sz="1200"/>
              <a:t>In addition, we used Tracee, an open-source multi-kernel runtime security and observability tool,  as an architectural reference, particularly for the common event model and the separation between kernel collection and user-space processing.</a:t>
            </a:r>
            <a:endParaRPr sz="1200"/>
          </a:p>
          <a:p>
            <a:pPr indent="0" lvl="0" marL="0" rtl="0" algn="l">
              <a:spcBef>
                <a:spcPts val="1200"/>
              </a:spcBef>
              <a:spcAft>
                <a:spcPts val="0"/>
              </a:spcAft>
              <a:buNone/>
            </a:pPr>
            <a:r>
              <a:t/>
            </a:r>
            <a:endParaRPr sz="1200"/>
          </a:p>
        </p:txBody>
      </p:sp>
      <p:sp>
        <p:nvSpPr>
          <p:cNvPr id="88" name="Google Shape;88;g3fbbd871c4d_6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b55ba768_3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fbb55ba768_3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it" sz="1200"/>
              <a:t>The pipeline has a setup path and an event path. Setup runs in user space. The runtime first validates the command-line configuration, policies and detectors. It then prepares the monitoring run by resolving the event scope, the eBPF object and the BTF source. Finally, it prepares the maps and event channel and attaches the selected instrumentation. After monitoring starts, the eBPF programs collect the available context and submit binary records through the perf event buffer. The Go runtime receives each record, decodes and enriches it, then applies event and policy filtering. </a:t>
            </a:r>
            <a:r>
              <a:rPr lang="it" sz="1200"/>
              <a:t>Events and detector alerts are delivered through distinct, dedicated output channels, completely isolated from operational diagnostics.</a:t>
            </a:r>
            <a:endParaRPr sz="1200"/>
          </a:p>
          <a:p>
            <a:pPr indent="0" lvl="0" marL="0" rtl="0" algn="l">
              <a:spcBef>
                <a:spcPts val="0"/>
              </a:spcBef>
              <a:spcAft>
                <a:spcPts val="0"/>
              </a:spcAft>
              <a:buNone/>
            </a:pPr>
            <a:r>
              <a:rPr lang="it" sz="1200"/>
              <a:t>Now I'll leave the floor to Simone to continue with the general architecture.</a:t>
            </a:r>
            <a:endParaRPr sz="1200"/>
          </a:p>
          <a:p>
            <a:pPr indent="0" lvl="0" marL="0" rtl="0" algn="l">
              <a:spcBef>
                <a:spcPts val="0"/>
              </a:spcBef>
              <a:spcAft>
                <a:spcPts val="0"/>
              </a:spcAft>
              <a:buNone/>
            </a:pPr>
            <a:r>
              <a:t/>
            </a:r>
            <a:endParaRPr/>
          </a:p>
        </p:txBody>
      </p:sp>
      <p:sp>
        <p:nvSpPr>
          <p:cNvPr id="115" name="Google Shape;115;g3fbb55ba768_3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501d95b6e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501d95b6e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Once a kernel program collects an observation, the information must be transferred to user space in a consistent format. For this purpose, every</a:t>
            </a:r>
            <a:endParaRPr/>
          </a:p>
          <a:p>
            <a:pPr indent="0" lvl="0" marL="0" rtl="0" algn="l">
              <a:spcBef>
                <a:spcPts val="0"/>
              </a:spcBef>
              <a:spcAft>
                <a:spcPts val="0"/>
              </a:spcAft>
              <a:buClr>
                <a:schemeClr val="dk1"/>
              </a:buClr>
              <a:buSzPts val="1100"/>
              <a:buFont typeface="Arial"/>
              <a:buNone/>
            </a:pPr>
            <a:r>
              <a:rPr lang="it"/>
              <a:t>  record contains a common context, the number of arguments, and a buffer of indexed values. The context identifies the event and the process that</a:t>
            </a:r>
            <a:endParaRPr/>
          </a:p>
          <a:p>
            <a:pPr indent="0" lvl="0" marL="0" rtl="0" algn="l">
              <a:spcBef>
                <a:spcPts val="0"/>
              </a:spcBef>
              <a:spcAft>
                <a:spcPts val="0"/>
              </a:spcAft>
              <a:buClr>
                <a:schemeClr val="dk1"/>
              </a:buClr>
              <a:buSzPts val="1100"/>
              <a:buFont typeface="Arial"/>
              <a:buNone/>
            </a:pPr>
            <a:r>
              <a:rPr lang="it"/>
              <a:t>  generated 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event ID connects the binary record to a shared registry. This registry tells the Go decoder the event name, the argument names, and their types.</a:t>
            </a:r>
            <a:endParaRPr/>
          </a:p>
          <a:p>
            <a:pPr indent="0" lvl="0" marL="0" rtl="0" algn="l">
              <a:spcBef>
                <a:spcPts val="0"/>
              </a:spcBef>
              <a:spcAft>
                <a:spcPts val="0"/>
              </a:spcAft>
              <a:buClr>
                <a:schemeClr val="dk1"/>
              </a:buClr>
              <a:buSzPts val="1100"/>
              <a:buFont typeface="Arial"/>
              <a:buNone/>
            </a:pPr>
            <a:r>
              <a:rPr lang="it"/>
              <a:t>  The decoder can therefore transform a compact kernel record into a typed event. It also adds readable labels for values such as flags, capabilities,</a:t>
            </a:r>
            <a:endParaRPr/>
          </a:p>
          <a:p>
            <a:pPr indent="0" lvl="0" marL="0" rtl="0" algn="l">
              <a:spcBef>
                <a:spcPts val="0"/>
              </a:spcBef>
              <a:spcAft>
                <a:spcPts val="0"/>
              </a:spcAft>
              <a:buClr>
                <a:schemeClr val="dk1"/>
              </a:buClr>
              <a:buSzPts val="1100"/>
              <a:buFont typeface="Arial"/>
              <a:buNone/>
            </a:pPr>
            <a:r>
              <a:rPr lang="it"/>
              <a:t> </a:t>
            </a:r>
            <a:r>
              <a:rPr lang="it"/>
              <a:t> </a:t>
            </a:r>
            <a:r>
              <a:rPr lang="it"/>
              <a:t>and error codes.</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b88aa209f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fb88aa209f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200">
                <a:solidFill>
                  <a:schemeClr val="dk1"/>
                </a:solidFill>
              </a:rPr>
              <a:t>After decoding, events pass through the policy and detection layer.</a:t>
            </a:r>
            <a:endParaRPr sz="1200">
              <a:solidFill>
                <a:schemeClr val="dk1"/>
              </a:solidFill>
            </a:endParaRPr>
          </a:p>
          <a:p>
            <a:pPr indent="0" lvl="0" marL="0" rtl="0" algn="l">
              <a:spcBef>
                <a:spcPts val="0"/>
              </a:spcBef>
              <a:spcAft>
                <a:spcPts val="0"/>
              </a:spcAft>
              <a:buSzPts val="1100"/>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it" sz="1200">
                <a:solidFill>
                  <a:schemeClr val="dk1"/>
                </a:solidFill>
              </a:rPr>
              <a:t>  A policy defines the scope of a monitoring task. It selects which events are relevant. For example, a policy can admit only process-</a:t>
            </a:r>
            <a:endParaRPr sz="1200">
              <a:solidFill>
                <a:schemeClr val="dk1"/>
              </a:solidFill>
            </a:endParaRPr>
          </a:p>
          <a:p>
            <a:pPr indent="0" lvl="0" marL="0" rtl="0" algn="l">
              <a:spcBef>
                <a:spcPts val="0"/>
              </a:spcBef>
              <a:spcAft>
                <a:spcPts val="0"/>
              </a:spcAft>
              <a:buClr>
                <a:schemeClr val="dk1"/>
              </a:buClr>
              <a:buSzPts val="1100"/>
              <a:buFont typeface="Arial"/>
              <a:buNone/>
            </a:pPr>
            <a:r>
              <a:rPr lang="it" sz="1200">
                <a:solidFill>
                  <a:schemeClr val="dk1"/>
                </a:solidFill>
              </a:rPr>
              <a:t>  execution events generated by a specific UID.</a:t>
            </a:r>
            <a:endParaRPr sz="1200">
              <a:solidFill>
                <a:schemeClr val="dk1"/>
              </a:solidFill>
            </a:endParaRPr>
          </a:p>
          <a:p>
            <a:pPr indent="0" lvl="0" marL="0" rtl="0" algn="l">
              <a:spcBef>
                <a:spcPts val="0"/>
              </a:spcBef>
              <a:spcAft>
                <a:spcPts val="0"/>
              </a:spcAft>
              <a:buClr>
                <a:schemeClr val="dk1"/>
              </a:buClr>
              <a:buSzPts val="1100"/>
              <a:buFont typeface="Arial"/>
              <a:buNone/>
            </a:pPr>
            <a:r>
              <a:rPr lang="it" sz="1200">
                <a:solidFill>
                  <a:schemeClr val="dk1"/>
                </a:solidFill>
              </a:rPr>
              <a:t>  A detector instead defines the security condition that the system must recognise. It checks the events admitted by the policy and generates an alert when</a:t>
            </a:r>
            <a:endParaRPr sz="1200">
              <a:solidFill>
                <a:schemeClr val="dk1"/>
              </a:solidFill>
            </a:endParaRPr>
          </a:p>
          <a:p>
            <a:pPr indent="0" lvl="0" marL="0" rtl="0" algn="l">
              <a:spcBef>
                <a:spcPts val="0"/>
              </a:spcBef>
              <a:spcAft>
                <a:spcPts val="0"/>
              </a:spcAft>
              <a:buClr>
                <a:schemeClr val="dk1"/>
              </a:buClr>
              <a:buSzPts val="1100"/>
              <a:buFont typeface="Arial"/>
              <a:buNone/>
            </a:pPr>
            <a:r>
              <a:rPr lang="it" sz="1200">
                <a:solidFill>
                  <a:schemeClr val="dk1"/>
                </a:solidFill>
              </a:rPr>
              <a:t>  its conditions, defined by a YAML, are satisfied.</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it" sz="1200">
                <a:solidFill>
                  <a:schemeClr val="dk1"/>
                </a:solidFill>
              </a:rPr>
              <a:t>  The example in the bottom part of the slide looks for a credential change followed by program execution as root. If both events occur in the correct order and within the configured time window, the detector generates a privilege-escalation alert, enriched by MITRE ATT&amp;CK metadata.</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501d95b6e_0_1123:notes"/>
          <p:cNvSpPr/>
          <p:nvPr>
            <p:ph idx="2" type="sldImg"/>
          </p:nvPr>
        </p:nvSpPr>
        <p:spPr>
          <a:xfrm>
            <a:off x="381224"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501d95b6e_0_1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The monitoring tool produces three different types of output.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The first contains the normalized kernel events. The second contains security alerts generated by detectors, and both can be formatted as readable text or</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JSON format.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The third type contains operational diagnostics, such as startup errors, decoding failures and event losses. These messages are written separately</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through the Zap logger library used for diagnostics.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We have also implemented an alerts-only option during startup that hides raw events from the terminal, so that only detector’s </a:t>
            </a:r>
            <a:r>
              <a:rPr lang="it">
                <a:solidFill>
                  <a:schemeClr val="dk1"/>
                </a:solidFill>
              </a:rPr>
              <a:t>output</a:t>
            </a:r>
            <a:r>
              <a:rPr lang="it">
                <a:solidFill>
                  <a:schemeClr val="dk1"/>
                </a:solidFill>
              </a:rPr>
              <a:t> is visible. In this way the separation will makes the output easier to manage.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b88aa20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b88aa20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For the evaluation, we created a Kubernetes test environment using Minikube.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We deployed three separate Pods. The target Pod hosted the vulnerable service. The trigger Pod acted as the attacker and sent the exploit to the</a:t>
            </a:r>
            <a:endParaRPr/>
          </a:p>
          <a:p>
            <a:pPr indent="0" lvl="0" marL="0" rtl="0" algn="l">
              <a:spcBef>
                <a:spcPts val="0"/>
              </a:spcBef>
              <a:spcAft>
                <a:spcPts val="0"/>
              </a:spcAft>
              <a:buClr>
                <a:schemeClr val="dk1"/>
              </a:buClr>
              <a:buSzPts val="1100"/>
              <a:buFont typeface="Arial"/>
              <a:buNone/>
            </a:pPr>
            <a:r>
              <a:rPr lang="it"/>
              <a:t>  target through the Kubernetes network. The monitor Pod ran our eBPF-based monitoring tool.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Kubernetes isolated the Pods from each other using separate process and network namespaces. Despite this isolation, operations performed inside each</a:t>
            </a:r>
            <a:endParaRPr/>
          </a:p>
          <a:p>
            <a:pPr indent="0" lvl="0" marL="0" rtl="0" algn="l">
              <a:spcBef>
                <a:spcPts val="0"/>
              </a:spcBef>
              <a:spcAft>
                <a:spcPts val="0"/>
              </a:spcAft>
              <a:buClr>
                <a:schemeClr val="dk1"/>
              </a:buClr>
              <a:buSzPts val="1100"/>
              <a:buFont typeface="Arial"/>
              <a:buNone/>
            </a:pPr>
            <a:r>
              <a:rPr lang="it"/>
              <a:t>  Pod were still handled by the shared node kernel.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target service ran with UID 10001. In one experimental configuration, this UID was used to discard unrelated events inside the kernel before</a:t>
            </a:r>
            <a:endParaRPr/>
          </a:p>
          <a:p>
            <a:pPr indent="0" lvl="0" marL="0" rtl="0" algn="l">
              <a:spcBef>
                <a:spcPts val="0"/>
              </a:spcBef>
              <a:spcAft>
                <a:spcPts val="0"/>
              </a:spcAft>
              <a:buClr>
                <a:schemeClr val="dk1"/>
              </a:buClr>
              <a:buSzPts val="1100"/>
              <a:buFont typeface="Arial"/>
              <a:buNone/>
            </a:pPr>
            <a:r>
              <a:rPr lang="it"/>
              <a:t>  transferring data to user space. We will present the result of each evaluation later in the next slides</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501d95b6e_0_740:notes"/>
          <p:cNvSpPr/>
          <p:nvPr>
            <p:ph idx="2" type="sldImg"/>
          </p:nvPr>
        </p:nvSpPr>
        <p:spPr>
          <a:xfrm>
            <a:off x="381224"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501d95b6e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solidFill>
                  <a:schemeClr val="dk1"/>
                </a:solidFill>
              </a:rPr>
              <a:t>I will now focus on the host level </a:t>
            </a:r>
            <a:r>
              <a:rPr lang="it">
                <a:solidFill>
                  <a:schemeClr val="dk1"/>
                </a:solidFill>
              </a:rPr>
              <a:t>hook </a:t>
            </a:r>
            <a:r>
              <a:rPr lang="it">
                <a:solidFill>
                  <a:schemeClr val="dk1"/>
                </a:solidFill>
              </a:rPr>
              <a:t>implementation. The key principle is one: hooks are selected according to the information required by each event. When possible, the monitor uses semantic hooks that expose the kernel object involved in an operation. For example, a security hook can provide a resolved file instead of only</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the pathname originally supplied by the application.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When the final result is required, the monitor uses an enter-and-exit model. The entry program stores the request data, while the exit program adds</a:t>
            </a:r>
            <a:endParaRPr>
              <a:solidFill>
                <a:schemeClr val="dk1"/>
              </a:solidFill>
            </a:endParaRPr>
          </a:p>
          <a:p>
            <a:pPr indent="0" lvl="0" marL="0" rtl="0" algn="l">
              <a:spcBef>
                <a:spcPts val="0"/>
              </a:spcBef>
              <a:spcAft>
                <a:spcPts val="0"/>
              </a:spcAft>
              <a:buClr>
                <a:schemeClr val="dk1"/>
              </a:buClr>
              <a:buSzPts val="1100"/>
              <a:buFont typeface="Arial"/>
              <a:buNone/>
            </a:pPr>
            <a:r>
              <a:rPr lang="it">
                <a:solidFill>
                  <a:schemeClr val="dk1"/>
                </a:solidFill>
              </a:rPr>
              <a:t>  the return value. All these choices must also satisfy the verifier and the capabilities available on the target kernel.</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f53be408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f53be408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hooks that produce events share a common implementation pattern.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program_data_t represents the working context of the eBPF program. It keeps references to the configuration, the event under construction, and the</a:t>
            </a:r>
            <a:endParaRPr/>
          </a:p>
          <a:p>
            <a:pPr indent="0" lvl="0" marL="0" rtl="0" algn="l">
              <a:spcBef>
                <a:spcPts val="0"/>
              </a:spcBef>
              <a:spcAft>
                <a:spcPts val="0"/>
              </a:spcAft>
              <a:buClr>
                <a:schemeClr val="dk1"/>
              </a:buClr>
              <a:buSzPts val="1100"/>
              <a:buFont typeface="Arial"/>
              <a:buNone/>
            </a:pPr>
            <a:r>
              <a:rPr lang="it"/>
              <a:t>  available process information.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event_data_t contains the normalized event context and the buffer used to serialize its arguments. The context includes the timestamp, the event</a:t>
            </a:r>
            <a:endParaRPr/>
          </a:p>
          <a:p>
            <a:pPr indent="0" lvl="0" marL="0" rtl="0" algn="l">
              <a:spcBef>
                <a:spcPts val="0"/>
              </a:spcBef>
              <a:spcAft>
                <a:spcPts val="0"/>
              </a:spcAft>
              <a:buClr>
                <a:schemeClr val="dk1"/>
              </a:buClr>
              <a:buSzPts val="1100"/>
              <a:buFont typeface="Arial"/>
              <a:buNone/>
            </a:pPr>
            <a:r>
              <a:rPr lang="it"/>
              <a:t>  identifier, and task information such as PID, TID, UID, namespaces, and command name.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Event construction starts with init_program_data. Common helper functions then serialize the arguments, and events_perf_submit sends the completed</a:t>
            </a:r>
            <a:endParaRPr/>
          </a:p>
          <a:p>
            <a:pPr indent="0" lvl="0" marL="0" rtl="0" algn="l">
              <a:spcBef>
                <a:spcPts val="0"/>
              </a:spcBef>
              <a:spcAft>
                <a:spcPts val="0"/>
              </a:spcAft>
              <a:buClr>
                <a:schemeClr val="dk1"/>
              </a:buClr>
              <a:buSzPts val="1100"/>
              <a:buFont typeface="Arial"/>
              <a:buNone/>
            </a:pPr>
            <a:r>
              <a:rPr lang="it"/>
              <a:t>  event through the perf buffer channel.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For enter-and-exit flows, the entry program temporarily stores the arguments. The exit program retrieves them, adds the return value(so the result), and submits the</a:t>
            </a:r>
            <a:endParaRPr/>
          </a:p>
          <a:p>
            <a:pPr indent="0" lvl="0" marL="0" rtl="0" algn="l">
              <a:spcBef>
                <a:spcPts val="0"/>
              </a:spcBef>
              <a:spcAft>
                <a:spcPts val="0"/>
              </a:spcAft>
              <a:buClr>
                <a:schemeClr val="dk1"/>
              </a:buClr>
              <a:buSzPts val="1100"/>
              <a:buFont typeface="Arial"/>
              <a:buNone/>
            </a:pPr>
            <a:r>
              <a:rPr lang="it"/>
              <a:t>  event.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3a890aa3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3a890aa3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Process monitoring covers the main stages of a process lifecycle.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fork, vfork and clone probes record process-creation requests. sched_process_fork records the parent and child established by the kernel.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A process can later change its command name, which is observed through task_rename hook implemented. If it successfully loads a new executable, sched_process_exec</a:t>
            </a:r>
            <a:endParaRPr/>
          </a:p>
          <a:p>
            <a:pPr indent="0" lvl="0" marL="0" rtl="0" algn="l">
              <a:spcBef>
                <a:spcPts val="0"/>
              </a:spcBef>
              <a:spcAft>
                <a:spcPts val="0"/>
              </a:spcAft>
              <a:buClr>
                <a:schemeClr val="dk1"/>
              </a:buClr>
              <a:buSzPts val="1100"/>
              <a:buFont typeface="Arial"/>
              <a:buNone/>
            </a:pPr>
            <a:r>
              <a:rPr lang="it"/>
              <a:t>  records the new image. Finally, sched_process_exit reports its termination and exit code.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These events allow the analyst to follow how a process is created, transformed and terminated.</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3a890aa3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3a890aa3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Program execution is observed through complementary checkpoints. execve and execveat describe the initial attempt and collect the pathname and</a:t>
            </a:r>
            <a:endParaRPr/>
          </a:p>
          <a:p>
            <a:pPr indent="0" lvl="0" marL="0" rtl="0" algn="l">
              <a:spcBef>
                <a:spcPts val="0"/>
              </a:spcBef>
              <a:spcAft>
                <a:spcPts val="0"/>
              </a:spcAft>
              <a:buClr>
                <a:schemeClr val="dk1"/>
              </a:buClr>
              <a:buSzPts val="1100"/>
              <a:buFont typeface="Arial"/>
              <a:buNone/>
            </a:pPr>
            <a:r>
              <a:rPr lang="it"/>
              <a:t>  arguments. execveat also includes the directory file descriptor(unique identifier of a file/process opened) and flags. </a:t>
            </a:r>
            <a:r>
              <a:rPr lang="it">
                <a:solidFill>
                  <a:schemeClr val="dk1"/>
                </a:solidFill>
              </a:rPr>
              <a:t>security_bprm_check observes the subsequent security checks on the executable.</a:t>
            </a:r>
            <a:r>
              <a:rPr lang="it"/>
              <a:t> security_bprm_creds_for_exec instead monitor the kernel when it prepares the credentials for a new image loaded.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These checkpoints alone do not prove that execution succeeded. sched_process_exec confirms that the executable image was actually replaced.</a:t>
            </a:r>
            <a:endParaRPr/>
          </a:p>
          <a:p>
            <a:pPr indent="0" lvl="0" marL="0" rtl="0" algn="l">
              <a:spcBef>
                <a:spcPts val="0"/>
              </a:spcBef>
              <a:spcAft>
                <a:spcPts val="0"/>
              </a:spcAft>
              <a:buClr>
                <a:schemeClr val="dk1"/>
              </a:buClr>
              <a:buSzPts val="1100"/>
              <a:buFont typeface="Arial"/>
              <a:buNone/>
            </a:pPr>
            <a:r>
              <a:rPr lang="it"/>
              <a:t>  Instead process_execute_failed is generated only when the execution returns an error.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This allows the monitor to distinguish attempts, successful executions, and failures. Error numbers are also normalized into</a:t>
            </a:r>
            <a:endParaRPr/>
          </a:p>
          <a:p>
            <a:pPr indent="0" lvl="0" marL="0" rtl="0" algn="l">
              <a:spcBef>
                <a:spcPts val="0"/>
              </a:spcBef>
              <a:spcAft>
                <a:spcPts val="0"/>
              </a:spcAft>
              <a:buClr>
                <a:schemeClr val="dk1"/>
              </a:buClr>
              <a:buSzPts val="1100"/>
              <a:buFont typeface="Arial"/>
              <a:buNone/>
            </a:pPr>
            <a:r>
              <a:rPr lang="it"/>
              <a:t>  readable values in the process_execute_failed hook.</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3a890aa3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f3a890aa3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Credential monitoring follows a similar idea.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setuid and setgid syscall families represent requests to change identity. security_task_fix_setuid observes the security stage that validates the</a:t>
            </a:r>
            <a:endParaRPr/>
          </a:p>
          <a:p>
            <a:pPr indent="0" lvl="0" marL="0" rtl="0" algn="l">
              <a:spcBef>
                <a:spcPts val="0"/>
              </a:spcBef>
              <a:spcAft>
                <a:spcPts val="0"/>
              </a:spcAft>
              <a:buClr>
                <a:schemeClr val="dk1"/>
              </a:buClr>
              <a:buSzPts val="1100"/>
              <a:buFont typeface="Arial"/>
              <a:buNone/>
            </a:pPr>
            <a:r>
              <a:rPr lang="it"/>
              <a:t>  new credentials. commit_creds records the point where the kernel applies them.</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Other hooks cover capability checks of processes, ptrace(</a:t>
            </a:r>
            <a:r>
              <a:rPr lang="it" sz="1200">
                <a:solidFill>
                  <a:srgbClr val="181818"/>
                </a:solidFill>
              </a:rPr>
              <a:t>by which one process</a:t>
            </a:r>
            <a:endParaRPr sz="1200">
              <a:solidFill>
                <a:srgbClr val="181818"/>
              </a:solidFill>
            </a:endParaRPr>
          </a:p>
          <a:p>
            <a:pPr indent="0" lvl="0" marL="0" rtl="0" algn="l">
              <a:spcBef>
                <a:spcPts val="0"/>
              </a:spcBef>
              <a:spcAft>
                <a:spcPts val="0"/>
              </a:spcAft>
              <a:buClr>
                <a:schemeClr val="dk1"/>
              </a:buClr>
              <a:buSzPts val="1100"/>
              <a:buFont typeface="Arial"/>
              <a:buNone/>
            </a:pPr>
            <a:r>
              <a:rPr lang="it" sz="1200">
                <a:solidFill>
                  <a:srgbClr val="181818"/>
                </a:solidFill>
              </a:rPr>
              <a:t>       (the "tracer") may observe and control the execution of another</a:t>
            </a:r>
            <a:endParaRPr sz="1200">
              <a:solidFill>
                <a:srgbClr val="181818"/>
              </a:solidFill>
            </a:endParaRPr>
          </a:p>
          <a:p>
            <a:pPr indent="0" lvl="0" marL="0" rtl="0" algn="l">
              <a:spcBef>
                <a:spcPts val="0"/>
              </a:spcBef>
              <a:spcAft>
                <a:spcPts val="0"/>
              </a:spcAft>
              <a:buClr>
                <a:schemeClr val="dk1"/>
              </a:buClr>
              <a:buSzPts val="1100"/>
              <a:buFont typeface="Arial"/>
              <a:buNone/>
            </a:pPr>
            <a:r>
              <a:rPr lang="it" sz="1200">
                <a:solidFill>
                  <a:srgbClr val="181818"/>
                </a:solidFill>
              </a:rPr>
              <a:t>       process (the "tracee")</a:t>
            </a:r>
            <a:r>
              <a:rPr lang="it"/>
              <a:t> operations and changes made through prctl(system call to change the behavior of a process).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This tells to the analyst whether a process requested a privilege change, passed the relevant kernel checks, or actually obtained the new</a:t>
            </a:r>
            <a:endParaRPr/>
          </a:p>
          <a:p>
            <a:pPr indent="0" lvl="0" marL="0" rtl="0" algn="l">
              <a:spcBef>
                <a:spcPts val="0"/>
              </a:spcBef>
              <a:spcAft>
                <a:spcPts val="0"/>
              </a:spcAft>
              <a:buClr>
                <a:schemeClr val="dk1"/>
              </a:buClr>
              <a:buSzPts val="1100"/>
              <a:buFont typeface="Arial"/>
              <a:buNone/>
            </a:pPr>
            <a:r>
              <a:rPr lang="it"/>
              <a:t>  credentials.</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3a890aa3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3a890aa3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Filesystem monitoring is divided into four main event families.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first family covers file access. The open event records the pathname, access flags and syscall result. Security hooks such as security_file_open</a:t>
            </a:r>
            <a:endParaRPr/>
          </a:p>
          <a:p>
            <a:pPr indent="0" lvl="0" marL="0" rtl="0" algn="l">
              <a:spcBef>
                <a:spcPts val="0"/>
              </a:spcBef>
              <a:spcAft>
                <a:spcPts val="0"/>
              </a:spcAft>
              <a:buClr>
                <a:schemeClr val="dk1"/>
              </a:buClr>
              <a:buSzPts val="1100"/>
              <a:buFont typeface="Arial"/>
              <a:buNone/>
            </a:pPr>
            <a:r>
              <a:rPr lang="it"/>
              <a:t>  and security_file_permission identify the file resolved by the kernel and collect its path, device and inode.</a:t>
            </a:r>
            <a:endParaRPr/>
          </a:p>
          <a:p>
            <a:pPr indent="0" lvl="0" marL="0" rtl="0" algn="l">
              <a:spcBef>
                <a:spcPts val="0"/>
              </a:spcBef>
              <a:spcAft>
                <a:spcPts val="0"/>
              </a:spcAft>
              <a:buClr>
                <a:schemeClr val="dk1"/>
              </a:buClr>
              <a:buSzPts val="1100"/>
              <a:buFont typeface="Arial"/>
              <a:buNone/>
            </a:pPr>
            <a:r>
              <a:rPr lang="it"/>
              <a:t>  The second family covers permissions and ownership. The chmod and chown events report the requested changes and whether the corresponding operation</a:t>
            </a:r>
            <a:endParaRPr/>
          </a:p>
          <a:p>
            <a:pPr indent="0" lvl="0" marL="0" rtl="0" algn="l">
              <a:spcBef>
                <a:spcPts val="0"/>
              </a:spcBef>
              <a:spcAft>
                <a:spcPts val="0"/>
              </a:spcAft>
              <a:buClr>
                <a:schemeClr val="dk1"/>
              </a:buClr>
              <a:buSzPts val="1100"/>
              <a:buFont typeface="Arial"/>
              <a:buNone/>
            </a:pPr>
            <a:r>
              <a:rPr lang="it"/>
              <a:t>  succeeded.</a:t>
            </a:r>
            <a:endParaRPr/>
          </a:p>
          <a:p>
            <a:pPr indent="0" lvl="0" marL="0" rtl="0" algn="l">
              <a:spcBef>
                <a:spcPts val="0"/>
              </a:spcBef>
              <a:spcAft>
                <a:spcPts val="0"/>
              </a:spcAft>
              <a:buClr>
                <a:schemeClr val="dk1"/>
              </a:buClr>
              <a:buSzPts val="1100"/>
              <a:buFont typeface="Arial"/>
              <a:buNone/>
            </a:pPr>
            <a:r>
              <a:rPr lang="it"/>
              <a:t>  The third family covers structural changes to the filesystem. Events for unlink, rename, symlink and mknod record the removal, movement and creation</a:t>
            </a:r>
            <a:endParaRPr/>
          </a:p>
          <a:p>
            <a:pPr indent="0" lvl="0" marL="0" rtl="0" algn="l">
              <a:spcBef>
                <a:spcPts val="0"/>
              </a:spcBef>
              <a:spcAft>
                <a:spcPts val="0"/>
              </a:spcAft>
              <a:buClr>
                <a:schemeClr val="dk1"/>
              </a:buClr>
              <a:buSzPts val="1100"/>
              <a:buFont typeface="Arial"/>
              <a:buNone/>
            </a:pPr>
            <a:r>
              <a:rPr lang="it"/>
              <a:t>  of filesystem objects.</a:t>
            </a:r>
            <a:endParaRPr/>
          </a:p>
          <a:p>
            <a:pPr indent="0" lvl="0" marL="0" rtl="0" algn="l">
              <a:spcBef>
                <a:spcPts val="0"/>
              </a:spcBef>
              <a:spcAft>
                <a:spcPts val="0"/>
              </a:spcAft>
              <a:buClr>
                <a:schemeClr val="dk1"/>
              </a:buClr>
              <a:buSzPts val="1100"/>
              <a:buFont typeface="Arial"/>
              <a:buNone/>
            </a:pPr>
            <a:r>
              <a:rPr lang="it"/>
              <a:t>  The fourth family covers mounting. security_sb_mount and security_sb_umount observe mount and unmount operations, including the affected mount point</a:t>
            </a:r>
            <a:endParaRPr/>
          </a:p>
          <a:p>
            <a:pPr indent="0" lvl="0" marL="0" rtl="0" algn="l">
              <a:spcBef>
                <a:spcPts val="0"/>
              </a:spcBef>
              <a:spcAft>
                <a:spcPts val="0"/>
              </a:spcAft>
              <a:buClr>
                <a:schemeClr val="dk1"/>
              </a:buClr>
              <a:buSzPts val="1100"/>
              <a:buFont typeface="Arial"/>
              <a:buNone/>
            </a:pPr>
            <a:r>
              <a:rPr lang="it"/>
              <a:t>  and the available flags.</a:t>
            </a:r>
            <a:endParaRPr/>
          </a:p>
          <a:p>
            <a:pPr indent="0" lvl="0" marL="0" rtl="0" algn="l">
              <a:spcBef>
                <a:spcPts val="0"/>
              </a:spcBef>
              <a:spcAft>
                <a:spcPts val="0"/>
              </a:spcAft>
              <a:buClr>
                <a:schemeClr val="dk1"/>
              </a:buClr>
              <a:buSzPts val="1100"/>
              <a:buFont typeface="Arial"/>
              <a:buNone/>
            </a:pPr>
            <a:r>
              <a:rPr lang="it"/>
              <a:t>  These four families provide visibility into file use, permission changes, filesystem structure and mounted resources.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f3a890aa3b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f3a890aa3b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Memory events cover mappings, protection changes, memory-backed files and access to another process’s address space.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These operations are relevant to cases such as executable-memory creation, fileless execution and cross-process memory manipulation.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Namespace monitoring covers both the request and the resulting change. The setns event records a process request to join an existing namespace,</a:t>
            </a:r>
            <a:endParaRPr/>
          </a:p>
          <a:p>
            <a:pPr indent="0" lvl="0" marL="0" rtl="0" algn="l">
              <a:spcBef>
                <a:spcPts val="0"/>
              </a:spcBef>
              <a:spcAft>
                <a:spcPts val="0"/>
              </a:spcAft>
              <a:buClr>
                <a:schemeClr val="dk1"/>
              </a:buClr>
              <a:buSzPts val="1100"/>
              <a:buFont typeface="Arial"/>
              <a:buNone/>
            </a:pPr>
            <a:r>
              <a:rPr lang="it"/>
              <a:t>  including the file descriptor, namespace type and syscall result. The unshare event records a request to create a separate execution context and</a:t>
            </a:r>
            <a:endParaRPr/>
          </a:p>
          <a:p>
            <a:pPr indent="0" lvl="0" marL="0" rtl="0" algn="l">
              <a:spcBef>
                <a:spcPts val="0"/>
              </a:spcBef>
              <a:spcAft>
                <a:spcPts val="0"/>
              </a:spcAft>
              <a:buClr>
                <a:schemeClr val="dk1"/>
              </a:buClr>
              <a:buSzPts val="1100"/>
              <a:buFont typeface="Arial"/>
              <a:buNone/>
            </a:pPr>
            <a:r>
              <a:rPr lang="it"/>
              <a:t>  reports which namespace types were requested through its flags.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switch_task_ns hook observes the point where the kernel assigns the new namespace configuration to the process. It reports the identifiers that</a:t>
            </a:r>
            <a:endParaRPr/>
          </a:p>
          <a:p>
            <a:pPr indent="0" lvl="0" marL="0" rtl="0" algn="l">
              <a:spcBef>
                <a:spcPts val="0"/>
              </a:spcBef>
              <a:spcAft>
                <a:spcPts val="0"/>
              </a:spcAft>
              <a:buClr>
                <a:schemeClr val="dk1"/>
              </a:buClr>
              <a:buSzPts val="1100"/>
              <a:buFont typeface="Arial"/>
              <a:buNone/>
            </a:pPr>
            <a:r>
              <a:rPr lang="it"/>
              <a:t>  actually changed for mount, PID, UTS, IPC, network and cgroup namespaces.</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3a890aa3b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f3a890aa3b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This group covers operations that can change kernel behaviour or introduce new instrumentation and control interfaces.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Module events describe the loading, initialization and removal of kernel code. The security_bpf hooks observe the creation and loading of eBPF</a:t>
            </a:r>
            <a:endParaRPr/>
          </a:p>
          <a:p>
            <a:pPr indent="0" lvl="0" marL="0" rtl="0" algn="l">
              <a:spcBef>
                <a:spcPts val="0"/>
              </a:spcBef>
              <a:spcAft>
                <a:spcPts val="0"/>
              </a:spcAft>
              <a:buClr>
                <a:schemeClr val="dk1"/>
              </a:buClr>
              <a:buSzPts val="1100"/>
              <a:buFont typeface="Arial"/>
              <a:buNone/>
            </a:pPr>
            <a:r>
              <a:rPr lang="it"/>
              <a:t>  programs and maps. Other hooks record kprobe registration, kernel-symbol lookup, procfs entry creation and the execution of user-space helpers from</a:t>
            </a:r>
            <a:endParaRPr/>
          </a:p>
          <a:p>
            <a:pPr indent="0" lvl="0" marL="0" rtl="0" algn="l">
              <a:spcBef>
                <a:spcPts val="0"/>
              </a:spcBef>
              <a:spcAft>
                <a:spcPts val="0"/>
              </a:spcAft>
              <a:buClr>
                <a:schemeClr val="dk1"/>
              </a:buClr>
              <a:buSzPts val="1100"/>
              <a:buFont typeface="Arial"/>
              <a:buNone/>
            </a:pPr>
            <a:r>
              <a:rPr lang="it"/>
              <a:t>  the kernel.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A single event does not necessarily indicate malicious activity, because administrative and monitoring tools can perform the same operations. The</a:t>
            </a:r>
            <a:endParaRPr/>
          </a:p>
          <a:p>
            <a:pPr indent="0" lvl="0" marL="0" rtl="0" algn="l">
              <a:spcBef>
                <a:spcPts val="0"/>
              </a:spcBef>
              <a:spcAft>
                <a:spcPts val="0"/>
              </a:spcAft>
              <a:buClr>
                <a:schemeClr val="dk1"/>
              </a:buClr>
              <a:buSzPts val="1100"/>
              <a:buFont typeface="Arial"/>
              <a:buNone/>
            </a:pPr>
            <a:r>
              <a:rPr lang="it"/>
              <a:t>  sequence provides the relevant context.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For example, a module load followed by kprobe registration and the creation of a procfs entry describes a complete chain of kernel-level changes that</a:t>
            </a:r>
            <a:endParaRPr/>
          </a:p>
          <a:p>
            <a:pPr indent="0" lvl="0" marL="0" rtl="0" algn="l">
              <a:spcBef>
                <a:spcPts val="0"/>
              </a:spcBef>
              <a:spcAft>
                <a:spcPts val="0"/>
              </a:spcAft>
              <a:buNone/>
            </a:pPr>
            <a:r>
              <a:rPr lang="it"/>
              <a:t>  an analyst can investigate.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fb88aa209f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fb88aa209f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To validate the complete pipeline, we used AES-beta, a vulnerable encryption service from a public CTF challenge. The service ran inside the target</a:t>
            </a:r>
            <a:endParaRPr/>
          </a:p>
          <a:p>
            <a:pPr indent="0" lvl="0" marL="0" rtl="0" algn="l">
              <a:spcBef>
                <a:spcPts val="0"/>
              </a:spcBef>
              <a:spcAft>
                <a:spcPts val="0"/>
              </a:spcAft>
              <a:buClr>
                <a:schemeClr val="dk1"/>
              </a:buClr>
              <a:buSzPts val="1100"/>
              <a:buFont typeface="Arial"/>
              <a:buNone/>
            </a:pPr>
            <a:r>
              <a:rPr lang="it"/>
              <a:t>  Pod as UID 10001, and the synthetic flag was stored at /opt/aes-beta/flag.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exploit reconstructs the information required to execute a final payload equivalent to system("cat flag"). This produces four relevant</a:t>
            </a:r>
            <a:endParaRPr/>
          </a:p>
          <a:p>
            <a:pPr indent="0" lvl="0" marL="0" rtl="0" algn="l">
              <a:spcBef>
                <a:spcPts val="0"/>
              </a:spcBef>
              <a:spcAft>
                <a:spcPts val="0"/>
              </a:spcAft>
              <a:buClr>
                <a:schemeClr val="dk1"/>
              </a:buClr>
              <a:buSzPts val="1100"/>
              <a:buFont typeface="Arial"/>
              <a:buNone/>
            </a:pPr>
            <a:r>
              <a:rPr lang="it"/>
              <a:t>  observations. First, the kernel confirms the execution of /bin/sh. The same process then executes /bin/cat. Next, security_file_open observes access</a:t>
            </a:r>
            <a:endParaRPr/>
          </a:p>
          <a:p>
            <a:pPr indent="0" lvl="0" marL="0" rtl="0" algn="l">
              <a:spcBef>
                <a:spcPts val="0"/>
              </a:spcBef>
              <a:spcAft>
                <a:spcPts val="0"/>
              </a:spcAft>
              <a:buClr>
                <a:schemeClr val="dk1"/>
              </a:buClr>
              <a:buSzPts val="1100"/>
              <a:buFont typeface="Arial"/>
              <a:buNone/>
            </a:pPr>
            <a:r>
              <a:rPr lang="it"/>
              <a:t>  to the resolved flag path. Finally, the open event returns file descriptor 2, confirming that the operation succeeded.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collective detector correlates these four observations within the same local process tree and a five-second window. It produces one high-severity</a:t>
            </a:r>
            <a:endParaRPr/>
          </a:p>
          <a:p>
            <a:pPr indent="0" lvl="0" marL="0" rtl="0" algn="l">
              <a:spcBef>
                <a:spcPts val="0"/>
              </a:spcBef>
              <a:spcAft>
                <a:spcPts val="0"/>
              </a:spcAft>
              <a:buClr>
                <a:schemeClr val="dk1"/>
              </a:buClr>
              <a:buSzPts val="1100"/>
              <a:buFont typeface="Arial"/>
              <a:buNone/>
            </a:pPr>
            <a:r>
              <a:rPr lang="it"/>
              <a:t>  alert containing the complete evidence and the corresponding MITRE ATT&amp;CK classification.</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fb88aa209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fb88aa209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We compared the prototype with Falco 0.44.1 and Tetragon 1.7.1 on the same testbed.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Falco is a runtime security engine. It collects system-call events and evaluates declarative rules to generate alerts. Tetragon is an eBPF</a:t>
            </a:r>
            <a:endParaRPr/>
          </a:p>
          <a:p>
            <a:pPr indent="0" lvl="0" marL="0" rtl="0" algn="l">
              <a:spcBef>
                <a:spcPts val="0"/>
              </a:spcBef>
              <a:spcAft>
                <a:spcPts val="0"/>
              </a:spcAft>
              <a:buClr>
                <a:schemeClr val="dk1"/>
              </a:buClr>
              <a:buSzPts val="1100"/>
              <a:buFont typeface="Arial"/>
              <a:buNone/>
            </a:pPr>
            <a:r>
              <a:rPr lang="it"/>
              <a:t>  observability and enforcement tool from the Cilium project. It uses tracing policies to select kernel hooks, collect data and apply selectors.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Each tool completed three runs with a UID condition and three runs without it. Every retained run recovered the flag and produced the required</a:t>
            </a:r>
            <a:endParaRPr/>
          </a:p>
          <a:p>
            <a:pPr indent="0" lvl="0" marL="0" rtl="0" algn="l">
              <a:spcBef>
                <a:spcPts val="0"/>
              </a:spcBef>
              <a:spcAft>
                <a:spcPts val="0"/>
              </a:spcAft>
              <a:buClr>
                <a:schemeClr val="dk1"/>
              </a:buClr>
              <a:buSzPts val="1100"/>
              <a:buFont typeface="Arial"/>
              <a:buNone/>
            </a:pPr>
            <a:r>
              <a:rPr lang="it"/>
              <a:t>  evidence.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With the kernel UID filter enabled, our prototype used 0.46 percent of one CPU core on average. Without the filter, it used 5.73 percent. The</a:t>
            </a:r>
            <a:endParaRPr/>
          </a:p>
          <a:p>
            <a:pPr indent="0" lvl="0" marL="0" rtl="0" algn="l">
              <a:spcBef>
                <a:spcPts val="0"/>
              </a:spcBef>
              <a:spcAft>
                <a:spcPts val="0"/>
              </a:spcAft>
              <a:buClr>
                <a:schemeClr val="dk1"/>
              </a:buClr>
              <a:buSzPts val="1100"/>
              <a:buFont typeface="Arial"/>
              <a:buNone/>
            </a:pPr>
            <a:r>
              <a:rPr lang="it"/>
              <a:t>  reduction was about 92 percent.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Falco recorded 5.15 percent with its UID condition and 4.89 percent without it. Tetragon recorded 1.88 percent with its selector and 1.82 percent</a:t>
            </a:r>
            <a:endParaRPr/>
          </a:p>
          <a:p>
            <a:pPr indent="0" lvl="0" marL="0" rtl="0" algn="l">
              <a:spcBef>
                <a:spcPts val="0"/>
              </a:spcBef>
              <a:spcAft>
                <a:spcPts val="0"/>
              </a:spcAft>
              <a:buClr>
                <a:schemeClr val="dk1"/>
              </a:buClr>
              <a:buSzPts val="1100"/>
              <a:buFont typeface="Arial"/>
              <a:buNone/>
            </a:pPr>
            <a:r>
              <a:rPr lang="it"/>
              <a:t>  without 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it"/>
              <a:t>  The main result is clear: filtering before context enrichment and transport substantially reduced the work performed by our runtime. Falco checks the</a:t>
            </a:r>
            <a:endParaRPr/>
          </a:p>
          <a:p>
            <a:pPr indent="0" lvl="0" marL="0" rtl="0" algn="l">
              <a:spcBef>
                <a:spcPts val="0"/>
              </a:spcBef>
              <a:spcAft>
                <a:spcPts val="0"/>
              </a:spcAft>
              <a:buClr>
                <a:schemeClr val="dk1"/>
              </a:buClr>
              <a:buSzPts val="1100"/>
              <a:buFont typeface="Arial"/>
              <a:buNone/>
            </a:pPr>
            <a:r>
              <a:rPr lang="it"/>
              <a:t>  UID during rule evaluation. Tetragon applies the selector to the configured file hooks, but its base process sensor remains active. Their UID</a:t>
            </a:r>
            <a:endParaRPr/>
          </a:p>
          <a:p>
            <a:pPr indent="0" lvl="0" marL="0" rtl="0" algn="l">
              <a:spcBef>
                <a:spcPts val="0"/>
              </a:spcBef>
              <a:spcAft>
                <a:spcPts val="0"/>
              </a:spcAft>
              <a:buClr>
                <a:schemeClr val="dk1"/>
              </a:buClr>
              <a:buSzPts val="1100"/>
              <a:buFont typeface="Arial"/>
              <a:buNone/>
            </a:pPr>
            <a:r>
              <a:rPr lang="it"/>
              <a:t>  configurations therefore removed less work from the measured pipeline.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bb55ba768_5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g3fbb55ba768_5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it" sz="1200">
                <a:solidFill>
                  <a:schemeClr val="dk1"/>
                </a:solidFill>
              </a:rPr>
              <a:t>I will now continue with the networking subsystem, which is the part of the system I worked on. Its processing path can be divided into four stages. First, eBPF programs observe and collect data about socket operations and packet traffic. They then associate each packet with the context previously captured from the socket path. The resulting binary records are transferred to the Go runtime, where the generic decoder reconstructs normalized events. Finally, networking-specific enrichment exposes socket endpoint fields and protocol metadata that can be used by policies, detectors, and output components </a:t>
            </a:r>
            <a:endParaRPr sz="1200"/>
          </a:p>
        </p:txBody>
      </p:sp>
      <p:sp>
        <p:nvSpPr>
          <p:cNvPr id="401" name="Google Shape;401;g3fbb55ba768_5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8e9f0d57d_3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g3f8e9f0d57d_3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it" sz="1200"/>
              <a:t>The networking subsystem uses two observation points. At socket level, kprobes attach to selected security_socket functions on the Linux Security Module dispatch path. LSM functions are kernel validation points reached when a socket operation is checked. I used kprobes because the target Rocky Linux 8 kernel, version 4.18, does not provide the BPF LSM program type. The probes remain observational and do not change the LSM decision. Packet collection uses cgroup_skb programs. These programs attach to a directory in the cgroup v2 hierarchy. The packet is available to each program through the restricted BPF context struct __sk_buff, which exposes headers and selected payload bytes but not the originating task. </a:t>
            </a:r>
            <a:r>
              <a:rPr lang="it" sz="1200"/>
              <a:t>This limitation motivates the need to correlate socket-level operations with packet-level events to provide a complete context for every network communication. </a:t>
            </a:r>
            <a:endParaRPr/>
          </a:p>
        </p:txBody>
      </p:sp>
      <p:sp>
        <p:nvSpPr>
          <p:cNvPr id="434" name="Google Shape;434;g3f8e9f0d57d_3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f3b4a1f547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f3b4a1f547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h28a0c058dcfb0fa4_1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9" name="Google Shape;489;h28a0c058dcfb0fa4_1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it" sz="1200"/>
              <a:t>The packet hooks can inspect network traffic, but they do not directly expose the task that owns the socket. The purpose of this mechanism is therefore to recover the process identity before packet analysis begins and then hand it to the packet program.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it" sz="1200"/>
              <a:t>The first step creates persistent socket-level state. When a new socket is turned into a file descriptor, the kernel creates the struct file that connects the socket to the process file-descriptor table. The entry probe records the relevant call under the host thread identifier because the returned file is not available yet. The return probe then reads that file, extracts the socket inode and stores a reduced task context under the inode. Later send and receive probes refresh this association, so it follows the task that is currently using the socket.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it" sz="1200"/>
              <a:t>The second step begins when a packet reaches a cgroup network hook. The kernel enters the dispatcher shown in the second box. This is a normal kernel function that selects and invokes the cgroup_skb programs attached along the socket's cgroup hierarchy. A kprobe at its entry can see both the native struct sock and struct sk_buff. The socket gives access to the inode, which is used to recover the task context saved in the first step. The packet structure provides the fields required to identify this specific packet.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it" sz="1200"/>
              <a:t>The recovered context cannot be passed directly to the cgroup_skb program because the kprobe returns before that program runs and the two programs have separate stacks. The dispatcher probe therefore writes a short-lived entry into one of two handoff maps. Ingress traffic uses the ingress map and egress traffic uses the egress map. Each packet is written to only one of them. The key contains the packet timestamp, total IP length, transport protocol, source and destination addresses and, for IPv4, the header checksum. The value contains the attributed task context together with the network direction.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it" sz="1200"/>
              <a:t>The final step is not another kprobe. It is the cgroup_skb ingress or egress program. This program receives the restricted struct __sk_buff context, reconstructs exactly the same key and queries the map for its direction. When the lookup succeeds, it combines the recovered process context with the packet data, performs protocol processing and submits the enabled network events. After processing, it removes the handoff entry.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it" sz="1200"/>
              <a:t>The association is intentionally best effort. The current task is never used as a fallback because, especially on ingress, it may be an interrupt or kernel thread rather than the socket owner. If no valid context is found, the system produces no attributed event, but the packet is still allowed to continue because the monitoring path is observational.</a:t>
            </a:r>
            <a:endParaRPr/>
          </a:p>
          <a:p>
            <a:pPr indent="0" lvl="0" marL="0" rtl="0" algn="l">
              <a:spcBef>
                <a:spcPts val="0"/>
              </a:spcBef>
              <a:spcAft>
                <a:spcPts val="0"/>
              </a:spcAft>
              <a:buNone/>
            </a:pPr>
            <a:r>
              <a:t/>
            </a:r>
            <a:endParaRPr/>
          </a:p>
        </p:txBody>
      </p:sp>
      <p:sp>
        <p:nvSpPr>
          <p:cNvPr id="490" name="Google Shape;490;h28a0c058dcfb0fa4_1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f3b46861b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f3b46861b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3b4a1f547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f3b4a1f547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solidFill>
                  <a:schemeClr val="dk1"/>
                </a:solidFill>
              </a:rPr>
              <a:t>Once the process context has been recovered, the packet enters the kernel-side parsing stage. The packet is accessed through the restricted </a:t>
            </a:r>
            <a:r>
              <a:rPr lang="it">
                <a:solidFill>
                  <a:srgbClr val="188038"/>
                </a:solidFill>
                <a:latin typeface="Roboto Mono"/>
                <a:ea typeface="Roboto Mono"/>
                <a:cs typeface="Roboto Mono"/>
                <a:sym typeface="Roboto Mono"/>
              </a:rPr>
              <a:t>struct __sk_buff</a:t>
            </a:r>
            <a:r>
              <a:rPr lang="it">
                <a:solidFill>
                  <a:schemeClr val="dk1"/>
                </a:solidFill>
              </a:rPr>
              <a:t> context provided to the cgroup_skb program.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The handler first identifies IPv4 or IPv6. It then uses the IP protocol field to dispatch processing to TCP, UDP or ICMP. For selected TCP and UDP traffic, bounded payload checks can also identify DNS, TLS and HTTP.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Depending on the active policies, a single packet may generate multiple layer-specific events. Since parsing and event selection occur in the kernel, each event transfers only the required packet fields and payload portion to user space, rather than the entire packet. This reduces unnecessary data transfer and simplifies filtering, decoding and detector rules.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fbc33777f5_9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g3fbc33777f5_9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it" sz="1200"/>
              <a:t>In user space, the runtime converts the packet bytes selected in kernel space into structured event arguments. DNS decoding extracts the query name, query type and answer records. HTTP decoding reads the request or status line and the Host header, exposing the method, path, host and response status when available. For TLS, a small parser scans the extensions of a ClientHello and adds tls_sni without decrypting the connection or reconstructing the session. DNS answers also populate a bounded cache. Each IP can retain up to eight recent hostnames, and a later TCP, UDP or TLS event with a matching destination IP can receive dst_hostname. This hostname provides observed context but does not prove that the same process performed the DNS lookup.</a:t>
            </a:r>
            <a:endParaRPr/>
          </a:p>
          <a:p>
            <a:pPr indent="0" lvl="0" marL="0" rtl="0" algn="l">
              <a:spcBef>
                <a:spcPts val="0"/>
              </a:spcBef>
              <a:spcAft>
                <a:spcPts val="0"/>
              </a:spcAft>
              <a:buNone/>
            </a:pPr>
            <a:r>
              <a:t/>
            </a:r>
            <a:endParaRPr/>
          </a:p>
        </p:txBody>
      </p:sp>
      <p:sp>
        <p:nvSpPr>
          <p:cNvPr id="577" name="Google Shape;577;g3fbc33777f5_9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fbb3c92e7e_14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g3fbb3c92e7e_14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it"/>
              <a:t>As Simone explained when presenting the experimental setup, the tool was evaluated on a single-node Minikube cluster. Here, I will focus on the functional results.</a:t>
            </a:r>
            <a:endParaRPr/>
          </a:p>
          <a:p>
            <a:pPr indent="0" lvl="0" marL="0" rtl="0" algn="l">
              <a:lnSpc>
                <a:spcPct val="115000"/>
              </a:lnSpc>
              <a:spcBef>
                <a:spcPts val="1200"/>
              </a:spcBef>
              <a:spcAft>
                <a:spcPts val="0"/>
              </a:spcAft>
              <a:buClr>
                <a:schemeClr val="dk1"/>
              </a:buClr>
              <a:buSzPts val="1100"/>
              <a:buFont typeface="Arial"/>
              <a:buNone/>
            </a:pPr>
            <a:r>
              <a:rPr lang="it"/>
              <a:t>The controlled attack consisted of three stages. First, an SSRF caused the application to send an HTTP request to port 9000. Then, a stored command injection opened a reverse connection on port 4444. Finally, the application database was exfiltrated through an HTTP POST request to port 9001.</a:t>
            </a:r>
            <a:endParaRPr/>
          </a:p>
          <a:p>
            <a:pPr indent="0" lvl="0" marL="0" rtl="0" algn="l">
              <a:lnSpc>
                <a:spcPct val="115000"/>
              </a:lnSpc>
              <a:spcBef>
                <a:spcPts val="1200"/>
              </a:spcBef>
              <a:spcAft>
                <a:spcPts val="0"/>
              </a:spcAft>
              <a:buClr>
                <a:schemeClr val="dk1"/>
              </a:buClr>
              <a:buSzPts val="1100"/>
              <a:buFont typeface="Arial"/>
              <a:buNone/>
            </a:pPr>
            <a:r>
              <a:rPr lang="it"/>
              <a:t>The monitor preserved the originating workload and process context across Pods. During the benign trace, neither detector generated an alert. During the controlled attack, the unexpected-egress-port detector produced three alerts, while the HTTP-upload detector identified the final POST request.</a:t>
            </a:r>
            <a:endParaRPr/>
          </a:p>
          <a:p>
            <a:pPr indent="0" lvl="0" marL="0" rtl="0" algn="l">
              <a:lnSpc>
                <a:spcPct val="115000"/>
              </a:lnSpc>
              <a:spcBef>
                <a:spcPts val="1200"/>
              </a:spcBef>
              <a:spcAft>
                <a:spcPts val="0"/>
              </a:spcAft>
              <a:buClr>
                <a:schemeClr val="dk1"/>
              </a:buClr>
              <a:buSzPts val="1100"/>
              <a:buFont typeface="Arial"/>
              <a:buNone/>
            </a:pPr>
            <a:r>
              <a:rPr lang="it"/>
              <a:t>Overall, the system generated four alerts by detecting deviations from the expected network profile, without relying on exploit-specific signatures.</a:t>
            </a:r>
            <a:endParaRPr/>
          </a:p>
          <a:p>
            <a:pPr indent="0" lvl="0" marL="0" rtl="0" algn="l">
              <a:spcBef>
                <a:spcPts val="1200"/>
              </a:spcBef>
              <a:spcAft>
                <a:spcPts val="0"/>
              </a:spcAft>
              <a:buNone/>
            </a:pPr>
            <a:r>
              <a:t/>
            </a:r>
            <a:endParaRPr/>
          </a:p>
        </p:txBody>
      </p:sp>
      <p:sp>
        <p:nvSpPr>
          <p:cNvPr id="627" name="Google Shape;627;g3fbb3c92e7e_14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fb88aa209f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fb88aa209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t>Moving to the performance evaluation, I measured CPU consumption under five different configuration profiles. Each run included a 30-second stabilisation period followed by a 120-second measurement interval. During the test, traffic was continuously generated with a 10-millisecond delay between request cycles.</a:t>
            </a:r>
            <a:endParaRPr/>
          </a:p>
          <a:p>
            <a:pPr indent="0" lvl="0" marL="0" rtl="0" algn="l">
              <a:lnSpc>
                <a:spcPct val="115000"/>
              </a:lnSpc>
              <a:spcBef>
                <a:spcPts val="1200"/>
              </a:spcBef>
              <a:spcAft>
                <a:spcPts val="0"/>
              </a:spcAft>
              <a:buClr>
                <a:schemeClr val="dk1"/>
              </a:buClr>
              <a:buSzPts val="1100"/>
              <a:buFont typeface="Arial"/>
              <a:buNone/>
            </a:pPr>
            <a:r>
              <a:rPr lang="it"/>
              <a:t>As shown in the chart, UID-based filtering significantly reduced CPU consumption. In particular, P4, which combines UID filtering, policy selection and alert-only output, achieved the best result, with a mean CPU usage of 2.92 percent and a P95 of 3.38 percent. This remained below our operational requirement of five percent of one logical core. Finally, P5 shows that enabling full event logging introduced only a limited additional overhead.</a:t>
            </a:r>
            <a:endParaRPr/>
          </a:p>
          <a:p>
            <a:pPr indent="0" lvl="0" marL="0" rtl="0" algn="l">
              <a:spcBef>
                <a:spcPts val="120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fb88aa209f_0_133:notes"/>
          <p:cNvSpPr/>
          <p:nvPr>
            <p:ph idx="2" type="sldImg"/>
          </p:nvPr>
        </p:nvSpPr>
        <p:spPr>
          <a:xfrm>
            <a:off x="381224"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8" name="Google Shape;688;g3fb88aa209f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55" name="Shape 55"/>
        <p:cNvGrpSpPr/>
        <p:nvPr/>
      </p:nvGrpSpPr>
      <p:grpSpPr>
        <a:xfrm>
          <a:off x="0" y="0"/>
          <a:ext cx="0" cy="0"/>
          <a:chOff x="0" y="0"/>
          <a:chExt cx="0" cy="0"/>
        </a:xfrm>
      </p:grpSpPr>
      <p:sp>
        <p:nvSpPr>
          <p:cNvPr id="56" name="Google Shape;56;p15"/>
          <p:cNvSpPr txBox="1"/>
          <p:nvPr/>
        </p:nvSpPr>
        <p:spPr>
          <a:xfrm>
            <a:off x="1105800" y="1556650"/>
            <a:ext cx="69324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3200"/>
              <a:buFont typeface="Arial"/>
              <a:buNone/>
            </a:pPr>
            <a:r>
              <a:rPr b="1" lang="it" sz="3200">
                <a:solidFill>
                  <a:schemeClr val="lt1"/>
                </a:solidFill>
                <a:latin typeface="Merriweather"/>
                <a:ea typeface="Merriweather"/>
                <a:cs typeface="Merriweather"/>
                <a:sym typeface="Merriweather"/>
              </a:rPr>
              <a:t>Design and implementation of an eBPF-based runtime security monitoring Tool</a:t>
            </a:r>
            <a:endParaRPr b="1" sz="3200">
              <a:solidFill>
                <a:srgbClr val="FFFFFF"/>
              </a:solidFill>
              <a:latin typeface="Merriweather"/>
              <a:ea typeface="Merriweather"/>
              <a:cs typeface="Merriweather"/>
              <a:sym typeface="Merriweather"/>
            </a:endParaRPr>
          </a:p>
        </p:txBody>
      </p:sp>
      <p:pic>
        <p:nvPicPr>
          <p:cNvPr id="57" name="Google Shape;57;p15"/>
          <p:cNvPicPr preferRelativeResize="0"/>
          <p:nvPr/>
        </p:nvPicPr>
        <p:blipFill>
          <a:blip r:embed="rId3">
            <a:alphaModFix/>
          </a:blip>
          <a:stretch>
            <a:fillRect/>
          </a:stretch>
        </p:blipFill>
        <p:spPr>
          <a:xfrm>
            <a:off x="370025" y="158300"/>
            <a:ext cx="3019630" cy="1325000"/>
          </a:xfrm>
          <a:prstGeom prst="rect">
            <a:avLst/>
          </a:prstGeom>
          <a:noFill/>
          <a:ln>
            <a:noFill/>
          </a:ln>
        </p:spPr>
      </p:pic>
      <p:sp>
        <p:nvSpPr>
          <p:cNvPr id="58" name="Google Shape;58;p15"/>
          <p:cNvSpPr txBox="1"/>
          <p:nvPr/>
        </p:nvSpPr>
        <p:spPr>
          <a:xfrm>
            <a:off x="685650" y="3292300"/>
            <a:ext cx="77727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lt1"/>
                </a:solidFill>
                <a:latin typeface="Merriweather"/>
                <a:ea typeface="Merriweather"/>
                <a:cs typeface="Merriweather"/>
                <a:sym typeface="Merriweather"/>
              </a:rPr>
              <a:t>Master’s Degree in Cybersecurity Engineering</a:t>
            </a:r>
            <a:endParaRPr sz="1500">
              <a:solidFill>
                <a:schemeClr val="lt1"/>
              </a:solidFill>
              <a:latin typeface="Merriweather"/>
              <a:ea typeface="Merriweather"/>
              <a:cs typeface="Merriweather"/>
              <a:sym typeface="Merriweather"/>
            </a:endParaRPr>
          </a:p>
        </p:txBody>
      </p:sp>
      <p:sp>
        <p:nvSpPr>
          <p:cNvPr id="59" name="Google Shape;59;p15"/>
          <p:cNvSpPr txBox="1"/>
          <p:nvPr/>
        </p:nvSpPr>
        <p:spPr>
          <a:xfrm>
            <a:off x="549450" y="4478950"/>
            <a:ext cx="8045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a:solidFill>
                  <a:schemeClr val="lt1"/>
                </a:solidFill>
                <a:latin typeface="Merriweather"/>
                <a:ea typeface="Merriweather"/>
                <a:cs typeface="Merriweather"/>
                <a:sym typeface="Merriweather"/>
              </a:rPr>
              <a:t>Simone Romano s344024  ·  Giuseppe Insalaco s</a:t>
            </a:r>
            <a:endParaRPr sz="1700">
              <a:solidFill>
                <a:schemeClr val="lt1"/>
              </a:solidFill>
              <a:latin typeface="Merriweather"/>
              <a:ea typeface="Merriweather"/>
              <a:cs typeface="Merriweather"/>
              <a:sym typeface="Merriweather"/>
            </a:endParaRPr>
          </a:p>
        </p:txBody>
      </p:sp>
      <p:cxnSp>
        <p:nvCxnSpPr>
          <p:cNvPr id="60" name="Google Shape;60;p15"/>
          <p:cNvCxnSpPr/>
          <p:nvPr/>
        </p:nvCxnSpPr>
        <p:spPr>
          <a:xfrm>
            <a:off x="1618950" y="3185325"/>
            <a:ext cx="5906100" cy="5100"/>
          </a:xfrm>
          <a:prstGeom prst="straightConnector1">
            <a:avLst/>
          </a:prstGeom>
          <a:noFill/>
          <a:ln cap="flat" cmpd="sng" w="9525">
            <a:solidFill>
              <a:schemeClr val="lt1"/>
            </a:solidFill>
            <a:prstDash val="solid"/>
            <a:round/>
            <a:headEnd len="med" w="med" type="none"/>
            <a:tailEnd len="med" w="med" type="none"/>
          </a:ln>
        </p:spPr>
      </p:cxnSp>
      <p:sp>
        <p:nvSpPr>
          <p:cNvPr id="61" name="Google Shape;6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62" name="Google Shape;62;p15"/>
          <p:cNvPicPr preferRelativeResize="0"/>
          <p:nvPr/>
        </p:nvPicPr>
        <p:blipFill>
          <a:blip r:embed="rId4">
            <a:alphaModFix/>
          </a:blip>
          <a:stretch>
            <a:fillRect/>
          </a:stretch>
        </p:blipFill>
        <p:spPr>
          <a:xfrm>
            <a:off x="6069000" y="158300"/>
            <a:ext cx="2525550" cy="1325000"/>
          </a:xfrm>
          <a:prstGeom prst="rect">
            <a:avLst/>
          </a:prstGeom>
          <a:noFill/>
          <a:ln>
            <a:noFill/>
          </a:ln>
        </p:spPr>
      </p:pic>
      <p:sp>
        <p:nvSpPr>
          <p:cNvPr id="63" name="Google Shape;63;p15"/>
          <p:cNvSpPr txBox="1"/>
          <p:nvPr/>
        </p:nvSpPr>
        <p:spPr>
          <a:xfrm>
            <a:off x="370025" y="3634350"/>
            <a:ext cx="2371500" cy="9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lt1"/>
                </a:solidFill>
                <a:latin typeface="Merriweather"/>
                <a:ea typeface="Merriweather"/>
                <a:cs typeface="Merriweather"/>
                <a:sym typeface="Merriweather"/>
              </a:rPr>
              <a:t>Supervisor</a:t>
            </a:r>
            <a:br>
              <a:rPr lang="it">
                <a:solidFill>
                  <a:schemeClr val="lt1"/>
                </a:solidFill>
                <a:latin typeface="Merriweather"/>
                <a:ea typeface="Merriweather"/>
                <a:cs typeface="Merriweather"/>
                <a:sym typeface="Merriweather"/>
              </a:rPr>
            </a:br>
            <a:r>
              <a:rPr lang="it">
                <a:solidFill>
                  <a:schemeClr val="lt1"/>
                </a:solidFill>
                <a:latin typeface="Merriweather"/>
                <a:ea typeface="Merriweather"/>
                <a:cs typeface="Merriweather"/>
                <a:sym typeface="Merriweather"/>
              </a:rPr>
              <a:t>Prof. Riccardo Sisto</a:t>
            </a:r>
            <a:endParaRPr>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it">
                <a:solidFill>
                  <a:schemeClr val="lt1"/>
                </a:solidFill>
                <a:latin typeface="Merriweather"/>
                <a:ea typeface="Merriweather"/>
                <a:cs typeface="Merriweather"/>
                <a:sym typeface="Merriweather"/>
              </a:rPr>
              <a:t>Company Supervisor</a:t>
            </a:r>
            <a:endParaRPr>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it">
                <a:solidFill>
                  <a:schemeClr val="lt1"/>
                </a:solidFill>
                <a:latin typeface="Merriweather"/>
                <a:ea typeface="Merriweather"/>
                <a:cs typeface="Merriweather"/>
                <a:sym typeface="Merriweather"/>
              </a:rPr>
              <a:t>Dr. David Soldani</a:t>
            </a:r>
            <a:endParaRPr>
              <a:solidFill>
                <a:schemeClr val="lt1"/>
              </a:solidFill>
              <a:latin typeface="Merriweather"/>
              <a:ea typeface="Merriweather"/>
              <a:cs typeface="Merriweather"/>
              <a:sym typeface="Merriweather"/>
            </a:endParaRPr>
          </a:p>
        </p:txBody>
      </p:sp>
      <p:sp>
        <p:nvSpPr>
          <p:cNvPr id="64" name="Google Shape;64;p15"/>
          <p:cNvSpPr txBox="1"/>
          <p:nvPr/>
        </p:nvSpPr>
        <p:spPr>
          <a:xfrm>
            <a:off x="7246950" y="3707800"/>
            <a:ext cx="1774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a:solidFill>
                  <a:schemeClr val="lt1"/>
                </a:solidFill>
                <a:latin typeface="Merriweather"/>
                <a:ea typeface="Merriweather"/>
                <a:cs typeface="Merriweather"/>
                <a:sym typeface="Merriweather"/>
              </a:rPr>
              <a:t>Academic</a:t>
            </a:r>
            <a:r>
              <a:rPr lang="it">
                <a:solidFill>
                  <a:schemeClr val="lt1"/>
                </a:solidFill>
                <a:latin typeface="Merriweather"/>
                <a:ea typeface="Merriweather"/>
                <a:cs typeface="Merriweather"/>
                <a:sym typeface="Merriweather"/>
              </a:rPr>
              <a:t> Year</a:t>
            </a:r>
            <a:endParaRPr>
              <a:solidFill>
                <a:schemeClr val="lt1"/>
              </a:solidFill>
              <a:latin typeface="Merriweather"/>
              <a:ea typeface="Merriweather"/>
              <a:cs typeface="Merriweather"/>
              <a:sym typeface="Merriweather"/>
            </a:endParaRPr>
          </a:p>
          <a:p>
            <a:pPr indent="0" lvl="0" marL="0" rtl="0" algn="l">
              <a:spcBef>
                <a:spcPts val="0"/>
              </a:spcBef>
              <a:spcAft>
                <a:spcPts val="0"/>
              </a:spcAft>
              <a:buNone/>
            </a:pPr>
            <a:r>
              <a:rPr lang="it">
                <a:solidFill>
                  <a:schemeClr val="lt1"/>
                </a:solidFill>
                <a:latin typeface="Merriweather"/>
                <a:ea typeface="Merriweather"/>
                <a:cs typeface="Merriweather"/>
                <a:sym typeface="Merriweather"/>
              </a:rPr>
              <a:t>2025-2026</a:t>
            </a:r>
            <a:endParaRPr>
              <a:solidFill>
                <a:schemeClr val="lt1"/>
              </a:solidFill>
              <a:latin typeface="Merriweather"/>
              <a:ea typeface="Merriweather"/>
              <a:cs typeface="Merriweather"/>
              <a:sym typeface="Merriweath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nvSpPr>
        <p:spPr>
          <a:xfrm>
            <a:off x="0" y="0"/>
            <a:ext cx="9144000" cy="630300"/>
          </a:xfrm>
          <a:prstGeom prst="rect">
            <a:avLst/>
          </a:prstGeom>
          <a:solidFill>
            <a:srgbClr val="042543"/>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b="1" lang="it" sz="2300">
                <a:solidFill>
                  <a:schemeClr val="lt1"/>
                </a:solidFill>
              </a:rPr>
              <a:t>What is eBPF?</a:t>
            </a:r>
            <a:endParaRPr b="1" sz="2300">
              <a:solidFill>
                <a:schemeClr val="lt1"/>
              </a:solidFill>
            </a:endParaRPr>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71" name="Google Shape;71;p16"/>
          <p:cNvSpPr txBox="1"/>
          <p:nvPr/>
        </p:nvSpPr>
        <p:spPr>
          <a:xfrm>
            <a:off x="0" y="885246"/>
            <a:ext cx="1714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800">
                <a:solidFill>
                  <a:srgbClr val="073763"/>
                </a:solidFill>
              </a:rPr>
              <a:t>User Space</a:t>
            </a:r>
            <a:endParaRPr b="1" sz="1800">
              <a:solidFill>
                <a:srgbClr val="073763"/>
              </a:solidFill>
            </a:endParaRPr>
          </a:p>
        </p:txBody>
      </p:sp>
      <p:sp>
        <p:nvSpPr>
          <p:cNvPr id="72" name="Google Shape;72;p16"/>
          <p:cNvSpPr/>
          <p:nvPr/>
        </p:nvSpPr>
        <p:spPr>
          <a:xfrm>
            <a:off x="2042825" y="904596"/>
            <a:ext cx="2064300" cy="423000"/>
          </a:xfrm>
          <a:prstGeom prst="roundRect">
            <a:avLst>
              <a:gd fmla="val 16667" name="adj"/>
            </a:avLst>
          </a:prstGeom>
          <a:solidFill>
            <a:srgbClr val="1155CC"/>
          </a:solidFill>
          <a:ln cap="flat" cmpd="sng" w="38100">
            <a:solidFill>
              <a:srgbClr val="062B4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eBPF program</a:t>
            </a:r>
            <a:endParaRPr b="1">
              <a:solidFill>
                <a:schemeClr val="lt1"/>
              </a:solidFill>
            </a:endParaRPr>
          </a:p>
        </p:txBody>
      </p:sp>
      <p:sp>
        <p:nvSpPr>
          <p:cNvPr id="73" name="Google Shape;73;p16"/>
          <p:cNvSpPr/>
          <p:nvPr/>
        </p:nvSpPr>
        <p:spPr>
          <a:xfrm>
            <a:off x="2042830" y="1832825"/>
            <a:ext cx="2064300" cy="423000"/>
          </a:xfrm>
          <a:prstGeom prst="roundRect">
            <a:avLst>
              <a:gd fmla="val 16667" name="adj"/>
            </a:avLst>
          </a:prstGeom>
          <a:solidFill>
            <a:srgbClr val="1155CC"/>
          </a:solidFill>
          <a:ln cap="flat" cmpd="sng" w="381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Verifier</a:t>
            </a:r>
            <a:endParaRPr b="1">
              <a:solidFill>
                <a:schemeClr val="lt1"/>
              </a:solidFill>
            </a:endParaRPr>
          </a:p>
        </p:txBody>
      </p:sp>
      <p:sp>
        <p:nvSpPr>
          <p:cNvPr id="74" name="Google Shape;74;p16"/>
          <p:cNvSpPr/>
          <p:nvPr/>
        </p:nvSpPr>
        <p:spPr>
          <a:xfrm>
            <a:off x="4568976" y="1832825"/>
            <a:ext cx="2218800" cy="423000"/>
          </a:xfrm>
          <a:prstGeom prst="roundRect">
            <a:avLst>
              <a:gd fmla="val 16667" name="adj"/>
            </a:avLst>
          </a:prstGeom>
          <a:solidFill>
            <a:srgbClr val="1155CC"/>
          </a:solidFill>
          <a:ln cap="flat" cmpd="sng" w="381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Attach to kernel hook</a:t>
            </a:r>
            <a:endParaRPr b="1">
              <a:solidFill>
                <a:schemeClr val="lt1"/>
              </a:solidFill>
            </a:endParaRPr>
          </a:p>
        </p:txBody>
      </p:sp>
      <p:sp>
        <p:nvSpPr>
          <p:cNvPr id="75" name="Google Shape;75;p16"/>
          <p:cNvSpPr/>
          <p:nvPr/>
        </p:nvSpPr>
        <p:spPr>
          <a:xfrm>
            <a:off x="4646221" y="2944675"/>
            <a:ext cx="2064300" cy="732000"/>
          </a:xfrm>
          <a:prstGeom prst="roundRect">
            <a:avLst>
              <a:gd fmla="val 16667" name="adj"/>
            </a:avLst>
          </a:prstGeom>
          <a:solidFill>
            <a:srgbClr val="1155CC"/>
          </a:solidFill>
          <a:ln cap="flat" cmpd="sng" w="381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Kernel event triggers eBPF program </a:t>
            </a:r>
            <a:endParaRPr b="1">
              <a:solidFill>
                <a:schemeClr val="lt1"/>
              </a:solidFill>
            </a:endParaRPr>
          </a:p>
        </p:txBody>
      </p:sp>
      <p:sp>
        <p:nvSpPr>
          <p:cNvPr id="76" name="Google Shape;76;p16"/>
          <p:cNvSpPr/>
          <p:nvPr/>
        </p:nvSpPr>
        <p:spPr>
          <a:xfrm>
            <a:off x="7016674" y="2944675"/>
            <a:ext cx="2064300" cy="732000"/>
          </a:xfrm>
          <a:prstGeom prst="roundRect">
            <a:avLst>
              <a:gd fmla="val 16667" name="adj"/>
            </a:avLst>
          </a:prstGeom>
          <a:solidFill>
            <a:srgbClr val="1155CC"/>
          </a:solidFill>
          <a:ln cap="flat" cmpd="sng" w="3810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Collect</a:t>
            </a:r>
            <a:r>
              <a:rPr b="1" lang="it">
                <a:solidFill>
                  <a:schemeClr val="lt1"/>
                </a:solidFill>
              </a:rPr>
              <a:t> event data</a:t>
            </a:r>
            <a:endParaRPr b="1">
              <a:solidFill>
                <a:schemeClr val="lt1"/>
              </a:solidFill>
            </a:endParaRPr>
          </a:p>
        </p:txBody>
      </p:sp>
      <p:cxnSp>
        <p:nvCxnSpPr>
          <p:cNvPr id="77" name="Google Shape;77;p16"/>
          <p:cNvCxnSpPr>
            <a:stCxn id="72" idx="2"/>
            <a:endCxn id="73" idx="0"/>
          </p:cNvCxnSpPr>
          <p:nvPr/>
        </p:nvCxnSpPr>
        <p:spPr>
          <a:xfrm>
            <a:off x="3074975" y="1327596"/>
            <a:ext cx="0" cy="505200"/>
          </a:xfrm>
          <a:prstGeom prst="straightConnector1">
            <a:avLst/>
          </a:prstGeom>
          <a:noFill/>
          <a:ln cap="flat" cmpd="sng" w="28575">
            <a:solidFill>
              <a:srgbClr val="6FA8DC"/>
            </a:solidFill>
            <a:prstDash val="solid"/>
            <a:round/>
            <a:headEnd len="med" w="med" type="none"/>
            <a:tailEnd len="med" w="med" type="triangle"/>
          </a:ln>
        </p:spPr>
      </p:cxnSp>
      <p:cxnSp>
        <p:nvCxnSpPr>
          <p:cNvPr id="78" name="Google Shape;78;p16"/>
          <p:cNvCxnSpPr>
            <a:stCxn id="73" idx="3"/>
            <a:endCxn id="74" idx="1"/>
          </p:cNvCxnSpPr>
          <p:nvPr/>
        </p:nvCxnSpPr>
        <p:spPr>
          <a:xfrm>
            <a:off x="4107130" y="2044325"/>
            <a:ext cx="461700" cy="0"/>
          </a:xfrm>
          <a:prstGeom prst="straightConnector1">
            <a:avLst/>
          </a:prstGeom>
          <a:noFill/>
          <a:ln cap="flat" cmpd="sng" w="28575">
            <a:solidFill>
              <a:srgbClr val="6FA8DC"/>
            </a:solidFill>
            <a:prstDash val="solid"/>
            <a:round/>
            <a:headEnd len="med" w="med" type="none"/>
            <a:tailEnd len="med" w="med" type="triangle"/>
          </a:ln>
        </p:spPr>
      </p:cxnSp>
      <p:cxnSp>
        <p:nvCxnSpPr>
          <p:cNvPr id="79" name="Google Shape;79;p16"/>
          <p:cNvCxnSpPr>
            <a:stCxn id="74" idx="2"/>
            <a:endCxn id="75" idx="0"/>
          </p:cNvCxnSpPr>
          <p:nvPr/>
        </p:nvCxnSpPr>
        <p:spPr>
          <a:xfrm>
            <a:off x="5678376" y="2255825"/>
            <a:ext cx="0" cy="688800"/>
          </a:xfrm>
          <a:prstGeom prst="straightConnector1">
            <a:avLst/>
          </a:prstGeom>
          <a:noFill/>
          <a:ln cap="flat" cmpd="sng" w="28575">
            <a:solidFill>
              <a:srgbClr val="6FA8DC"/>
            </a:solidFill>
            <a:prstDash val="solid"/>
            <a:round/>
            <a:headEnd len="med" w="med" type="none"/>
            <a:tailEnd len="med" w="med" type="triangle"/>
          </a:ln>
        </p:spPr>
      </p:cxnSp>
      <p:cxnSp>
        <p:nvCxnSpPr>
          <p:cNvPr id="80" name="Google Shape;80;p16"/>
          <p:cNvCxnSpPr>
            <a:stCxn id="75" idx="3"/>
            <a:endCxn id="76" idx="1"/>
          </p:cNvCxnSpPr>
          <p:nvPr/>
        </p:nvCxnSpPr>
        <p:spPr>
          <a:xfrm>
            <a:off x="6710521" y="3310675"/>
            <a:ext cx="306300" cy="0"/>
          </a:xfrm>
          <a:prstGeom prst="straightConnector1">
            <a:avLst/>
          </a:prstGeom>
          <a:noFill/>
          <a:ln cap="flat" cmpd="sng" w="28575">
            <a:solidFill>
              <a:srgbClr val="6FA8DC"/>
            </a:solidFill>
            <a:prstDash val="solid"/>
            <a:round/>
            <a:headEnd len="med" w="med" type="none"/>
            <a:tailEnd len="med" w="med" type="triangle"/>
          </a:ln>
        </p:spPr>
      </p:cxnSp>
      <p:sp>
        <p:nvSpPr>
          <p:cNvPr id="81" name="Google Shape;81;p16"/>
          <p:cNvSpPr txBox="1"/>
          <p:nvPr/>
        </p:nvSpPr>
        <p:spPr>
          <a:xfrm>
            <a:off x="75475" y="2905277"/>
            <a:ext cx="4330800" cy="20163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rgbClr val="073763"/>
              </a:buClr>
              <a:buSzPts val="1300"/>
              <a:buChar char="●"/>
            </a:pPr>
            <a:r>
              <a:rPr b="1" lang="it" sz="1700">
                <a:solidFill>
                  <a:srgbClr val="073763"/>
                </a:solidFill>
              </a:rPr>
              <a:t>Visibility: </a:t>
            </a:r>
            <a:r>
              <a:rPr lang="it" sz="1700">
                <a:solidFill>
                  <a:srgbClr val="073763"/>
                </a:solidFill>
              </a:rPr>
              <a:t>observes operations directly from the kernel.</a:t>
            </a:r>
            <a:endParaRPr sz="1700">
              <a:solidFill>
                <a:srgbClr val="073763"/>
              </a:solidFill>
            </a:endParaRPr>
          </a:p>
          <a:p>
            <a:pPr indent="-311150" lvl="0" marL="457200" rtl="0" algn="l">
              <a:spcBef>
                <a:spcPts val="0"/>
              </a:spcBef>
              <a:spcAft>
                <a:spcPts val="0"/>
              </a:spcAft>
              <a:buClr>
                <a:srgbClr val="073763"/>
              </a:buClr>
              <a:buSzPts val="1300"/>
              <a:buChar char="●"/>
            </a:pPr>
            <a:r>
              <a:rPr b="1" lang="it" sz="1700">
                <a:solidFill>
                  <a:srgbClr val="073763"/>
                </a:solidFill>
              </a:rPr>
              <a:t>Data selection: </a:t>
            </a:r>
            <a:r>
              <a:rPr lang="it" sz="1700">
                <a:solidFill>
                  <a:srgbClr val="073763"/>
                </a:solidFill>
              </a:rPr>
              <a:t>irrelevant activity can be discarded before transfer to userspace.</a:t>
            </a:r>
            <a:endParaRPr sz="1700">
              <a:solidFill>
                <a:srgbClr val="073763"/>
              </a:solidFill>
            </a:endParaRPr>
          </a:p>
          <a:p>
            <a:pPr indent="-336550" lvl="0" marL="457200" rtl="0" algn="l">
              <a:spcBef>
                <a:spcPts val="0"/>
              </a:spcBef>
              <a:spcAft>
                <a:spcPts val="0"/>
              </a:spcAft>
              <a:buClr>
                <a:srgbClr val="073763"/>
              </a:buClr>
              <a:buSzPts val="1700"/>
              <a:buChar char="●"/>
            </a:pPr>
            <a:r>
              <a:rPr b="1" lang="it" sz="1700">
                <a:solidFill>
                  <a:srgbClr val="073763"/>
                </a:solidFill>
              </a:rPr>
              <a:t>Safe execution: </a:t>
            </a:r>
            <a:r>
              <a:rPr lang="it" sz="1700">
                <a:solidFill>
                  <a:srgbClr val="073763"/>
                </a:solidFill>
              </a:rPr>
              <a:t>verifier checks programs before loading.</a:t>
            </a:r>
            <a:endParaRPr sz="1700">
              <a:solidFill>
                <a:srgbClr val="073763"/>
              </a:solidFill>
            </a:endParaRPr>
          </a:p>
        </p:txBody>
      </p:sp>
      <p:sp>
        <p:nvSpPr>
          <p:cNvPr id="82" name="Google Shape;82;p16"/>
          <p:cNvSpPr txBox="1"/>
          <p:nvPr/>
        </p:nvSpPr>
        <p:spPr>
          <a:xfrm>
            <a:off x="0" y="1813475"/>
            <a:ext cx="1714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800">
                <a:solidFill>
                  <a:srgbClr val="062B49"/>
                </a:solidFill>
              </a:rPr>
              <a:t>Kernel</a:t>
            </a:r>
            <a:r>
              <a:rPr b="1" lang="it" sz="1800">
                <a:solidFill>
                  <a:srgbClr val="062B49"/>
                </a:solidFill>
              </a:rPr>
              <a:t> Space</a:t>
            </a:r>
            <a:endParaRPr b="1" sz="1800">
              <a:solidFill>
                <a:srgbClr val="062B49"/>
              </a:solidFill>
            </a:endParaRPr>
          </a:p>
        </p:txBody>
      </p:sp>
      <p:cxnSp>
        <p:nvCxnSpPr>
          <p:cNvPr id="83" name="Google Shape;83;p16"/>
          <p:cNvCxnSpPr/>
          <p:nvPr/>
        </p:nvCxnSpPr>
        <p:spPr>
          <a:xfrm flipH="1">
            <a:off x="-14850" y="1500174"/>
            <a:ext cx="9161700" cy="1500"/>
          </a:xfrm>
          <a:prstGeom prst="straightConnector1">
            <a:avLst/>
          </a:prstGeom>
          <a:noFill/>
          <a:ln cap="flat" cmpd="sng" w="28575">
            <a:solidFill>
              <a:schemeClr val="dk2"/>
            </a:solidFill>
            <a:prstDash val="dash"/>
            <a:round/>
            <a:headEnd len="med" w="med" type="none"/>
            <a:tailEnd len="med" w="med" type="none"/>
          </a:ln>
        </p:spPr>
      </p:cxnSp>
      <p:sp>
        <p:nvSpPr>
          <p:cNvPr id="84" name="Google Shape;84;p16"/>
          <p:cNvSpPr txBox="1"/>
          <p:nvPr/>
        </p:nvSpPr>
        <p:spPr>
          <a:xfrm>
            <a:off x="136075" y="2429852"/>
            <a:ext cx="41988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73763"/>
                </a:solidFill>
              </a:rPr>
              <a:t>Why eBPF for runtime monitoring?</a:t>
            </a:r>
            <a:endParaRPr b="1" sz="1800">
              <a:solidFill>
                <a:srgbClr val="07376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17"/>
          <p:cNvSpPr/>
          <p:nvPr/>
        </p:nvSpPr>
        <p:spPr>
          <a:xfrm>
            <a:off x="0" y="0"/>
            <a:ext cx="9144000" cy="700087"/>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7"/>
          <p:cNvSpPr/>
          <p:nvPr/>
        </p:nvSpPr>
        <p:spPr>
          <a:xfrm>
            <a:off x="514350" y="128588"/>
            <a:ext cx="8115300" cy="4429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400">
                <a:solidFill>
                  <a:srgbClr val="FFFFFF"/>
                </a:solidFill>
                <a:latin typeface="Arial"/>
                <a:ea typeface="Arial"/>
                <a:cs typeface="Arial"/>
                <a:sym typeface="Arial"/>
              </a:rPr>
              <a:t>Project Context and Design Constraints</a:t>
            </a:r>
            <a:endParaRPr sz="1200"/>
          </a:p>
        </p:txBody>
      </p:sp>
      <p:sp>
        <p:nvSpPr>
          <p:cNvPr id="92" name="Google Shape;92;p17"/>
          <p:cNvSpPr/>
          <p:nvPr/>
        </p:nvSpPr>
        <p:spPr>
          <a:xfrm>
            <a:off x="514350" y="1128699"/>
            <a:ext cx="3705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100">
                <a:solidFill>
                  <a:srgbClr val="2463C7"/>
                </a:solidFill>
                <a:latin typeface="Arial"/>
                <a:ea typeface="Arial"/>
                <a:cs typeface="Arial"/>
                <a:sym typeface="Arial"/>
              </a:rPr>
              <a:t>01</a:t>
            </a:r>
            <a:endParaRPr sz="1300"/>
          </a:p>
        </p:txBody>
      </p:sp>
      <p:sp>
        <p:nvSpPr>
          <p:cNvPr id="93" name="Google Shape;93;p17"/>
          <p:cNvSpPr/>
          <p:nvPr/>
        </p:nvSpPr>
        <p:spPr>
          <a:xfrm>
            <a:off x="828676" y="1128691"/>
            <a:ext cx="22146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100">
                <a:solidFill>
                  <a:srgbClr val="2463C7"/>
                </a:solidFill>
                <a:latin typeface="Arial"/>
                <a:ea typeface="Arial"/>
                <a:cs typeface="Arial"/>
                <a:sym typeface="Arial"/>
              </a:rPr>
              <a:t>PLATFORM COMPATIBILITY</a:t>
            </a:r>
            <a:endParaRPr/>
          </a:p>
        </p:txBody>
      </p:sp>
      <p:cxnSp>
        <p:nvCxnSpPr>
          <p:cNvPr id="94" name="Google Shape;94;p17"/>
          <p:cNvCxnSpPr/>
          <p:nvPr/>
        </p:nvCxnSpPr>
        <p:spPr>
          <a:xfrm>
            <a:off x="514350" y="1493615"/>
            <a:ext cx="514500" cy="0"/>
          </a:xfrm>
          <a:prstGeom prst="straightConnector1">
            <a:avLst/>
          </a:prstGeom>
          <a:noFill/>
          <a:ln cap="flat" cmpd="sng" w="47625">
            <a:solidFill>
              <a:srgbClr val="2463C7"/>
            </a:solidFill>
            <a:prstDash val="solid"/>
            <a:round/>
            <a:headEnd len="sm" w="sm" type="none"/>
            <a:tailEnd len="sm" w="sm" type="none"/>
          </a:ln>
        </p:spPr>
      </p:cxnSp>
      <p:sp>
        <p:nvSpPr>
          <p:cNvPr id="95" name="Google Shape;95;p17"/>
          <p:cNvSpPr/>
          <p:nvPr/>
        </p:nvSpPr>
        <p:spPr>
          <a:xfrm>
            <a:off x="514350" y="1797719"/>
            <a:ext cx="2357400" cy="677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100">
                <a:solidFill>
                  <a:srgbClr val="062B49"/>
                </a:solidFill>
                <a:latin typeface="Arial"/>
                <a:ea typeface="Arial"/>
                <a:cs typeface="Arial"/>
                <a:sym typeface="Arial"/>
              </a:rPr>
              <a:t>Rocky Linux 8.10</a:t>
            </a:r>
            <a:endParaRPr sz="1500"/>
          </a:p>
        </p:txBody>
      </p:sp>
      <p:sp>
        <p:nvSpPr>
          <p:cNvPr id="96" name="Google Shape;96;p17"/>
          <p:cNvSpPr/>
          <p:nvPr/>
        </p:nvSpPr>
        <p:spPr>
          <a:xfrm>
            <a:off x="514350" y="2579699"/>
            <a:ext cx="2357400" cy="469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52697A"/>
                </a:solidFill>
                <a:latin typeface="Arial"/>
                <a:ea typeface="Arial"/>
                <a:cs typeface="Arial"/>
                <a:sym typeface="Arial"/>
              </a:rPr>
              <a:t>4.18-based enterprise kernel</a:t>
            </a:r>
            <a:endParaRPr sz="1300"/>
          </a:p>
        </p:txBody>
      </p:sp>
      <p:sp>
        <p:nvSpPr>
          <p:cNvPr id="97" name="Google Shape;97;p17"/>
          <p:cNvSpPr/>
          <p:nvPr/>
        </p:nvSpPr>
        <p:spPr>
          <a:xfrm>
            <a:off x="514350" y="3318236"/>
            <a:ext cx="2357400" cy="114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200">
                <a:solidFill>
                  <a:srgbClr val="0A2E4F"/>
                </a:solidFill>
                <a:latin typeface="Arial"/>
                <a:ea typeface="Arial"/>
                <a:cs typeface="Arial"/>
                <a:sym typeface="Arial"/>
              </a:rPr>
              <a:t>Program types, helpers, maps and attachment mechanisms had to be verified on the deployed kernel.</a:t>
            </a:r>
            <a:endParaRPr sz="1200"/>
          </a:p>
        </p:txBody>
      </p:sp>
      <p:sp>
        <p:nvSpPr>
          <p:cNvPr id="98" name="Google Shape;98;p17"/>
          <p:cNvSpPr/>
          <p:nvPr/>
        </p:nvSpPr>
        <p:spPr>
          <a:xfrm>
            <a:off x="3393279" y="1128699"/>
            <a:ext cx="3705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100">
                <a:solidFill>
                  <a:srgbClr val="2FB477"/>
                </a:solidFill>
                <a:latin typeface="Arial"/>
                <a:ea typeface="Arial"/>
                <a:cs typeface="Arial"/>
                <a:sym typeface="Arial"/>
              </a:rPr>
              <a:t>02</a:t>
            </a:r>
            <a:endParaRPr sz="1300"/>
          </a:p>
        </p:txBody>
      </p:sp>
      <p:sp>
        <p:nvSpPr>
          <p:cNvPr id="99" name="Google Shape;99;p17"/>
          <p:cNvSpPr/>
          <p:nvPr/>
        </p:nvSpPr>
        <p:spPr>
          <a:xfrm>
            <a:off x="3707613" y="1128691"/>
            <a:ext cx="22146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100">
                <a:solidFill>
                  <a:srgbClr val="2FB477"/>
                </a:solidFill>
                <a:latin typeface="Arial"/>
                <a:ea typeface="Arial"/>
                <a:cs typeface="Arial"/>
                <a:sym typeface="Arial"/>
              </a:rPr>
              <a:t>OPERATIONAL REQUIREMENT</a:t>
            </a:r>
            <a:endParaRPr/>
          </a:p>
        </p:txBody>
      </p:sp>
      <p:cxnSp>
        <p:nvCxnSpPr>
          <p:cNvPr id="100" name="Google Shape;100;p17"/>
          <p:cNvCxnSpPr/>
          <p:nvPr/>
        </p:nvCxnSpPr>
        <p:spPr>
          <a:xfrm>
            <a:off x="3393287" y="1493615"/>
            <a:ext cx="514500" cy="0"/>
          </a:xfrm>
          <a:prstGeom prst="straightConnector1">
            <a:avLst/>
          </a:prstGeom>
          <a:noFill/>
          <a:ln cap="flat" cmpd="sng" w="47625">
            <a:solidFill>
              <a:srgbClr val="2FB477"/>
            </a:solidFill>
            <a:prstDash val="solid"/>
            <a:round/>
            <a:headEnd len="sm" w="sm" type="none"/>
            <a:tailEnd len="sm" w="sm" type="none"/>
          </a:ln>
        </p:spPr>
      </p:cxnSp>
      <p:sp>
        <p:nvSpPr>
          <p:cNvPr id="101" name="Google Shape;101;p17"/>
          <p:cNvSpPr/>
          <p:nvPr/>
        </p:nvSpPr>
        <p:spPr>
          <a:xfrm>
            <a:off x="3393287" y="1797719"/>
            <a:ext cx="2357400" cy="677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100">
                <a:solidFill>
                  <a:srgbClr val="062B49"/>
                </a:solidFill>
                <a:latin typeface="Arial"/>
                <a:ea typeface="Arial"/>
                <a:cs typeface="Arial"/>
                <a:sym typeface="Arial"/>
              </a:rPr>
              <a:t>CPU usage &lt; 5%</a:t>
            </a:r>
            <a:endParaRPr sz="1100"/>
          </a:p>
        </p:txBody>
      </p:sp>
      <p:sp>
        <p:nvSpPr>
          <p:cNvPr id="102" name="Google Shape;102;p17"/>
          <p:cNvSpPr/>
          <p:nvPr/>
        </p:nvSpPr>
        <p:spPr>
          <a:xfrm>
            <a:off x="3393287" y="2579699"/>
            <a:ext cx="2357400" cy="469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52697A"/>
                </a:solidFill>
                <a:latin typeface="Arial"/>
                <a:ea typeface="Arial"/>
                <a:cs typeface="Arial"/>
                <a:sym typeface="Arial"/>
              </a:rPr>
              <a:t>of one logical core</a:t>
            </a:r>
            <a:endParaRPr sz="1300"/>
          </a:p>
        </p:txBody>
      </p:sp>
      <p:sp>
        <p:nvSpPr>
          <p:cNvPr id="103" name="Google Shape;103;p17"/>
          <p:cNvSpPr/>
          <p:nvPr/>
        </p:nvSpPr>
        <p:spPr>
          <a:xfrm>
            <a:off x="3393287" y="3318236"/>
            <a:ext cx="2357400" cy="114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200">
                <a:solidFill>
                  <a:srgbClr val="0A2E4F"/>
                </a:solidFill>
                <a:latin typeface="Arial"/>
                <a:ea typeface="Arial"/>
                <a:cs typeface="Arial"/>
                <a:sym typeface="Arial"/>
              </a:rPr>
              <a:t>The threshold applies to the recommended workload-scoped configuration.</a:t>
            </a:r>
            <a:endParaRPr sz="1200"/>
          </a:p>
        </p:txBody>
      </p:sp>
      <p:sp>
        <p:nvSpPr>
          <p:cNvPr id="104" name="Google Shape;104;p17"/>
          <p:cNvSpPr/>
          <p:nvPr/>
        </p:nvSpPr>
        <p:spPr>
          <a:xfrm>
            <a:off x="6272242" y="1128699"/>
            <a:ext cx="3705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100">
                <a:solidFill>
                  <a:srgbClr val="F0A600"/>
                </a:solidFill>
                <a:latin typeface="Arial"/>
                <a:ea typeface="Arial"/>
                <a:cs typeface="Arial"/>
                <a:sym typeface="Arial"/>
              </a:rPr>
              <a:t>03</a:t>
            </a:r>
            <a:endParaRPr sz="1300"/>
          </a:p>
        </p:txBody>
      </p:sp>
      <p:sp>
        <p:nvSpPr>
          <p:cNvPr id="105" name="Google Shape;105;p17"/>
          <p:cNvSpPr/>
          <p:nvPr/>
        </p:nvSpPr>
        <p:spPr>
          <a:xfrm>
            <a:off x="6586550" y="1128700"/>
            <a:ext cx="23574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100">
                <a:solidFill>
                  <a:srgbClr val="F0A600"/>
                </a:solidFill>
              </a:rPr>
              <a:t>ARCHITECTURAL </a:t>
            </a:r>
            <a:r>
              <a:rPr b="1" lang="it" sz="1100">
                <a:solidFill>
                  <a:srgbClr val="F0A600"/>
                </a:solidFill>
                <a:latin typeface="Arial"/>
                <a:ea typeface="Arial"/>
                <a:cs typeface="Arial"/>
                <a:sym typeface="Arial"/>
              </a:rPr>
              <a:t> REFERENCE</a:t>
            </a:r>
            <a:endParaRPr/>
          </a:p>
        </p:txBody>
      </p:sp>
      <p:cxnSp>
        <p:nvCxnSpPr>
          <p:cNvPr id="106" name="Google Shape;106;p17"/>
          <p:cNvCxnSpPr/>
          <p:nvPr/>
        </p:nvCxnSpPr>
        <p:spPr>
          <a:xfrm>
            <a:off x="6272224" y="1493615"/>
            <a:ext cx="514500" cy="0"/>
          </a:xfrm>
          <a:prstGeom prst="straightConnector1">
            <a:avLst/>
          </a:prstGeom>
          <a:noFill/>
          <a:ln cap="flat" cmpd="sng" w="47625">
            <a:solidFill>
              <a:srgbClr val="F0A600"/>
            </a:solidFill>
            <a:prstDash val="solid"/>
            <a:round/>
            <a:headEnd len="sm" w="sm" type="none"/>
            <a:tailEnd len="sm" w="sm" type="none"/>
          </a:ln>
        </p:spPr>
      </p:cxnSp>
      <p:sp>
        <p:nvSpPr>
          <p:cNvPr id="107" name="Google Shape;107;p17"/>
          <p:cNvSpPr/>
          <p:nvPr/>
        </p:nvSpPr>
        <p:spPr>
          <a:xfrm>
            <a:off x="6272224" y="1797719"/>
            <a:ext cx="2357400" cy="677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100">
                <a:solidFill>
                  <a:srgbClr val="062B49"/>
                </a:solidFill>
                <a:latin typeface="Arial"/>
                <a:ea typeface="Arial"/>
                <a:cs typeface="Arial"/>
                <a:sym typeface="Arial"/>
              </a:rPr>
              <a:t>Tracee</a:t>
            </a:r>
            <a:endParaRPr sz="1100"/>
          </a:p>
        </p:txBody>
      </p:sp>
      <p:sp>
        <p:nvSpPr>
          <p:cNvPr id="108" name="Google Shape;108;p17"/>
          <p:cNvSpPr/>
          <p:nvPr/>
        </p:nvSpPr>
        <p:spPr>
          <a:xfrm>
            <a:off x="6272225" y="2579700"/>
            <a:ext cx="2620500" cy="469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52697A"/>
                </a:solidFill>
              </a:rPr>
              <a:t>Open-source multi-kernel </a:t>
            </a:r>
            <a:r>
              <a:rPr b="1" lang="it" sz="1200">
                <a:solidFill>
                  <a:srgbClr val="52697A"/>
                </a:solidFill>
              </a:rPr>
              <a:t>runtime security and observability tool </a:t>
            </a:r>
            <a:endParaRPr sz="1200"/>
          </a:p>
        </p:txBody>
      </p:sp>
      <p:sp>
        <p:nvSpPr>
          <p:cNvPr id="109" name="Google Shape;109;p17"/>
          <p:cNvSpPr/>
          <p:nvPr/>
        </p:nvSpPr>
        <p:spPr>
          <a:xfrm>
            <a:off x="6272224" y="3318236"/>
            <a:ext cx="2357400" cy="114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200">
                <a:solidFill>
                  <a:srgbClr val="0A2E4F"/>
                </a:solidFill>
                <a:latin typeface="Arial"/>
                <a:ea typeface="Arial"/>
                <a:cs typeface="Arial"/>
                <a:sym typeface="Arial"/>
              </a:rPr>
              <a:t>Reference for the common event model and the separation between kernel collection and user-space processing.</a:t>
            </a:r>
            <a:endParaRPr sz="1200"/>
          </a:p>
        </p:txBody>
      </p:sp>
      <p:cxnSp>
        <p:nvCxnSpPr>
          <p:cNvPr id="110" name="Google Shape;110;p17"/>
          <p:cNvCxnSpPr/>
          <p:nvPr/>
        </p:nvCxnSpPr>
        <p:spPr>
          <a:xfrm>
            <a:off x="3128968" y="1102625"/>
            <a:ext cx="0" cy="3675600"/>
          </a:xfrm>
          <a:prstGeom prst="straightConnector1">
            <a:avLst/>
          </a:prstGeom>
          <a:noFill/>
          <a:ln cap="flat" cmpd="sng" w="19050">
            <a:solidFill>
              <a:srgbClr val="B9C9D6"/>
            </a:solidFill>
            <a:prstDash val="solid"/>
            <a:round/>
            <a:headEnd len="sm" w="sm" type="none"/>
            <a:tailEnd len="sm" w="sm" type="none"/>
          </a:ln>
        </p:spPr>
      </p:cxnSp>
      <p:cxnSp>
        <p:nvCxnSpPr>
          <p:cNvPr id="111" name="Google Shape;111;p17"/>
          <p:cNvCxnSpPr/>
          <p:nvPr/>
        </p:nvCxnSpPr>
        <p:spPr>
          <a:xfrm>
            <a:off x="6007905" y="1102625"/>
            <a:ext cx="0" cy="3675600"/>
          </a:xfrm>
          <a:prstGeom prst="straightConnector1">
            <a:avLst/>
          </a:prstGeom>
          <a:noFill/>
          <a:ln cap="flat" cmpd="sng" w="19050">
            <a:solidFill>
              <a:srgbClr val="B9C9D6"/>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18"/>
          <p:cNvSpPr/>
          <p:nvPr/>
        </p:nvSpPr>
        <p:spPr>
          <a:xfrm>
            <a:off x="0" y="0"/>
            <a:ext cx="9144000" cy="700087"/>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8"/>
          <p:cNvSpPr/>
          <p:nvPr/>
        </p:nvSpPr>
        <p:spPr>
          <a:xfrm>
            <a:off x="514350" y="128588"/>
            <a:ext cx="8115300" cy="4429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300">
                <a:solidFill>
                  <a:srgbClr val="FFFFFF"/>
                </a:solidFill>
                <a:latin typeface="Arial"/>
                <a:ea typeface="Arial"/>
                <a:cs typeface="Arial"/>
                <a:sym typeface="Arial"/>
              </a:rPr>
              <a:t>End-to-End Monitoring Pipeline</a:t>
            </a:r>
            <a:endParaRPr sz="1100"/>
          </a:p>
        </p:txBody>
      </p:sp>
      <p:sp>
        <p:nvSpPr>
          <p:cNvPr id="119" name="Google Shape;119;p18"/>
          <p:cNvSpPr/>
          <p:nvPr/>
        </p:nvSpPr>
        <p:spPr>
          <a:xfrm>
            <a:off x="88100" y="785713"/>
            <a:ext cx="90096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600">
                <a:solidFill>
                  <a:srgbClr val="0A2E4F"/>
                </a:solidFill>
                <a:latin typeface="Arial"/>
                <a:ea typeface="Arial"/>
                <a:cs typeface="Arial"/>
                <a:sym typeface="Arial"/>
              </a:rPr>
              <a:t>Setup prepares the instrumentation. Event processing begins after the probes are attached.</a:t>
            </a:r>
            <a:endParaRPr sz="1500"/>
          </a:p>
        </p:txBody>
      </p:sp>
      <p:sp>
        <p:nvSpPr>
          <p:cNvPr id="120" name="Google Shape;120;p18"/>
          <p:cNvSpPr/>
          <p:nvPr/>
        </p:nvSpPr>
        <p:spPr>
          <a:xfrm>
            <a:off x="371550" y="1242925"/>
            <a:ext cx="35718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062B49"/>
                </a:solidFill>
                <a:latin typeface="Arial"/>
                <a:ea typeface="Arial"/>
                <a:cs typeface="Arial"/>
                <a:sym typeface="Arial"/>
              </a:rPr>
              <a:t>SETUP PATH · USER SPACE</a:t>
            </a:r>
            <a:endParaRPr>
              <a:solidFill>
                <a:srgbClr val="062B49"/>
              </a:solidFill>
            </a:endParaRPr>
          </a:p>
        </p:txBody>
      </p:sp>
      <p:sp>
        <p:nvSpPr>
          <p:cNvPr id="121" name="Google Shape;121;p18"/>
          <p:cNvSpPr/>
          <p:nvPr/>
        </p:nvSpPr>
        <p:spPr>
          <a:xfrm>
            <a:off x="430425" y="1588210"/>
            <a:ext cx="2425500" cy="800100"/>
          </a:xfrm>
          <a:prstGeom prst="roundRect">
            <a:avLst>
              <a:gd fmla="val 10000" name="adj"/>
            </a:avLst>
          </a:prstGeom>
          <a:solidFill>
            <a:srgbClr val="EAF2FB"/>
          </a:solidFill>
          <a:ln cap="flat" cmpd="sng" w="9525">
            <a:solidFill>
              <a:srgbClr val="CAD8E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8"/>
          <p:cNvSpPr/>
          <p:nvPr/>
        </p:nvSpPr>
        <p:spPr>
          <a:xfrm>
            <a:off x="514350" y="1654144"/>
            <a:ext cx="471600" cy="4428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3D85C6"/>
                </a:solidFill>
                <a:latin typeface="Arial"/>
                <a:ea typeface="Arial"/>
                <a:cs typeface="Arial"/>
                <a:sym typeface="Arial"/>
              </a:rPr>
              <a:t>01</a:t>
            </a:r>
            <a:endParaRPr sz="1500">
              <a:solidFill>
                <a:srgbClr val="3D85C6"/>
              </a:solidFill>
            </a:endParaRPr>
          </a:p>
        </p:txBody>
      </p:sp>
      <p:sp>
        <p:nvSpPr>
          <p:cNvPr id="123" name="Google Shape;123;p18"/>
          <p:cNvSpPr/>
          <p:nvPr/>
        </p:nvSpPr>
        <p:spPr>
          <a:xfrm>
            <a:off x="913913" y="1641785"/>
            <a:ext cx="1500300" cy="221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500">
                <a:solidFill>
                  <a:srgbClr val="0A2E4F"/>
                </a:solidFill>
                <a:latin typeface="Arial"/>
                <a:ea typeface="Arial"/>
                <a:cs typeface="Arial"/>
                <a:sym typeface="Arial"/>
              </a:rPr>
              <a:t>Validate inputs</a:t>
            </a:r>
            <a:endParaRPr/>
          </a:p>
        </p:txBody>
      </p:sp>
      <p:sp>
        <p:nvSpPr>
          <p:cNvPr id="124" name="Google Shape;124;p18"/>
          <p:cNvSpPr/>
          <p:nvPr/>
        </p:nvSpPr>
        <p:spPr>
          <a:xfrm>
            <a:off x="472425" y="1979350"/>
            <a:ext cx="23835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rPr>
              <a:t>CLI, policies and detectors</a:t>
            </a:r>
            <a:endParaRPr b="1">
              <a:solidFill>
                <a:srgbClr val="062B49"/>
              </a:solidFill>
            </a:endParaRPr>
          </a:p>
        </p:txBody>
      </p:sp>
      <p:sp>
        <p:nvSpPr>
          <p:cNvPr id="125" name="Google Shape;125;p18"/>
          <p:cNvSpPr/>
          <p:nvPr/>
        </p:nvSpPr>
        <p:spPr>
          <a:xfrm>
            <a:off x="1192725" y="4110925"/>
            <a:ext cx="16632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F2B632"/>
                </a:solidFill>
                <a:latin typeface="Arial"/>
                <a:ea typeface="Arial"/>
                <a:cs typeface="Arial"/>
                <a:sym typeface="Arial"/>
              </a:rPr>
              <a:t>KERNEL SPACE</a:t>
            </a:r>
            <a:endParaRPr/>
          </a:p>
        </p:txBody>
      </p:sp>
      <p:sp>
        <p:nvSpPr>
          <p:cNvPr id="126" name="Google Shape;126;p18"/>
          <p:cNvSpPr/>
          <p:nvPr/>
        </p:nvSpPr>
        <p:spPr>
          <a:xfrm>
            <a:off x="442475" y="3213588"/>
            <a:ext cx="1373700" cy="850500"/>
          </a:xfrm>
          <a:prstGeom prst="roundRect">
            <a:avLst>
              <a:gd fmla="val 10638" name="adj"/>
            </a:avLst>
          </a:prstGeom>
          <a:solidFill>
            <a:srgbClr val="FFF4D9"/>
          </a:solidFill>
          <a:ln cap="flat" cmpd="sng" w="19050">
            <a:solidFill>
              <a:srgbClr val="F2B63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8"/>
          <p:cNvSpPr/>
          <p:nvPr/>
        </p:nvSpPr>
        <p:spPr>
          <a:xfrm>
            <a:off x="551337" y="3270865"/>
            <a:ext cx="1156800" cy="4344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A2E4F"/>
                </a:solidFill>
                <a:latin typeface="Arial"/>
                <a:ea typeface="Arial"/>
                <a:cs typeface="Arial"/>
                <a:sym typeface="Arial"/>
              </a:rPr>
              <a:t>eBPF programs</a:t>
            </a:r>
            <a:endParaRPr sz="1500"/>
          </a:p>
        </p:txBody>
      </p:sp>
      <p:sp>
        <p:nvSpPr>
          <p:cNvPr id="128" name="Google Shape;128;p18"/>
          <p:cNvSpPr/>
          <p:nvPr/>
        </p:nvSpPr>
        <p:spPr>
          <a:xfrm>
            <a:off x="442325" y="3792800"/>
            <a:ext cx="1373700" cy="189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100">
                <a:solidFill>
                  <a:srgbClr val="062B49"/>
                </a:solidFill>
              </a:rPr>
              <a:t>collect and submit</a:t>
            </a:r>
            <a:endParaRPr b="1">
              <a:solidFill>
                <a:srgbClr val="062B49"/>
              </a:solidFill>
            </a:endParaRPr>
          </a:p>
        </p:txBody>
      </p:sp>
      <p:sp>
        <p:nvSpPr>
          <p:cNvPr id="129" name="Google Shape;129;p18"/>
          <p:cNvSpPr/>
          <p:nvPr/>
        </p:nvSpPr>
        <p:spPr>
          <a:xfrm>
            <a:off x="2105562" y="3213588"/>
            <a:ext cx="1518600" cy="850500"/>
          </a:xfrm>
          <a:prstGeom prst="roundRect">
            <a:avLst>
              <a:gd fmla="val 10638" name="adj"/>
            </a:avLst>
          </a:prstGeom>
          <a:solidFill>
            <a:srgbClr val="FFF4D9"/>
          </a:solidFill>
          <a:ln cap="flat" cmpd="sng" w="19050">
            <a:solidFill>
              <a:srgbClr val="F2B63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8"/>
          <p:cNvSpPr/>
          <p:nvPr/>
        </p:nvSpPr>
        <p:spPr>
          <a:xfrm>
            <a:off x="2214025" y="3322190"/>
            <a:ext cx="1301400" cy="4344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A2E4F"/>
                </a:solidFill>
                <a:latin typeface="Arial"/>
                <a:ea typeface="Arial"/>
                <a:cs typeface="Arial"/>
                <a:sym typeface="Arial"/>
              </a:rPr>
              <a:t>Perf event buffer</a:t>
            </a:r>
            <a:endParaRPr sz="1500"/>
          </a:p>
        </p:txBody>
      </p:sp>
      <p:sp>
        <p:nvSpPr>
          <p:cNvPr id="131" name="Google Shape;131;p18"/>
          <p:cNvSpPr/>
          <p:nvPr/>
        </p:nvSpPr>
        <p:spPr>
          <a:xfrm>
            <a:off x="2214025" y="3792799"/>
            <a:ext cx="1301400" cy="189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100">
                <a:solidFill>
                  <a:srgbClr val="062B49"/>
                </a:solidFill>
              </a:rPr>
              <a:t>binary records</a:t>
            </a:r>
            <a:endParaRPr b="1" sz="1100">
              <a:solidFill>
                <a:srgbClr val="062B49"/>
              </a:solidFill>
            </a:endParaRPr>
          </a:p>
        </p:txBody>
      </p:sp>
      <p:cxnSp>
        <p:nvCxnSpPr>
          <p:cNvPr id="132" name="Google Shape;132;p18"/>
          <p:cNvCxnSpPr/>
          <p:nvPr/>
        </p:nvCxnSpPr>
        <p:spPr>
          <a:xfrm>
            <a:off x="1816330" y="3638946"/>
            <a:ext cx="289500" cy="0"/>
          </a:xfrm>
          <a:prstGeom prst="straightConnector1">
            <a:avLst/>
          </a:prstGeom>
          <a:noFill/>
          <a:ln cap="flat" cmpd="sng" w="28575">
            <a:solidFill>
              <a:srgbClr val="CAD8E2"/>
            </a:solidFill>
            <a:prstDash val="solid"/>
            <a:round/>
            <a:headEnd len="sm" w="sm" type="none"/>
            <a:tailEnd len="sm" w="sm" type="none"/>
          </a:ln>
        </p:spPr>
      </p:cxnSp>
      <p:sp>
        <p:nvSpPr>
          <p:cNvPr id="133" name="Google Shape;133;p18"/>
          <p:cNvSpPr/>
          <p:nvPr/>
        </p:nvSpPr>
        <p:spPr>
          <a:xfrm>
            <a:off x="4520525" y="2847675"/>
            <a:ext cx="1518600" cy="217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2FB477"/>
                </a:solidFill>
                <a:latin typeface="Arial"/>
                <a:ea typeface="Arial"/>
                <a:cs typeface="Arial"/>
                <a:sym typeface="Arial"/>
              </a:rPr>
              <a:t>USER SPACE</a:t>
            </a:r>
            <a:endParaRPr/>
          </a:p>
        </p:txBody>
      </p:sp>
      <p:sp>
        <p:nvSpPr>
          <p:cNvPr id="134" name="Google Shape;134;p18"/>
          <p:cNvSpPr/>
          <p:nvPr/>
        </p:nvSpPr>
        <p:spPr>
          <a:xfrm>
            <a:off x="4202499" y="3213588"/>
            <a:ext cx="1663200" cy="850500"/>
          </a:xfrm>
          <a:prstGeom prst="roundRect">
            <a:avLst>
              <a:gd fmla="val 10638" name="adj"/>
            </a:avLst>
          </a:prstGeom>
          <a:solidFill>
            <a:srgbClr val="E5F5EC"/>
          </a:solidFill>
          <a:ln cap="flat" cmpd="sng" w="19050">
            <a:solidFill>
              <a:srgbClr val="2FB47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8"/>
          <p:cNvSpPr/>
          <p:nvPr/>
        </p:nvSpPr>
        <p:spPr>
          <a:xfrm>
            <a:off x="4310861" y="3264765"/>
            <a:ext cx="1446300" cy="4344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A2E4F"/>
                </a:solidFill>
                <a:latin typeface="Arial"/>
                <a:ea typeface="Arial"/>
                <a:cs typeface="Arial"/>
                <a:sym typeface="Arial"/>
              </a:rPr>
              <a:t>Decode, enrich, filter</a:t>
            </a:r>
            <a:endParaRPr sz="1500"/>
          </a:p>
        </p:txBody>
      </p:sp>
      <p:sp>
        <p:nvSpPr>
          <p:cNvPr id="136" name="Google Shape;136;p18"/>
          <p:cNvSpPr/>
          <p:nvPr/>
        </p:nvSpPr>
        <p:spPr>
          <a:xfrm>
            <a:off x="4310961" y="3792799"/>
            <a:ext cx="1446300" cy="189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100">
                <a:solidFill>
                  <a:srgbClr val="062B49"/>
                </a:solidFill>
              </a:rPr>
              <a:t>normalized event</a:t>
            </a:r>
            <a:endParaRPr b="1" sz="1100">
              <a:solidFill>
                <a:srgbClr val="062B49"/>
              </a:solidFill>
            </a:endParaRPr>
          </a:p>
        </p:txBody>
      </p:sp>
      <p:cxnSp>
        <p:nvCxnSpPr>
          <p:cNvPr id="137" name="Google Shape;137;p18"/>
          <p:cNvCxnSpPr/>
          <p:nvPr/>
        </p:nvCxnSpPr>
        <p:spPr>
          <a:xfrm>
            <a:off x="3624033" y="3638946"/>
            <a:ext cx="578400" cy="0"/>
          </a:xfrm>
          <a:prstGeom prst="straightConnector1">
            <a:avLst/>
          </a:prstGeom>
          <a:noFill/>
          <a:ln cap="flat" cmpd="sng" w="28575">
            <a:solidFill>
              <a:srgbClr val="CAD8E2"/>
            </a:solidFill>
            <a:prstDash val="solid"/>
            <a:round/>
            <a:headEnd len="sm" w="sm" type="none"/>
            <a:tailEnd len="sm" w="sm" type="none"/>
          </a:ln>
        </p:spPr>
      </p:cxnSp>
      <p:sp>
        <p:nvSpPr>
          <p:cNvPr id="138" name="Google Shape;138;p18"/>
          <p:cNvSpPr/>
          <p:nvPr/>
        </p:nvSpPr>
        <p:spPr>
          <a:xfrm>
            <a:off x="6183742" y="2887782"/>
            <a:ext cx="1156800" cy="850500"/>
          </a:xfrm>
          <a:prstGeom prst="roundRect">
            <a:avLst>
              <a:gd fmla="val 10638" name="adj"/>
            </a:avLst>
          </a:prstGeom>
          <a:solidFill>
            <a:srgbClr val="EAF2FB"/>
          </a:solidFill>
          <a:ln cap="flat" cmpd="sng" w="19050">
            <a:solidFill>
              <a:srgbClr val="1E5F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8"/>
          <p:cNvSpPr/>
          <p:nvPr/>
        </p:nvSpPr>
        <p:spPr>
          <a:xfrm>
            <a:off x="6292204" y="2996384"/>
            <a:ext cx="940200" cy="4344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A2E4F"/>
                </a:solidFill>
                <a:latin typeface="Arial"/>
                <a:ea typeface="Arial"/>
                <a:cs typeface="Arial"/>
                <a:sym typeface="Arial"/>
              </a:rPr>
              <a:t>Event output</a:t>
            </a:r>
            <a:endParaRPr sz="1500"/>
          </a:p>
        </p:txBody>
      </p:sp>
      <p:sp>
        <p:nvSpPr>
          <p:cNvPr id="140" name="Google Shape;140;p18"/>
          <p:cNvSpPr/>
          <p:nvPr/>
        </p:nvSpPr>
        <p:spPr>
          <a:xfrm>
            <a:off x="6183742" y="3901401"/>
            <a:ext cx="1156800" cy="850500"/>
          </a:xfrm>
          <a:prstGeom prst="roundRect">
            <a:avLst>
              <a:gd fmla="val 10638" name="adj"/>
            </a:avLst>
          </a:prstGeom>
          <a:solidFill>
            <a:srgbClr val="EAF2FB"/>
          </a:solidFill>
          <a:ln cap="flat" cmpd="sng" w="19050">
            <a:solidFill>
              <a:srgbClr val="1E5F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18"/>
          <p:cNvSpPr/>
          <p:nvPr/>
        </p:nvSpPr>
        <p:spPr>
          <a:xfrm>
            <a:off x="6292104" y="4142503"/>
            <a:ext cx="940200" cy="4344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A2E4F"/>
                </a:solidFill>
                <a:latin typeface="Arial"/>
                <a:ea typeface="Arial"/>
                <a:cs typeface="Arial"/>
                <a:sym typeface="Arial"/>
              </a:rPr>
              <a:t>Detector</a:t>
            </a:r>
            <a:endParaRPr sz="1500"/>
          </a:p>
        </p:txBody>
      </p:sp>
      <p:sp>
        <p:nvSpPr>
          <p:cNvPr id="142" name="Google Shape;142;p18"/>
          <p:cNvSpPr/>
          <p:nvPr/>
        </p:nvSpPr>
        <p:spPr>
          <a:xfrm>
            <a:off x="7586520" y="3901401"/>
            <a:ext cx="1156800" cy="850500"/>
          </a:xfrm>
          <a:prstGeom prst="roundRect">
            <a:avLst>
              <a:gd fmla="val 10638" name="adj"/>
            </a:avLst>
          </a:prstGeom>
          <a:solidFill>
            <a:srgbClr val="FDECEB"/>
          </a:solidFill>
          <a:ln cap="flat" cmpd="sng" w="19050">
            <a:solidFill>
              <a:srgbClr val="F45F57"/>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18"/>
          <p:cNvSpPr/>
          <p:nvPr/>
        </p:nvSpPr>
        <p:spPr>
          <a:xfrm>
            <a:off x="7695057" y="4064103"/>
            <a:ext cx="940200" cy="4344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A2E4F"/>
                </a:solidFill>
                <a:latin typeface="Arial"/>
                <a:ea typeface="Arial"/>
                <a:cs typeface="Arial"/>
                <a:sym typeface="Arial"/>
              </a:rPr>
              <a:t>Alert output</a:t>
            </a:r>
            <a:endParaRPr sz="1500"/>
          </a:p>
        </p:txBody>
      </p:sp>
      <p:cxnSp>
        <p:nvCxnSpPr>
          <p:cNvPr id="144" name="Google Shape;144;p18"/>
          <p:cNvCxnSpPr/>
          <p:nvPr/>
        </p:nvCxnSpPr>
        <p:spPr>
          <a:xfrm>
            <a:off x="5865586" y="3638946"/>
            <a:ext cx="173700" cy="0"/>
          </a:xfrm>
          <a:prstGeom prst="straightConnector1">
            <a:avLst/>
          </a:prstGeom>
          <a:noFill/>
          <a:ln cap="flat" cmpd="sng" w="28575">
            <a:solidFill>
              <a:srgbClr val="CAD8E2"/>
            </a:solidFill>
            <a:prstDash val="solid"/>
            <a:round/>
            <a:headEnd len="sm" w="sm" type="none"/>
            <a:tailEnd len="sm" w="sm" type="none"/>
          </a:ln>
        </p:spPr>
      </p:cxnSp>
      <p:cxnSp>
        <p:nvCxnSpPr>
          <p:cNvPr id="145" name="Google Shape;145;p18"/>
          <p:cNvCxnSpPr/>
          <p:nvPr/>
        </p:nvCxnSpPr>
        <p:spPr>
          <a:xfrm>
            <a:off x="6039125" y="3313140"/>
            <a:ext cx="0" cy="1013700"/>
          </a:xfrm>
          <a:prstGeom prst="straightConnector1">
            <a:avLst/>
          </a:prstGeom>
          <a:noFill/>
          <a:ln cap="flat" cmpd="sng" w="28575">
            <a:solidFill>
              <a:srgbClr val="CAD8E2"/>
            </a:solidFill>
            <a:prstDash val="solid"/>
            <a:round/>
            <a:headEnd len="sm" w="sm" type="none"/>
            <a:tailEnd len="sm" w="sm" type="none"/>
          </a:ln>
        </p:spPr>
      </p:cxnSp>
      <p:cxnSp>
        <p:nvCxnSpPr>
          <p:cNvPr id="146" name="Google Shape;146;p18"/>
          <p:cNvCxnSpPr/>
          <p:nvPr/>
        </p:nvCxnSpPr>
        <p:spPr>
          <a:xfrm>
            <a:off x="6039125" y="3313140"/>
            <a:ext cx="144600" cy="0"/>
          </a:xfrm>
          <a:prstGeom prst="straightConnector1">
            <a:avLst/>
          </a:prstGeom>
          <a:noFill/>
          <a:ln cap="flat" cmpd="sng" w="28575">
            <a:solidFill>
              <a:srgbClr val="CAD8E2"/>
            </a:solidFill>
            <a:prstDash val="solid"/>
            <a:round/>
            <a:headEnd len="sm" w="sm" type="none"/>
            <a:tailEnd len="sm" w="sm" type="none"/>
          </a:ln>
        </p:spPr>
      </p:cxnSp>
      <p:cxnSp>
        <p:nvCxnSpPr>
          <p:cNvPr id="147" name="Google Shape;147;p18"/>
          <p:cNvCxnSpPr/>
          <p:nvPr/>
        </p:nvCxnSpPr>
        <p:spPr>
          <a:xfrm>
            <a:off x="6039125" y="4326758"/>
            <a:ext cx="144600" cy="0"/>
          </a:xfrm>
          <a:prstGeom prst="straightConnector1">
            <a:avLst/>
          </a:prstGeom>
          <a:noFill/>
          <a:ln cap="flat" cmpd="sng" w="28575">
            <a:solidFill>
              <a:srgbClr val="CAD8E2"/>
            </a:solidFill>
            <a:prstDash val="solid"/>
            <a:round/>
            <a:headEnd len="sm" w="sm" type="none"/>
            <a:tailEnd len="sm" w="sm" type="none"/>
          </a:ln>
        </p:spPr>
      </p:cxnSp>
      <p:cxnSp>
        <p:nvCxnSpPr>
          <p:cNvPr id="148" name="Google Shape;148;p18"/>
          <p:cNvCxnSpPr/>
          <p:nvPr/>
        </p:nvCxnSpPr>
        <p:spPr>
          <a:xfrm>
            <a:off x="7340672" y="4326758"/>
            <a:ext cx="246000" cy="0"/>
          </a:xfrm>
          <a:prstGeom prst="straightConnector1">
            <a:avLst/>
          </a:prstGeom>
          <a:noFill/>
          <a:ln cap="flat" cmpd="sng" w="28575">
            <a:solidFill>
              <a:srgbClr val="CAD8E2"/>
            </a:solidFill>
            <a:prstDash val="solid"/>
            <a:round/>
            <a:headEnd len="sm" w="sm" type="none"/>
            <a:tailEnd len="sm" w="sm" type="none"/>
          </a:ln>
        </p:spPr>
      </p:cxnSp>
      <p:sp>
        <p:nvSpPr>
          <p:cNvPr id="149" name="Google Shape;149;p18"/>
          <p:cNvSpPr/>
          <p:nvPr/>
        </p:nvSpPr>
        <p:spPr>
          <a:xfrm>
            <a:off x="3359262" y="1582375"/>
            <a:ext cx="2425500" cy="800100"/>
          </a:xfrm>
          <a:prstGeom prst="roundRect">
            <a:avLst>
              <a:gd fmla="val 10000" name="adj"/>
            </a:avLst>
          </a:prstGeom>
          <a:solidFill>
            <a:srgbClr val="EAF2FB"/>
          </a:solidFill>
          <a:ln cap="flat" cmpd="sng" w="9525">
            <a:solidFill>
              <a:srgbClr val="CAD8E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8"/>
          <p:cNvSpPr/>
          <p:nvPr/>
        </p:nvSpPr>
        <p:spPr>
          <a:xfrm>
            <a:off x="3443188" y="1648308"/>
            <a:ext cx="471600" cy="4428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3D85C6"/>
                </a:solidFill>
                <a:latin typeface="Arial"/>
                <a:ea typeface="Arial"/>
                <a:cs typeface="Arial"/>
                <a:sym typeface="Arial"/>
              </a:rPr>
              <a:t>0</a:t>
            </a:r>
            <a:r>
              <a:rPr b="1" lang="it" sz="1300">
                <a:solidFill>
                  <a:srgbClr val="3D85C6"/>
                </a:solidFill>
              </a:rPr>
              <a:t>2</a:t>
            </a:r>
            <a:endParaRPr sz="1500">
              <a:solidFill>
                <a:srgbClr val="3D85C6"/>
              </a:solidFill>
            </a:endParaRPr>
          </a:p>
        </p:txBody>
      </p:sp>
      <p:sp>
        <p:nvSpPr>
          <p:cNvPr id="151" name="Google Shape;151;p18"/>
          <p:cNvSpPr/>
          <p:nvPr/>
        </p:nvSpPr>
        <p:spPr>
          <a:xfrm>
            <a:off x="3842750" y="1635950"/>
            <a:ext cx="1500300" cy="221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500">
                <a:solidFill>
                  <a:srgbClr val="0A2E4F"/>
                </a:solidFill>
              </a:rPr>
              <a:t>Prepare run</a:t>
            </a:r>
            <a:endParaRPr/>
          </a:p>
        </p:txBody>
      </p:sp>
      <p:sp>
        <p:nvSpPr>
          <p:cNvPr id="152" name="Google Shape;152;p18"/>
          <p:cNvSpPr/>
          <p:nvPr/>
        </p:nvSpPr>
        <p:spPr>
          <a:xfrm>
            <a:off x="3359250" y="1976350"/>
            <a:ext cx="24465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rPr>
              <a:t>event scope and eBPF object</a:t>
            </a:r>
            <a:endParaRPr b="1">
              <a:solidFill>
                <a:srgbClr val="062B49"/>
              </a:solidFill>
            </a:endParaRPr>
          </a:p>
        </p:txBody>
      </p:sp>
      <p:sp>
        <p:nvSpPr>
          <p:cNvPr id="153" name="Google Shape;153;p18"/>
          <p:cNvSpPr/>
          <p:nvPr/>
        </p:nvSpPr>
        <p:spPr>
          <a:xfrm>
            <a:off x="6288075" y="1581133"/>
            <a:ext cx="2425500" cy="800100"/>
          </a:xfrm>
          <a:prstGeom prst="roundRect">
            <a:avLst>
              <a:gd fmla="val 10000" name="adj"/>
            </a:avLst>
          </a:prstGeom>
          <a:solidFill>
            <a:srgbClr val="EAF2FB"/>
          </a:solidFill>
          <a:ln cap="flat" cmpd="sng" w="9525">
            <a:solidFill>
              <a:srgbClr val="CAD8E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18"/>
          <p:cNvSpPr/>
          <p:nvPr/>
        </p:nvSpPr>
        <p:spPr>
          <a:xfrm>
            <a:off x="6372000" y="1659056"/>
            <a:ext cx="471600" cy="4428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3D85CA"/>
                </a:solidFill>
              </a:rPr>
              <a:t>03</a:t>
            </a:r>
            <a:endParaRPr sz="1500">
              <a:solidFill>
                <a:srgbClr val="3D85CA"/>
              </a:solidFill>
            </a:endParaRPr>
          </a:p>
        </p:txBody>
      </p:sp>
      <p:sp>
        <p:nvSpPr>
          <p:cNvPr id="155" name="Google Shape;155;p18"/>
          <p:cNvSpPr/>
          <p:nvPr/>
        </p:nvSpPr>
        <p:spPr>
          <a:xfrm>
            <a:off x="6771577" y="1646700"/>
            <a:ext cx="1663200" cy="221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500">
                <a:solidFill>
                  <a:srgbClr val="0A2E4F"/>
                </a:solidFill>
              </a:rPr>
              <a:t>Activate probes</a:t>
            </a:r>
            <a:endParaRPr/>
          </a:p>
        </p:txBody>
      </p:sp>
      <p:sp>
        <p:nvSpPr>
          <p:cNvPr id="156" name="Google Shape;156;p18"/>
          <p:cNvSpPr/>
          <p:nvPr/>
        </p:nvSpPr>
        <p:spPr>
          <a:xfrm>
            <a:off x="6387375" y="1984273"/>
            <a:ext cx="22269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rPr>
              <a:t>maps and event channel</a:t>
            </a:r>
            <a:endParaRPr b="1">
              <a:solidFill>
                <a:srgbClr val="062B49"/>
              </a:solidFill>
            </a:endParaRPr>
          </a:p>
        </p:txBody>
      </p:sp>
      <p:cxnSp>
        <p:nvCxnSpPr>
          <p:cNvPr id="157" name="Google Shape;157;p18"/>
          <p:cNvCxnSpPr/>
          <p:nvPr/>
        </p:nvCxnSpPr>
        <p:spPr>
          <a:xfrm flipH="1">
            <a:off x="2855925" y="1982560"/>
            <a:ext cx="503400" cy="7200"/>
          </a:xfrm>
          <a:prstGeom prst="straightConnector1">
            <a:avLst/>
          </a:prstGeom>
          <a:noFill/>
          <a:ln cap="flat" cmpd="sng" w="19050">
            <a:solidFill>
              <a:srgbClr val="062B49"/>
            </a:solidFill>
            <a:prstDash val="solid"/>
            <a:round/>
            <a:headEnd len="med" w="med" type="triangle"/>
            <a:tailEnd len="med" w="med" type="none"/>
          </a:ln>
        </p:spPr>
      </p:cxnSp>
      <p:cxnSp>
        <p:nvCxnSpPr>
          <p:cNvPr id="158" name="Google Shape;158;p18"/>
          <p:cNvCxnSpPr>
            <a:stCxn id="149" idx="3"/>
            <a:endCxn id="153" idx="1"/>
          </p:cNvCxnSpPr>
          <p:nvPr/>
        </p:nvCxnSpPr>
        <p:spPr>
          <a:xfrm flipH="1" rot="10800000">
            <a:off x="5784762" y="1981225"/>
            <a:ext cx="503400" cy="1200"/>
          </a:xfrm>
          <a:prstGeom prst="straightConnector1">
            <a:avLst/>
          </a:prstGeom>
          <a:noFill/>
          <a:ln cap="flat" cmpd="sng" w="19050">
            <a:solidFill>
              <a:schemeClr val="dk2"/>
            </a:solidFill>
            <a:prstDash val="solid"/>
            <a:round/>
            <a:headEnd len="med" w="med" type="none"/>
            <a:tailEnd len="med" w="med" type="triangle"/>
          </a:ln>
        </p:spPr>
      </p:cxnSp>
      <p:sp>
        <p:nvSpPr>
          <p:cNvPr id="159" name="Google Shape;159;p18"/>
          <p:cNvSpPr/>
          <p:nvPr/>
        </p:nvSpPr>
        <p:spPr>
          <a:xfrm>
            <a:off x="371550" y="2652400"/>
            <a:ext cx="35718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062B49"/>
                </a:solidFill>
              </a:rPr>
              <a:t>EVENT PATH</a:t>
            </a:r>
            <a:endParaRPr>
              <a:solidFill>
                <a:srgbClr val="062B49"/>
              </a:solidFill>
            </a:endParaRPr>
          </a:p>
        </p:txBody>
      </p:sp>
      <p:sp>
        <p:nvSpPr>
          <p:cNvPr id="160" name="Google Shape;160;p18"/>
          <p:cNvSpPr/>
          <p:nvPr/>
        </p:nvSpPr>
        <p:spPr>
          <a:xfrm>
            <a:off x="286675" y="4500650"/>
            <a:ext cx="5651100" cy="515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500">
                <a:solidFill>
                  <a:srgbClr val="0A2E4F"/>
                </a:solidFill>
              </a:rPr>
              <a:t>Diagnostics follow a separate path from events and alerts.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164" name="Shape 164"/>
        <p:cNvGrpSpPr/>
        <p:nvPr/>
      </p:nvGrpSpPr>
      <p:grpSpPr>
        <a:xfrm>
          <a:off x="0" y="0"/>
          <a:ext cx="0" cy="0"/>
          <a:chOff x="0" y="0"/>
          <a:chExt cx="0" cy="0"/>
        </a:xfrm>
      </p:grpSpPr>
      <p:sp>
        <p:nvSpPr>
          <p:cNvPr id="165" name="Google Shape;165;p19"/>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chemeClr val="lt1"/>
                </a:solidFill>
                <a:latin typeface="Roboto ExtraBold"/>
                <a:ea typeface="Roboto ExtraBold"/>
                <a:cs typeface="Roboto ExtraBold"/>
                <a:sym typeface="Roboto ExtraBold"/>
              </a:rPr>
              <a:t>Binary Contract and Event Normalization</a:t>
            </a:r>
            <a:endParaRPr sz="2800">
              <a:solidFill>
                <a:schemeClr val="lt1"/>
              </a:solidFill>
              <a:latin typeface="Roboto ExtraBold"/>
              <a:ea typeface="Roboto ExtraBold"/>
              <a:cs typeface="Roboto ExtraBold"/>
              <a:sym typeface="Roboto ExtraBold"/>
            </a:endParaRPr>
          </a:p>
        </p:txBody>
      </p:sp>
      <p:sp>
        <p:nvSpPr>
          <p:cNvPr id="166" name="Google Shape;166;p19"/>
          <p:cNvSpPr/>
          <p:nvPr/>
        </p:nvSpPr>
        <p:spPr>
          <a:xfrm>
            <a:off x="2959400" y="710250"/>
            <a:ext cx="5772300" cy="801000"/>
          </a:xfrm>
          <a:prstGeom prst="rect">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Kernel</a:t>
            </a:r>
            <a:endParaRPr b="1" sz="1800">
              <a:solidFill>
                <a:schemeClr val="lt1"/>
              </a:solidFill>
            </a:endParaRPr>
          </a:p>
          <a:p>
            <a:pPr indent="0" lvl="0" marL="0" rtl="0" algn="ctr">
              <a:spcBef>
                <a:spcPts val="0"/>
              </a:spcBef>
              <a:spcAft>
                <a:spcPts val="0"/>
              </a:spcAft>
              <a:buNone/>
            </a:pPr>
            <a:r>
              <a:rPr b="1" lang="it" sz="1800">
                <a:solidFill>
                  <a:schemeClr val="lt1"/>
                </a:solidFill>
              </a:rPr>
              <a:t>[	event_context_t + argnum + </a:t>
            </a:r>
            <a:r>
              <a:rPr b="1" lang="it" sz="1800">
                <a:solidFill>
                  <a:schemeClr val="lt1"/>
                </a:solidFill>
              </a:rPr>
              <a:t>args buffer</a:t>
            </a:r>
            <a:r>
              <a:rPr b="1" lang="it" sz="1800">
                <a:solidFill>
                  <a:schemeClr val="lt1"/>
                </a:solidFill>
              </a:rPr>
              <a:t>	]</a:t>
            </a:r>
            <a:endParaRPr b="1" sz="1800">
              <a:solidFill>
                <a:schemeClr val="lt1"/>
              </a:solidFill>
            </a:endParaRPr>
          </a:p>
        </p:txBody>
      </p:sp>
      <p:sp>
        <p:nvSpPr>
          <p:cNvPr id="167" name="Google Shape;167;p19"/>
          <p:cNvSpPr/>
          <p:nvPr/>
        </p:nvSpPr>
        <p:spPr>
          <a:xfrm>
            <a:off x="4025450" y="2199613"/>
            <a:ext cx="3640200" cy="801000"/>
          </a:xfrm>
          <a:prstGeom prst="rect">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Shared C/Go Registry</a:t>
            </a:r>
            <a:endParaRPr b="1" sz="1800">
              <a:solidFill>
                <a:schemeClr val="lt1"/>
              </a:solidFill>
            </a:endParaRPr>
          </a:p>
        </p:txBody>
      </p:sp>
      <p:sp>
        <p:nvSpPr>
          <p:cNvPr id="168" name="Google Shape;168;p19"/>
          <p:cNvSpPr/>
          <p:nvPr/>
        </p:nvSpPr>
        <p:spPr>
          <a:xfrm>
            <a:off x="4025450" y="3688975"/>
            <a:ext cx="3640200" cy="1378800"/>
          </a:xfrm>
          <a:prstGeom prst="rect">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Userspace</a:t>
            </a:r>
            <a:endParaRPr b="1" sz="1800">
              <a:solidFill>
                <a:schemeClr val="lt1"/>
              </a:solidFill>
            </a:endParaRPr>
          </a:p>
          <a:p>
            <a:pPr indent="0" lvl="0" marL="0" rtl="0" algn="l">
              <a:spcBef>
                <a:spcPts val="0"/>
              </a:spcBef>
              <a:spcAft>
                <a:spcPts val="0"/>
              </a:spcAft>
              <a:buNone/>
            </a:pPr>
            <a:r>
              <a:rPr b="1" lang="it" sz="1800">
                <a:solidFill>
                  <a:schemeClr val="lt1"/>
                </a:solidFill>
              </a:rPr>
              <a:t>Event: 		security_file_open</a:t>
            </a:r>
            <a:endParaRPr b="1" sz="1800">
              <a:solidFill>
                <a:schemeClr val="lt1"/>
              </a:solidFill>
            </a:endParaRPr>
          </a:p>
          <a:p>
            <a:pPr indent="0" lvl="0" marL="0" rtl="0" algn="l">
              <a:spcBef>
                <a:spcPts val="0"/>
              </a:spcBef>
              <a:spcAft>
                <a:spcPts val="0"/>
              </a:spcAft>
              <a:buNone/>
            </a:pPr>
            <a:r>
              <a:rPr b="1" lang="it" sz="1800">
                <a:solidFill>
                  <a:schemeClr val="lt1"/>
                </a:solidFill>
              </a:rPr>
              <a:t>Path:		 /etc/shadow</a:t>
            </a:r>
            <a:endParaRPr b="1" sz="1800">
              <a:solidFill>
                <a:schemeClr val="lt1"/>
              </a:solidFill>
            </a:endParaRPr>
          </a:p>
          <a:p>
            <a:pPr indent="0" lvl="0" marL="0" rtl="0" algn="l">
              <a:spcBef>
                <a:spcPts val="0"/>
              </a:spcBef>
              <a:spcAft>
                <a:spcPts val="0"/>
              </a:spcAft>
              <a:buNone/>
            </a:pPr>
            <a:r>
              <a:rPr b="1" lang="it" sz="1800">
                <a:solidFill>
                  <a:schemeClr val="lt1"/>
                </a:solidFill>
              </a:rPr>
              <a:t>Flag:		 O_RDONLY</a:t>
            </a:r>
            <a:endParaRPr b="1" sz="1800">
              <a:solidFill>
                <a:schemeClr val="lt1"/>
              </a:solidFill>
            </a:endParaRPr>
          </a:p>
        </p:txBody>
      </p:sp>
      <p:sp>
        <p:nvSpPr>
          <p:cNvPr id="169" name="Google Shape;169;p19"/>
          <p:cNvSpPr/>
          <p:nvPr/>
        </p:nvSpPr>
        <p:spPr>
          <a:xfrm rot="10800000">
            <a:off x="5688350" y="1566238"/>
            <a:ext cx="423000" cy="578400"/>
          </a:xfrm>
          <a:prstGeom prst="upArrow">
            <a:avLst>
              <a:gd fmla="val 50000" name="adj1"/>
              <a:gd fmla="val 50000" name="adj2"/>
            </a:avLst>
          </a:prstGeom>
          <a:solidFill>
            <a:srgbClr val="1155CC"/>
          </a:solidFill>
          <a:ln cap="flat" cmpd="sng" w="9525">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9"/>
          <p:cNvSpPr/>
          <p:nvPr/>
        </p:nvSpPr>
        <p:spPr>
          <a:xfrm rot="10800000">
            <a:off x="5688350" y="3055588"/>
            <a:ext cx="423000" cy="578400"/>
          </a:xfrm>
          <a:prstGeom prst="upArrow">
            <a:avLst>
              <a:gd fmla="val 50000" name="adj1"/>
              <a:gd fmla="val 50000" name="adj2"/>
            </a:avLst>
          </a:prstGeom>
          <a:solidFill>
            <a:srgbClr val="1155CC"/>
          </a:solidFill>
          <a:ln cap="flat" cmpd="sng" w="9525">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19"/>
          <p:cNvSpPr txBox="1"/>
          <p:nvPr/>
        </p:nvSpPr>
        <p:spPr>
          <a:xfrm>
            <a:off x="6111350" y="1592800"/>
            <a:ext cx="26724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6D9EEB"/>
                </a:solidFill>
              </a:rPr>
              <a:t>From binary records</a:t>
            </a:r>
            <a:endParaRPr>
              <a:solidFill>
                <a:schemeClr val="lt1"/>
              </a:solidFill>
            </a:endParaRPr>
          </a:p>
        </p:txBody>
      </p:sp>
      <p:sp>
        <p:nvSpPr>
          <p:cNvPr id="172" name="Google Shape;172;p19"/>
          <p:cNvSpPr txBox="1"/>
          <p:nvPr/>
        </p:nvSpPr>
        <p:spPr>
          <a:xfrm>
            <a:off x="6111350" y="3082150"/>
            <a:ext cx="26724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6D9EEB"/>
                </a:solidFill>
              </a:rPr>
              <a:t>to typed, indexed arguments</a:t>
            </a:r>
            <a:endParaRPr>
              <a:solidFill>
                <a:schemeClr val="lt1"/>
              </a:solidFill>
            </a:endParaRPr>
          </a:p>
        </p:txBody>
      </p:sp>
      <p:sp>
        <p:nvSpPr>
          <p:cNvPr id="173" name="Google Shape;173;p19"/>
          <p:cNvSpPr txBox="1"/>
          <p:nvPr/>
        </p:nvSpPr>
        <p:spPr>
          <a:xfrm>
            <a:off x="294450" y="1592800"/>
            <a:ext cx="3572700" cy="3125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6D9EEB"/>
              </a:buClr>
              <a:buSzPts val="1800"/>
              <a:buChar char="●"/>
            </a:pPr>
            <a:r>
              <a:rPr b="1" lang="it" sz="1800">
                <a:solidFill>
                  <a:srgbClr val="6D9EEB"/>
                </a:solidFill>
              </a:rPr>
              <a:t>Binary contract:</a:t>
            </a:r>
            <a:r>
              <a:rPr lang="it" sz="1800">
                <a:solidFill>
                  <a:srgbClr val="6D9EEB"/>
                </a:solidFill>
              </a:rPr>
              <a:t> </a:t>
            </a:r>
            <a:r>
              <a:rPr lang="it" sz="1800">
                <a:solidFill>
                  <a:schemeClr val="lt1"/>
                </a:solidFill>
              </a:rPr>
              <a:t>Shared context, indexed arguments, and synchronized C/Go registries.</a:t>
            </a:r>
            <a:endParaRPr sz="1800">
              <a:solidFill>
                <a:schemeClr val="lt1"/>
              </a:solidFill>
            </a:endParaRPr>
          </a:p>
          <a:p>
            <a:pPr indent="-342900" lvl="0" marL="457200" rtl="0" algn="l">
              <a:spcBef>
                <a:spcPts val="0"/>
              </a:spcBef>
              <a:spcAft>
                <a:spcPts val="0"/>
              </a:spcAft>
              <a:buClr>
                <a:srgbClr val="6D9EEB"/>
              </a:buClr>
              <a:buSzPts val="1800"/>
              <a:buChar char="●"/>
            </a:pPr>
            <a:r>
              <a:rPr b="1" lang="it" sz="1800">
                <a:solidFill>
                  <a:srgbClr val="6D9EEB"/>
                </a:solidFill>
              </a:rPr>
              <a:t>Unique mapping</a:t>
            </a:r>
            <a:r>
              <a:rPr b="1" lang="it" sz="1800">
                <a:solidFill>
                  <a:srgbClr val="6D9EEB"/>
                </a:solidFill>
              </a:rPr>
              <a:t>:</a:t>
            </a:r>
            <a:r>
              <a:rPr lang="it" sz="1800">
                <a:solidFill>
                  <a:srgbClr val="6D9EEB"/>
                </a:solidFill>
              </a:rPr>
              <a:t> </a:t>
            </a:r>
            <a:r>
              <a:rPr lang="it" sz="1800">
                <a:solidFill>
                  <a:schemeClr val="lt1"/>
                </a:solidFill>
              </a:rPr>
              <a:t>eBPF event ID, event name, and decoding schema.</a:t>
            </a:r>
            <a:endParaRPr sz="1800">
              <a:solidFill>
                <a:schemeClr val="lt1"/>
              </a:solidFill>
            </a:endParaRPr>
          </a:p>
          <a:p>
            <a:pPr indent="-342900" lvl="0" marL="457200" rtl="0" algn="l">
              <a:spcBef>
                <a:spcPts val="0"/>
              </a:spcBef>
              <a:spcAft>
                <a:spcPts val="0"/>
              </a:spcAft>
              <a:buClr>
                <a:srgbClr val="6D9EEB"/>
              </a:buClr>
              <a:buSzPts val="1800"/>
              <a:buChar char="●"/>
            </a:pPr>
            <a:r>
              <a:rPr b="1" lang="it" sz="1800">
                <a:solidFill>
                  <a:srgbClr val="6D9EEB"/>
                </a:solidFill>
              </a:rPr>
              <a:t>Enrichment</a:t>
            </a:r>
            <a:r>
              <a:rPr b="1" lang="it" sz="1800">
                <a:solidFill>
                  <a:srgbClr val="6D9EEB"/>
                </a:solidFill>
              </a:rPr>
              <a:t>: </a:t>
            </a:r>
            <a:r>
              <a:rPr lang="it" sz="1800">
                <a:solidFill>
                  <a:schemeClr val="lt1"/>
                </a:solidFill>
              </a:rPr>
              <a:t>Userspace normalization of capabilities, flags, bitmasks, and errno values.</a:t>
            </a:r>
            <a:endParaRPr sz="1800">
              <a:solidFill>
                <a:schemeClr val="lt1"/>
              </a:solidFill>
            </a:endParaRPr>
          </a:p>
        </p:txBody>
      </p:sp>
      <p:sp>
        <p:nvSpPr>
          <p:cNvPr id="174" name="Google Shape;17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20"/>
          <p:cNvSpPr/>
          <p:nvPr/>
        </p:nvSpPr>
        <p:spPr>
          <a:xfrm>
            <a:off x="3537150" y="886200"/>
            <a:ext cx="2069700" cy="886200"/>
          </a:xfrm>
          <a:prstGeom prst="flowChartAlternateProcess">
            <a:avLst/>
          </a:prstGeom>
          <a:solidFill>
            <a:srgbClr val="1155CC"/>
          </a:solidFill>
          <a:ln cap="flat" cmpd="sng" w="38100">
            <a:solidFill>
              <a:srgbClr val="60B2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rgbClr val="FFFFFF"/>
                </a:solidFill>
                <a:latin typeface="Arial"/>
                <a:ea typeface="Arial"/>
                <a:cs typeface="Arial"/>
                <a:sym typeface="Arial"/>
              </a:rPr>
              <a:t>Detector YAML </a:t>
            </a:r>
            <a:r>
              <a:rPr b="1" i="0" lang="it" sz="1200" u="none" cap="none" strike="noStrike">
                <a:solidFill>
                  <a:srgbClr val="FFFFFF"/>
                </a:solidFill>
                <a:latin typeface="Arial"/>
                <a:ea typeface="Arial"/>
                <a:cs typeface="Arial"/>
                <a:sym typeface="Arial"/>
              </a:rPr>
              <a:t>Evaluates Threat Conditions</a:t>
            </a:r>
            <a:endParaRPr b="1" i="0" sz="800" u="none" cap="none" strike="noStrike">
              <a:solidFill>
                <a:srgbClr val="FFFFFF"/>
              </a:solidFill>
              <a:latin typeface="Arial"/>
              <a:ea typeface="Arial"/>
              <a:cs typeface="Arial"/>
              <a:sym typeface="Arial"/>
            </a:endParaRPr>
          </a:p>
        </p:txBody>
      </p:sp>
      <p:sp>
        <p:nvSpPr>
          <p:cNvPr id="180" name="Google Shape;180;p20"/>
          <p:cNvSpPr txBox="1"/>
          <p:nvPr/>
        </p:nvSpPr>
        <p:spPr>
          <a:xfrm>
            <a:off x="0" y="0"/>
            <a:ext cx="9144000" cy="8862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rgbClr val="000000"/>
              </a:buClr>
              <a:buSzPts val="2700"/>
              <a:buFont typeface="Arial"/>
              <a:buNone/>
            </a:pPr>
            <a:r>
              <a:rPr b="0" i="0" lang="it" sz="2700" u="none" cap="none" strike="noStrike">
                <a:solidFill>
                  <a:srgbClr val="073763"/>
                </a:solidFill>
                <a:latin typeface="Roboto ExtraBold"/>
                <a:ea typeface="Roboto ExtraBold"/>
                <a:cs typeface="Roboto ExtraBold"/>
                <a:sym typeface="Roboto ExtraBold"/>
              </a:rPr>
              <a:t>Policy and Detection Layer (YAML)</a:t>
            </a:r>
            <a:endParaRPr b="0" i="0" sz="2400" u="none" cap="none" strike="noStrike">
              <a:solidFill>
                <a:srgbClr val="073763"/>
              </a:solidFill>
              <a:latin typeface="Roboto ExtraBold"/>
              <a:ea typeface="Roboto ExtraBold"/>
              <a:cs typeface="Roboto ExtraBold"/>
              <a:sym typeface="Roboto ExtraBold"/>
            </a:endParaRPr>
          </a:p>
        </p:txBody>
      </p:sp>
      <p:sp>
        <p:nvSpPr>
          <p:cNvPr id="181" name="Google Shape;181;p20"/>
          <p:cNvSpPr/>
          <p:nvPr/>
        </p:nvSpPr>
        <p:spPr>
          <a:xfrm>
            <a:off x="0" y="2688650"/>
            <a:ext cx="9144000" cy="2454900"/>
          </a:xfrm>
          <a:prstGeom prst="rect">
            <a:avLst/>
          </a:prstGeom>
          <a:solidFill>
            <a:srgbClr val="042543"/>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114300" marR="0" rtl="0" algn="l">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2" name="Google Shape;18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83" name="Google Shape;183;p20"/>
          <p:cNvSpPr/>
          <p:nvPr/>
        </p:nvSpPr>
        <p:spPr>
          <a:xfrm>
            <a:off x="189100" y="886200"/>
            <a:ext cx="2069700" cy="886200"/>
          </a:xfrm>
          <a:prstGeom prst="flowChartAlternateProcess">
            <a:avLst/>
          </a:prstGeom>
          <a:solidFill>
            <a:srgbClr val="1155CC"/>
          </a:solidFill>
          <a:ln cap="flat" cmpd="sng" w="38100">
            <a:solidFill>
              <a:srgbClr val="60B2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rgbClr val="FFFFFF"/>
                </a:solidFill>
                <a:latin typeface="Arial"/>
                <a:ea typeface="Arial"/>
                <a:cs typeface="Arial"/>
                <a:sym typeface="Arial"/>
              </a:rPr>
              <a:t>Policy YAML </a:t>
            </a:r>
            <a:r>
              <a:rPr b="1" i="0" lang="it" sz="1200" u="none" cap="none" strike="noStrike">
                <a:solidFill>
                  <a:srgbClr val="FFFFFF"/>
                </a:solidFill>
                <a:latin typeface="Arial"/>
                <a:ea typeface="Arial"/>
                <a:cs typeface="Arial"/>
                <a:sym typeface="Arial"/>
              </a:rPr>
              <a:t>Selects What to Observe</a:t>
            </a:r>
            <a:endParaRPr b="1" i="0" sz="800" u="none" cap="none" strike="noStrike">
              <a:solidFill>
                <a:srgbClr val="FFFFFF"/>
              </a:solidFill>
              <a:latin typeface="Arial"/>
              <a:ea typeface="Arial"/>
              <a:cs typeface="Arial"/>
              <a:sym typeface="Arial"/>
            </a:endParaRPr>
          </a:p>
        </p:txBody>
      </p:sp>
      <p:sp>
        <p:nvSpPr>
          <p:cNvPr id="184" name="Google Shape;184;p20"/>
          <p:cNvSpPr/>
          <p:nvPr/>
        </p:nvSpPr>
        <p:spPr>
          <a:xfrm>
            <a:off x="6885200" y="886200"/>
            <a:ext cx="2069700" cy="886200"/>
          </a:xfrm>
          <a:prstGeom prst="flowChartAlternateProcess">
            <a:avLst/>
          </a:prstGeom>
          <a:solidFill>
            <a:srgbClr val="1155CC"/>
          </a:solidFill>
          <a:ln cap="flat" cmpd="sng" w="38100">
            <a:solidFill>
              <a:srgbClr val="60B28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rgbClr val="FFFFFF"/>
                </a:solidFill>
                <a:latin typeface="Arial"/>
                <a:ea typeface="Arial"/>
                <a:cs typeface="Arial"/>
                <a:sym typeface="Arial"/>
              </a:rPr>
              <a:t>Alert Output</a:t>
            </a:r>
            <a:endParaRPr b="1" i="0" sz="16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it" sz="1200" u="none" cap="none" strike="noStrike">
                <a:solidFill>
                  <a:srgbClr val="FFFFFF"/>
                </a:solidFill>
                <a:latin typeface="Arial"/>
                <a:ea typeface="Arial"/>
                <a:cs typeface="Arial"/>
                <a:sym typeface="Arial"/>
              </a:rPr>
              <a:t>Detection Result</a:t>
            </a:r>
            <a:endParaRPr b="1" i="0" sz="1200" u="none" cap="none" strike="noStrike">
              <a:solidFill>
                <a:srgbClr val="FFFFFF"/>
              </a:solidFill>
              <a:latin typeface="Arial"/>
              <a:ea typeface="Arial"/>
              <a:cs typeface="Arial"/>
              <a:sym typeface="Arial"/>
            </a:endParaRPr>
          </a:p>
        </p:txBody>
      </p:sp>
      <p:sp>
        <p:nvSpPr>
          <p:cNvPr id="185" name="Google Shape;185;p20"/>
          <p:cNvSpPr txBox="1"/>
          <p:nvPr/>
        </p:nvSpPr>
        <p:spPr>
          <a:xfrm>
            <a:off x="3196350" y="2140250"/>
            <a:ext cx="2751300" cy="54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it" sz="1800" u="none" cap="none" strike="noStrike">
                <a:solidFill>
                  <a:schemeClr val="dk1"/>
                </a:solidFill>
                <a:latin typeface="Arial"/>
                <a:ea typeface="Arial"/>
                <a:cs typeface="Arial"/>
                <a:sym typeface="Arial"/>
              </a:rPr>
              <a:t>Normalized Event</a:t>
            </a:r>
            <a:endParaRPr b="0" i="0" sz="1800" u="none" cap="none" strike="noStrike">
              <a:solidFill>
                <a:schemeClr val="dk1"/>
              </a:solidFill>
              <a:latin typeface="Arial"/>
              <a:ea typeface="Arial"/>
              <a:cs typeface="Arial"/>
              <a:sym typeface="Arial"/>
            </a:endParaRPr>
          </a:p>
        </p:txBody>
      </p:sp>
      <p:cxnSp>
        <p:nvCxnSpPr>
          <p:cNvPr id="186" name="Google Shape;186;p20"/>
          <p:cNvCxnSpPr>
            <a:stCxn id="183" idx="3"/>
            <a:endCxn id="179" idx="1"/>
          </p:cNvCxnSpPr>
          <p:nvPr/>
        </p:nvCxnSpPr>
        <p:spPr>
          <a:xfrm>
            <a:off x="2258800" y="1329300"/>
            <a:ext cx="1278300" cy="0"/>
          </a:xfrm>
          <a:prstGeom prst="straightConnector1">
            <a:avLst/>
          </a:prstGeom>
          <a:noFill/>
          <a:ln cap="flat" cmpd="sng" w="19050">
            <a:solidFill>
              <a:srgbClr val="6FA8DC"/>
            </a:solidFill>
            <a:prstDash val="solid"/>
            <a:round/>
            <a:headEnd len="sm" w="sm" type="none"/>
            <a:tailEnd len="med" w="med" type="triangle"/>
          </a:ln>
        </p:spPr>
      </p:cxnSp>
      <p:cxnSp>
        <p:nvCxnSpPr>
          <p:cNvPr id="187" name="Google Shape;187;p20"/>
          <p:cNvCxnSpPr>
            <a:stCxn id="184" idx="1"/>
            <a:endCxn id="179" idx="3"/>
          </p:cNvCxnSpPr>
          <p:nvPr/>
        </p:nvCxnSpPr>
        <p:spPr>
          <a:xfrm rot="10800000">
            <a:off x="5606900" y="1329300"/>
            <a:ext cx="1278300" cy="0"/>
          </a:xfrm>
          <a:prstGeom prst="straightConnector1">
            <a:avLst/>
          </a:prstGeom>
          <a:noFill/>
          <a:ln cap="flat" cmpd="sng" w="19050">
            <a:solidFill>
              <a:srgbClr val="6FA8DC"/>
            </a:solidFill>
            <a:prstDash val="solid"/>
            <a:round/>
            <a:headEnd len="sm" w="sm" type="none"/>
            <a:tailEnd len="med" w="med" type="triangle"/>
          </a:ln>
        </p:spPr>
      </p:cxnSp>
      <p:cxnSp>
        <p:nvCxnSpPr>
          <p:cNvPr id="188" name="Google Shape;188;p20"/>
          <p:cNvCxnSpPr>
            <a:stCxn id="185" idx="0"/>
            <a:endCxn id="179" idx="2"/>
          </p:cNvCxnSpPr>
          <p:nvPr/>
        </p:nvCxnSpPr>
        <p:spPr>
          <a:xfrm rot="10800000">
            <a:off x="4572000" y="1772450"/>
            <a:ext cx="0" cy="367800"/>
          </a:xfrm>
          <a:prstGeom prst="straightConnector1">
            <a:avLst/>
          </a:prstGeom>
          <a:noFill/>
          <a:ln cap="flat" cmpd="sng" w="19050">
            <a:solidFill>
              <a:srgbClr val="6FA8DC"/>
            </a:solidFill>
            <a:prstDash val="solid"/>
            <a:round/>
            <a:headEnd len="sm" w="sm" type="none"/>
            <a:tailEnd len="med" w="med" type="triangle"/>
          </a:ln>
        </p:spPr>
      </p:cxnSp>
      <p:sp>
        <p:nvSpPr>
          <p:cNvPr id="189" name="Google Shape;189;p20"/>
          <p:cNvSpPr txBox="1"/>
          <p:nvPr/>
        </p:nvSpPr>
        <p:spPr>
          <a:xfrm>
            <a:off x="2103700" y="1006775"/>
            <a:ext cx="1588500" cy="54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it" sz="1100" u="none" cap="none" strike="noStrike">
                <a:solidFill>
                  <a:schemeClr val="dk1"/>
                </a:solidFill>
                <a:latin typeface="Arial"/>
                <a:ea typeface="Arial"/>
                <a:cs typeface="Arial"/>
                <a:sym typeface="Arial"/>
              </a:rPr>
              <a:t>Selected Events</a:t>
            </a:r>
            <a:endParaRPr b="0" i="0" sz="1100" u="none" cap="none" strike="noStrike">
              <a:solidFill>
                <a:schemeClr val="dk1"/>
              </a:solidFill>
              <a:latin typeface="Arial"/>
              <a:ea typeface="Arial"/>
              <a:cs typeface="Arial"/>
              <a:sym typeface="Arial"/>
            </a:endParaRPr>
          </a:p>
        </p:txBody>
      </p:sp>
      <p:sp>
        <p:nvSpPr>
          <p:cNvPr id="190" name="Google Shape;190;p20"/>
          <p:cNvSpPr/>
          <p:nvPr/>
        </p:nvSpPr>
        <p:spPr>
          <a:xfrm>
            <a:off x="154700" y="3769150"/>
            <a:ext cx="2647500" cy="8010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chemeClr val="dk1"/>
                </a:solidFill>
                <a:latin typeface="Arial"/>
                <a:ea typeface="Arial"/>
                <a:cs typeface="Arial"/>
                <a:sym typeface="Arial"/>
              </a:rPr>
              <a:t>security_task_fix_setuid</a:t>
            </a:r>
            <a:endParaRPr b="1"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chemeClr val="dk1"/>
                </a:solidFill>
                <a:latin typeface="Arial"/>
                <a:ea typeface="Arial"/>
                <a:cs typeface="Arial"/>
                <a:sym typeface="Arial"/>
              </a:rPr>
              <a:t>(new_euid=0)</a:t>
            </a:r>
            <a:endParaRPr b="1" i="0" sz="1600" u="none" cap="none" strike="noStrike">
              <a:solidFill>
                <a:schemeClr val="dk1"/>
              </a:solidFill>
              <a:latin typeface="Arial"/>
              <a:ea typeface="Arial"/>
              <a:cs typeface="Arial"/>
              <a:sym typeface="Arial"/>
            </a:endParaRPr>
          </a:p>
        </p:txBody>
      </p:sp>
      <p:sp>
        <p:nvSpPr>
          <p:cNvPr id="191" name="Google Shape;191;p20"/>
          <p:cNvSpPr/>
          <p:nvPr/>
        </p:nvSpPr>
        <p:spPr>
          <a:xfrm>
            <a:off x="3248250" y="3769150"/>
            <a:ext cx="2647500" cy="801000"/>
          </a:xfrm>
          <a:prstGeom prst="rect">
            <a:avLst/>
          </a:prstGeom>
          <a:solidFill>
            <a:schemeClr val="lt1"/>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chemeClr val="dk1"/>
                </a:solidFill>
                <a:latin typeface="Arial"/>
                <a:ea typeface="Arial"/>
                <a:cs typeface="Arial"/>
                <a:sym typeface="Arial"/>
              </a:rPr>
              <a:t>sched_process_exec</a:t>
            </a:r>
            <a:endParaRPr b="1"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chemeClr val="dk1"/>
                </a:solidFill>
                <a:latin typeface="Arial"/>
                <a:ea typeface="Arial"/>
                <a:cs typeface="Arial"/>
                <a:sym typeface="Arial"/>
              </a:rPr>
              <a:t>(uid=0)</a:t>
            </a:r>
            <a:endParaRPr b="1" i="0" sz="1600" u="none" cap="none" strike="noStrike">
              <a:solidFill>
                <a:schemeClr val="dk1"/>
              </a:solidFill>
              <a:latin typeface="Arial"/>
              <a:ea typeface="Arial"/>
              <a:cs typeface="Arial"/>
              <a:sym typeface="Arial"/>
            </a:endParaRPr>
          </a:p>
        </p:txBody>
      </p:sp>
      <p:sp>
        <p:nvSpPr>
          <p:cNvPr id="192" name="Google Shape;192;p20"/>
          <p:cNvSpPr/>
          <p:nvPr/>
        </p:nvSpPr>
        <p:spPr>
          <a:xfrm>
            <a:off x="6341800" y="3769150"/>
            <a:ext cx="2647500" cy="801000"/>
          </a:xfrm>
          <a:prstGeom prst="rect">
            <a:avLst/>
          </a:prstGeom>
          <a:solidFill>
            <a:srgbClr val="E06666"/>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chemeClr val="dk1"/>
                </a:solidFill>
                <a:latin typeface="Arial"/>
                <a:ea typeface="Arial"/>
                <a:cs typeface="Arial"/>
                <a:sym typeface="Arial"/>
              </a:rPr>
              <a:t>Alert: Privilege Escalation</a:t>
            </a:r>
            <a:endParaRPr b="1" i="0" sz="16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it" sz="1600" u="none" cap="none" strike="noStrike">
                <a:solidFill>
                  <a:schemeClr val="dk1"/>
                </a:solidFill>
                <a:latin typeface="Arial"/>
                <a:ea typeface="Arial"/>
                <a:cs typeface="Arial"/>
                <a:sym typeface="Arial"/>
              </a:rPr>
              <a:t>[MITRE: TA0004]</a:t>
            </a:r>
            <a:endParaRPr b="1" i="0" sz="1600" u="none" cap="none" strike="noStrike">
              <a:solidFill>
                <a:schemeClr val="dk1"/>
              </a:solidFill>
              <a:latin typeface="Arial"/>
              <a:ea typeface="Arial"/>
              <a:cs typeface="Arial"/>
              <a:sym typeface="Arial"/>
            </a:endParaRPr>
          </a:p>
        </p:txBody>
      </p:sp>
      <p:cxnSp>
        <p:nvCxnSpPr>
          <p:cNvPr id="193" name="Google Shape;193;p20"/>
          <p:cNvCxnSpPr/>
          <p:nvPr/>
        </p:nvCxnSpPr>
        <p:spPr>
          <a:xfrm>
            <a:off x="2802200" y="4169650"/>
            <a:ext cx="456600"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40"/>
              </a:srgbClr>
            </a:outerShdw>
          </a:effectLst>
        </p:spPr>
      </p:cxnSp>
      <p:cxnSp>
        <p:nvCxnSpPr>
          <p:cNvPr id="194" name="Google Shape;194;p20"/>
          <p:cNvCxnSpPr/>
          <p:nvPr/>
        </p:nvCxnSpPr>
        <p:spPr>
          <a:xfrm>
            <a:off x="5895750" y="4169650"/>
            <a:ext cx="456600" cy="0"/>
          </a:xfrm>
          <a:prstGeom prst="straightConnector1">
            <a:avLst/>
          </a:prstGeom>
          <a:noFill/>
          <a:ln cap="flat" cmpd="sng" w="25400">
            <a:solidFill>
              <a:schemeClr val="accent1"/>
            </a:solidFill>
            <a:prstDash val="solid"/>
            <a:round/>
            <a:headEnd len="sm" w="sm" type="none"/>
            <a:tailEnd len="med" w="med" type="triangle"/>
          </a:ln>
          <a:effectLst>
            <a:outerShdw blurRad="40000" rotWithShape="0" dir="5400000" dist="20000">
              <a:srgbClr val="000000">
                <a:alpha val="38040"/>
              </a:srgbClr>
            </a:outerShdw>
          </a:effectLst>
        </p:spPr>
      </p:cxnSp>
      <p:sp>
        <p:nvSpPr>
          <p:cNvPr id="195" name="Google Shape;195;p20"/>
          <p:cNvSpPr txBox="1"/>
          <p:nvPr/>
        </p:nvSpPr>
        <p:spPr>
          <a:xfrm>
            <a:off x="1860200" y="2921950"/>
            <a:ext cx="2340600" cy="439800"/>
          </a:xfrm>
          <a:prstGeom prst="rect">
            <a:avLst/>
          </a:prstGeom>
          <a:solidFill>
            <a:srgbClr val="ED7D3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it" sz="1800" u="none" cap="none" strike="noStrike">
                <a:solidFill>
                  <a:schemeClr val="dk1"/>
                </a:solidFill>
                <a:latin typeface="Arial"/>
                <a:ea typeface="Arial"/>
                <a:cs typeface="Arial"/>
                <a:sym typeface="Arial"/>
              </a:rPr>
              <a:t>[Within t seconds]</a:t>
            </a:r>
            <a:endParaRPr b="1" i="0" sz="1800" u="none" cap="none" strike="noStrike">
              <a:solidFill>
                <a:schemeClr val="dk1"/>
              </a:solidFill>
              <a:latin typeface="Arial"/>
              <a:ea typeface="Arial"/>
              <a:cs typeface="Arial"/>
              <a:sym typeface="Arial"/>
            </a:endParaRPr>
          </a:p>
        </p:txBody>
      </p:sp>
      <p:cxnSp>
        <p:nvCxnSpPr>
          <p:cNvPr id="196" name="Google Shape;196;p20"/>
          <p:cNvCxnSpPr>
            <a:stCxn id="195" idx="2"/>
          </p:cNvCxnSpPr>
          <p:nvPr/>
        </p:nvCxnSpPr>
        <p:spPr>
          <a:xfrm flipH="1" rot="-5400000">
            <a:off x="3597650" y="2794600"/>
            <a:ext cx="407400" cy="1541700"/>
          </a:xfrm>
          <a:prstGeom prst="curvedConnector2">
            <a:avLst/>
          </a:prstGeom>
          <a:noFill/>
          <a:ln cap="flat" cmpd="sng" w="38100">
            <a:solidFill>
              <a:srgbClr val="60B28E"/>
            </a:solidFill>
            <a:prstDash val="solid"/>
            <a:round/>
            <a:headEnd len="med" w="med" type="stealth"/>
            <a:tailEnd len="sm" w="sm" type="none"/>
          </a:ln>
        </p:spPr>
      </p:cxnSp>
      <p:cxnSp>
        <p:nvCxnSpPr>
          <p:cNvPr id="197" name="Google Shape;197;p20"/>
          <p:cNvCxnSpPr>
            <a:stCxn id="195" idx="2"/>
          </p:cNvCxnSpPr>
          <p:nvPr/>
        </p:nvCxnSpPr>
        <p:spPr>
          <a:xfrm rot="5400000">
            <a:off x="2050850" y="2789500"/>
            <a:ext cx="407400" cy="1551900"/>
          </a:xfrm>
          <a:prstGeom prst="curvedConnector2">
            <a:avLst/>
          </a:prstGeom>
          <a:noFill/>
          <a:ln cap="flat" cmpd="sng" w="38100">
            <a:solidFill>
              <a:srgbClr val="60B28E"/>
            </a:solidFill>
            <a:prstDash val="solid"/>
            <a:round/>
            <a:headEnd len="med" w="med" type="stealth"/>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201" name="Shape 201"/>
        <p:cNvGrpSpPr/>
        <p:nvPr/>
      </p:nvGrpSpPr>
      <p:grpSpPr>
        <a:xfrm>
          <a:off x="0" y="0"/>
          <a:ext cx="0" cy="0"/>
          <a:chOff x="0" y="0"/>
          <a:chExt cx="0" cy="0"/>
        </a:xfrm>
      </p:grpSpPr>
      <p:sp>
        <p:nvSpPr>
          <p:cNvPr id="202" name="Google Shape;202;p21"/>
          <p:cNvSpPr txBox="1"/>
          <p:nvPr/>
        </p:nvSpPr>
        <p:spPr>
          <a:xfrm>
            <a:off x="0" y="0"/>
            <a:ext cx="9144000" cy="8862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it" sz="2700">
                <a:solidFill>
                  <a:schemeClr val="lt1"/>
                </a:solidFill>
                <a:latin typeface="Roboto ExtraBold"/>
                <a:ea typeface="Roboto ExtraBold"/>
                <a:cs typeface="Roboto ExtraBold"/>
                <a:sym typeface="Roboto ExtraBold"/>
              </a:rPr>
              <a:t>Configuration, Logging, and Output Routing</a:t>
            </a:r>
            <a:endParaRPr sz="2400">
              <a:solidFill>
                <a:schemeClr val="lt1"/>
              </a:solidFill>
              <a:latin typeface="Roboto ExtraBold"/>
              <a:ea typeface="Roboto ExtraBold"/>
              <a:cs typeface="Roboto ExtraBold"/>
              <a:sym typeface="Roboto ExtraBold"/>
            </a:endParaRPr>
          </a:p>
        </p:txBody>
      </p:sp>
      <p:sp>
        <p:nvSpPr>
          <p:cNvPr id="203" name="Google Shape;203;p21"/>
          <p:cNvSpPr txBox="1"/>
          <p:nvPr/>
        </p:nvSpPr>
        <p:spPr>
          <a:xfrm>
            <a:off x="181000" y="886200"/>
            <a:ext cx="8640600" cy="1836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6D9EEB"/>
              </a:buClr>
              <a:buSzPts val="1800"/>
              <a:buChar char="●"/>
            </a:pPr>
            <a:r>
              <a:rPr b="1" lang="it" sz="1800">
                <a:solidFill>
                  <a:srgbClr val="6D9EEB"/>
                </a:solidFill>
              </a:rPr>
              <a:t>Clear separation</a:t>
            </a:r>
            <a:r>
              <a:rPr b="1" lang="it" sz="1800">
                <a:solidFill>
                  <a:srgbClr val="6D9EEB"/>
                </a:solidFill>
              </a:rPr>
              <a:t>:</a:t>
            </a:r>
            <a:r>
              <a:rPr lang="it" sz="1800">
                <a:solidFill>
                  <a:srgbClr val="6D9EEB"/>
                </a:solidFill>
              </a:rPr>
              <a:t> </a:t>
            </a:r>
            <a:r>
              <a:rPr lang="it" sz="1800">
                <a:solidFill>
                  <a:schemeClr val="lt1"/>
                </a:solidFill>
              </a:rPr>
              <a:t>Zap handles runtime lifecycle logs, while dedicated printers format events and alerts.</a:t>
            </a:r>
            <a:endParaRPr sz="1800">
              <a:solidFill>
                <a:schemeClr val="lt1"/>
              </a:solidFill>
            </a:endParaRPr>
          </a:p>
          <a:p>
            <a:pPr indent="-342900" lvl="0" marL="457200" rtl="0" algn="l">
              <a:spcBef>
                <a:spcPts val="0"/>
              </a:spcBef>
              <a:spcAft>
                <a:spcPts val="0"/>
              </a:spcAft>
              <a:buClr>
                <a:srgbClr val="6D9EEB"/>
              </a:buClr>
              <a:buSzPts val="1800"/>
              <a:buChar char="●"/>
            </a:pPr>
            <a:r>
              <a:rPr b="1" lang="it" sz="1800">
                <a:solidFill>
                  <a:srgbClr val="6FA8DC"/>
                </a:solidFill>
              </a:rPr>
              <a:t>--alerts-only mode</a:t>
            </a:r>
            <a:r>
              <a:rPr b="1" lang="it" sz="1800">
                <a:solidFill>
                  <a:srgbClr val="6FA8DC"/>
                </a:solidFill>
              </a:rPr>
              <a:t>:</a:t>
            </a:r>
            <a:r>
              <a:rPr lang="it" sz="1800">
                <a:solidFill>
                  <a:srgbClr val="6FA8DC"/>
                </a:solidFill>
              </a:rPr>
              <a:t> </a:t>
            </a:r>
            <a:r>
              <a:rPr lang="it" sz="1800">
                <a:solidFill>
                  <a:schemeClr val="lt1"/>
                </a:solidFill>
              </a:rPr>
              <a:t>Hides raw terminal output while keeping events available to detectors</a:t>
            </a:r>
            <a:r>
              <a:rPr lang="it" sz="1800">
                <a:solidFill>
                  <a:schemeClr val="lt1"/>
                </a:solidFill>
              </a:rPr>
              <a:t>.</a:t>
            </a:r>
            <a:endParaRPr sz="1800">
              <a:solidFill>
                <a:schemeClr val="lt1"/>
              </a:solidFill>
            </a:endParaRPr>
          </a:p>
          <a:p>
            <a:pPr indent="-342900" lvl="0" marL="457200" rtl="0" algn="l">
              <a:spcBef>
                <a:spcPts val="0"/>
              </a:spcBef>
              <a:spcAft>
                <a:spcPts val="0"/>
              </a:spcAft>
              <a:buClr>
                <a:srgbClr val="6D9EEB"/>
              </a:buClr>
              <a:buSzPts val="1800"/>
              <a:buChar char="●"/>
            </a:pPr>
            <a:r>
              <a:rPr b="1" lang="it" sz="1800">
                <a:solidFill>
                  <a:srgbClr val="6FA8DC"/>
                </a:solidFill>
              </a:rPr>
              <a:t>Kubernetes readiness</a:t>
            </a:r>
            <a:r>
              <a:rPr b="1" lang="it" sz="1800">
                <a:solidFill>
                  <a:srgbClr val="6FA8DC"/>
                </a:solidFill>
              </a:rPr>
              <a:t>:</a:t>
            </a:r>
            <a:r>
              <a:rPr b="1" lang="it" sz="1800">
                <a:solidFill>
                  <a:schemeClr val="dk1"/>
                </a:solidFill>
              </a:rPr>
              <a:t> </a:t>
            </a:r>
            <a:r>
              <a:rPr lang="it" sz="1800">
                <a:solidFill>
                  <a:schemeClr val="lt1"/>
                </a:solidFill>
              </a:rPr>
              <a:t>Independent streams support containerized and centralized deployments.</a:t>
            </a:r>
            <a:endParaRPr sz="1800">
              <a:solidFill>
                <a:schemeClr val="lt1"/>
              </a:solidFill>
            </a:endParaRPr>
          </a:p>
        </p:txBody>
      </p:sp>
      <p:cxnSp>
        <p:nvCxnSpPr>
          <p:cNvPr id="204" name="Google Shape;204;p21"/>
          <p:cNvCxnSpPr/>
          <p:nvPr/>
        </p:nvCxnSpPr>
        <p:spPr>
          <a:xfrm flipH="1" rot="10800000">
            <a:off x="0" y="3422800"/>
            <a:ext cx="9162000" cy="7800"/>
          </a:xfrm>
          <a:prstGeom prst="straightConnector1">
            <a:avLst/>
          </a:prstGeom>
          <a:noFill/>
          <a:ln cap="flat" cmpd="sng" w="38100">
            <a:solidFill>
              <a:schemeClr val="lt1"/>
            </a:solidFill>
            <a:prstDash val="solid"/>
            <a:round/>
            <a:headEnd len="med" w="med" type="none"/>
            <a:tailEnd len="med" w="med" type="none"/>
          </a:ln>
        </p:spPr>
      </p:cxnSp>
      <p:cxnSp>
        <p:nvCxnSpPr>
          <p:cNvPr id="205" name="Google Shape;205;p21"/>
          <p:cNvCxnSpPr/>
          <p:nvPr/>
        </p:nvCxnSpPr>
        <p:spPr>
          <a:xfrm flipH="1" rot="10800000">
            <a:off x="-9000" y="4331600"/>
            <a:ext cx="9162000" cy="7800"/>
          </a:xfrm>
          <a:prstGeom prst="straightConnector1">
            <a:avLst/>
          </a:prstGeom>
          <a:noFill/>
          <a:ln cap="flat" cmpd="sng" w="38100">
            <a:solidFill>
              <a:schemeClr val="lt1"/>
            </a:solidFill>
            <a:prstDash val="solid"/>
            <a:round/>
            <a:headEnd len="med" w="med" type="none"/>
            <a:tailEnd len="med" w="med" type="none"/>
          </a:ln>
        </p:spPr>
      </p:cxnSp>
      <p:sp>
        <p:nvSpPr>
          <p:cNvPr id="206" name="Google Shape;206;p21"/>
          <p:cNvSpPr/>
          <p:nvPr/>
        </p:nvSpPr>
        <p:spPr>
          <a:xfrm>
            <a:off x="1474975" y="2723100"/>
            <a:ext cx="2184000" cy="6318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Runtime Lifecycle</a:t>
            </a:r>
            <a:endParaRPr b="1" sz="1600">
              <a:solidFill>
                <a:schemeClr val="lt1"/>
              </a:solidFill>
            </a:endParaRPr>
          </a:p>
        </p:txBody>
      </p:sp>
      <p:sp>
        <p:nvSpPr>
          <p:cNvPr id="207" name="Google Shape;207;p21"/>
          <p:cNvSpPr/>
          <p:nvPr/>
        </p:nvSpPr>
        <p:spPr>
          <a:xfrm>
            <a:off x="4170750" y="2723100"/>
            <a:ext cx="2184000" cy="631800"/>
          </a:xfrm>
          <a:prstGeom prst="rect">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Zap Logger</a:t>
            </a:r>
            <a:endParaRPr b="1" sz="1600">
              <a:solidFill>
                <a:schemeClr val="lt1"/>
              </a:solidFill>
            </a:endParaRPr>
          </a:p>
        </p:txBody>
      </p:sp>
      <p:sp>
        <p:nvSpPr>
          <p:cNvPr id="208" name="Google Shape;208;p21"/>
          <p:cNvSpPr/>
          <p:nvPr/>
        </p:nvSpPr>
        <p:spPr>
          <a:xfrm>
            <a:off x="6866525" y="2723100"/>
            <a:ext cx="2184000" cy="6318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stderr</a:t>
            </a:r>
            <a:endParaRPr b="1" sz="1600">
              <a:solidFill>
                <a:schemeClr val="lt1"/>
              </a:solidFill>
            </a:endParaRPr>
          </a:p>
          <a:p>
            <a:pPr indent="0" lvl="0" marL="0" rtl="0" algn="ctr">
              <a:spcBef>
                <a:spcPts val="0"/>
              </a:spcBef>
              <a:spcAft>
                <a:spcPts val="0"/>
              </a:spcAft>
              <a:buNone/>
            </a:pPr>
            <a:r>
              <a:rPr b="1" lang="it" sz="1600">
                <a:solidFill>
                  <a:schemeClr val="lt1"/>
                </a:solidFill>
              </a:rPr>
              <a:t>(Console/JSON)</a:t>
            </a:r>
            <a:endParaRPr b="1" sz="1600">
              <a:solidFill>
                <a:schemeClr val="lt1"/>
              </a:solidFill>
            </a:endParaRPr>
          </a:p>
        </p:txBody>
      </p:sp>
      <p:sp>
        <p:nvSpPr>
          <p:cNvPr id="209" name="Google Shape;209;p21"/>
          <p:cNvSpPr/>
          <p:nvPr/>
        </p:nvSpPr>
        <p:spPr>
          <a:xfrm>
            <a:off x="1474975" y="3603550"/>
            <a:ext cx="2184000" cy="6318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Normalized eBPF events</a:t>
            </a:r>
            <a:endParaRPr b="1" sz="1600">
              <a:solidFill>
                <a:schemeClr val="lt1"/>
              </a:solidFill>
            </a:endParaRPr>
          </a:p>
        </p:txBody>
      </p:sp>
      <p:sp>
        <p:nvSpPr>
          <p:cNvPr id="210" name="Google Shape;210;p21"/>
          <p:cNvSpPr/>
          <p:nvPr/>
        </p:nvSpPr>
        <p:spPr>
          <a:xfrm>
            <a:off x="4170750" y="3603550"/>
            <a:ext cx="2184000" cy="631800"/>
          </a:xfrm>
          <a:prstGeom prst="rect">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Event Printer</a:t>
            </a:r>
            <a:endParaRPr b="1" sz="1600">
              <a:solidFill>
                <a:schemeClr val="lt1"/>
              </a:solidFill>
            </a:endParaRPr>
          </a:p>
        </p:txBody>
      </p:sp>
      <p:sp>
        <p:nvSpPr>
          <p:cNvPr id="211" name="Google Shape;211;p21"/>
          <p:cNvSpPr/>
          <p:nvPr/>
        </p:nvSpPr>
        <p:spPr>
          <a:xfrm>
            <a:off x="6866525" y="3603550"/>
            <a:ext cx="2184000" cy="6318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s</a:t>
            </a:r>
            <a:r>
              <a:rPr b="1" lang="it" sz="1600">
                <a:solidFill>
                  <a:schemeClr val="lt1"/>
                </a:solidFill>
              </a:rPr>
              <a:t>tdout</a:t>
            </a:r>
            <a:endParaRPr b="1" sz="1600">
              <a:solidFill>
                <a:schemeClr val="lt1"/>
              </a:solidFill>
            </a:endParaRPr>
          </a:p>
          <a:p>
            <a:pPr indent="0" lvl="0" marL="0" rtl="0" algn="ctr">
              <a:spcBef>
                <a:spcPts val="0"/>
              </a:spcBef>
              <a:spcAft>
                <a:spcPts val="0"/>
              </a:spcAft>
              <a:buNone/>
            </a:pPr>
            <a:r>
              <a:rPr b="1" lang="it" sz="1600">
                <a:solidFill>
                  <a:schemeClr val="lt1"/>
                </a:solidFill>
              </a:rPr>
              <a:t>(Table/JSON)</a:t>
            </a:r>
            <a:endParaRPr b="1" sz="1600">
              <a:solidFill>
                <a:schemeClr val="lt1"/>
              </a:solidFill>
            </a:endParaRPr>
          </a:p>
        </p:txBody>
      </p:sp>
      <p:sp>
        <p:nvSpPr>
          <p:cNvPr id="212" name="Google Shape;212;p21"/>
          <p:cNvSpPr/>
          <p:nvPr/>
        </p:nvSpPr>
        <p:spPr>
          <a:xfrm>
            <a:off x="1474975" y="4408300"/>
            <a:ext cx="2184000" cy="6318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Detector Alerts</a:t>
            </a:r>
            <a:endParaRPr b="1" sz="1600">
              <a:solidFill>
                <a:schemeClr val="lt1"/>
              </a:solidFill>
            </a:endParaRPr>
          </a:p>
        </p:txBody>
      </p:sp>
      <p:sp>
        <p:nvSpPr>
          <p:cNvPr id="213" name="Google Shape;213;p21"/>
          <p:cNvSpPr/>
          <p:nvPr/>
        </p:nvSpPr>
        <p:spPr>
          <a:xfrm>
            <a:off x="4170750" y="4408300"/>
            <a:ext cx="2184000" cy="631800"/>
          </a:xfrm>
          <a:prstGeom prst="rect">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lt1"/>
                </a:solidFill>
              </a:rPr>
              <a:t>Alert Printer</a:t>
            </a:r>
            <a:endParaRPr b="1" sz="1600">
              <a:solidFill>
                <a:schemeClr val="lt1"/>
              </a:solidFill>
            </a:endParaRPr>
          </a:p>
        </p:txBody>
      </p:sp>
      <p:sp>
        <p:nvSpPr>
          <p:cNvPr id="214" name="Google Shape;214;p21"/>
          <p:cNvSpPr/>
          <p:nvPr/>
        </p:nvSpPr>
        <p:spPr>
          <a:xfrm>
            <a:off x="6866525" y="4408300"/>
            <a:ext cx="2184000" cy="631800"/>
          </a:xfrm>
          <a:prstGeom prst="roundRect">
            <a:avLst>
              <a:gd fmla="val 16667" name="adj"/>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it" sz="1600">
                <a:solidFill>
                  <a:schemeClr val="lt1"/>
                </a:solidFill>
              </a:rPr>
              <a:t>s</a:t>
            </a:r>
            <a:r>
              <a:rPr b="1" lang="it" sz="1600">
                <a:solidFill>
                  <a:schemeClr val="lt1"/>
                </a:solidFill>
              </a:rPr>
              <a:t>tdout</a:t>
            </a:r>
            <a:endParaRPr b="1" sz="1600">
              <a:solidFill>
                <a:schemeClr val="lt1"/>
              </a:solidFill>
            </a:endParaRPr>
          </a:p>
          <a:p>
            <a:pPr indent="0" lvl="0" marL="0" rtl="0" algn="ctr">
              <a:spcBef>
                <a:spcPts val="0"/>
              </a:spcBef>
              <a:spcAft>
                <a:spcPts val="0"/>
              </a:spcAft>
              <a:buNone/>
            </a:pPr>
            <a:r>
              <a:rPr b="1" lang="it" sz="1600">
                <a:solidFill>
                  <a:schemeClr val="lt1"/>
                </a:solidFill>
              </a:rPr>
              <a:t>(Table/JSON)</a:t>
            </a:r>
            <a:endParaRPr b="1" sz="1600">
              <a:solidFill>
                <a:schemeClr val="lt1"/>
              </a:solidFill>
            </a:endParaRPr>
          </a:p>
        </p:txBody>
      </p:sp>
      <p:cxnSp>
        <p:nvCxnSpPr>
          <p:cNvPr id="215" name="Google Shape;215;p21"/>
          <p:cNvCxnSpPr>
            <a:endCxn id="207" idx="1"/>
          </p:cNvCxnSpPr>
          <p:nvPr/>
        </p:nvCxnSpPr>
        <p:spPr>
          <a:xfrm flipH="1" rot="10800000">
            <a:off x="3668550" y="3039000"/>
            <a:ext cx="502200" cy="5400"/>
          </a:xfrm>
          <a:prstGeom prst="straightConnector1">
            <a:avLst/>
          </a:prstGeom>
          <a:noFill/>
          <a:ln cap="flat" cmpd="sng" w="38100">
            <a:solidFill>
              <a:srgbClr val="6D9EEB"/>
            </a:solidFill>
            <a:prstDash val="solid"/>
            <a:round/>
            <a:headEnd len="med" w="med" type="none"/>
            <a:tailEnd len="med" w="med" type="triangle"/>
          </a:ln>
        </p:spPr>
      </p:cxnSp>
      <p:cxnSp>
        <p:nvCxnSpPr>
          <p:cNvPr id="216" name="Google Shape;216;p21"/>
          <p:cNvCxnSpPr>
            <a:stCxn id="207" idx="3"/>
            <a:endCxn id="208" idx="1"/>
          </p:cNvCxnSpPr>
          <p:nvPr/>
        </p:nvCxnSpPr>
        <p:spPr>
          <a:xfrm>
            <a:off x="6354750" y="3039000"/>
            <a:ext cx="511800" cy="0"/>
          </a:xfrm>
          <a:prstGeom prst="straightConnector1">
            <a:avLst/>
          </a:prstGeom>
          <a:noFill/>
          <a:ln cap="flat" cmpd="sng" w="38100">
            <a:solidFill>
              <a:srgbClr val="6D9EEB"/>
            </a:solidFill>
            <a:prstDash val="solid"/>
            <a:round/>
            <a:headEnd len="med" w="med" type="none"/>
            <a:tailEnd len="med" w="med" type="triangle"/>
          </a:ln>
        </p:spPr>
      </p:cxnSp>
      <p:cxnSp>
        <p:nvCxnSpPr>
          <p:cNvPr id="217" name="Google Shape;217;p21"/>
          <p:cNvCxnSpPr>
            <a:stCxn id="209" idx="3"/>
            <a:endCxn id="210" idx="1"/>
          </p:cNvCxnSpPr>
          <p:nvPr/>
        </p:nvCxnSpPr>
        <p:spPr>
          <a:xfrm>
            <a:off x="3658975" y="3919450"/>
            <a:ext cx="511800" cy="0"/>
          </a:xfrm>
          <a:prstGeom prst="straightConnector1">
            <a:avLst/>
          </a:prstGeom>
          <a:noFill/>
          <a:ln cap="flat" cmpd="sng" w="38100">
            <a:solidFill>
              <a:srgbClr val="6D9EEB"/>
            </a:solidFill>
            <a:prstDash val="solid"/>
            <a:round/>
            <a:headEnd len="med" w="med" type="none"/>
            <a:tailEnd len="med" w="med" type="triangle"/>
          </a:ln>
        </p:spPr>
      </p:cxnSp>
      <p:cxnSp>
        <p:nvCxnSpPr>
          <p:cNvPr id="218" name="Google Shape;218;p21"/>
          <p:cNvCxnSpPr>
            <a:stCxn id="210" idx="3"/>
            <a:endCxn id="211" idx="1"/>
          </p:cNvCxnSpPr>
          <p:nvPr/>
        </p:nvCxnSpPr>
        <p:spPr>
          <a:xfrm>
            <a:off x="6354750" y="3919450"/>
            <a:ext cx="511800" cy="0"/>
          </a:xfrm>
          <a:prstGeom prst="straightConnector1">
            <a:avLst/>
          </a:prstGeom>
          <a:noFill/>
          <a:ln cap="flat" cmpd="sng" w="38100">
            <a:solidFill>
              <a:srgbClr val="6D9EEB"/>
            </a:solidFill>
            <a:prstDash val="solid"/>
            <a:round/>
            <a:headEnd len="med" w="med" type="none"/>
            <a:tailEnd len="med" w="med" type="triangle"/>
          </a:ln>
        </p:spPr>
      </p:cxnSp>
      <p:cxnSp>
        <p:nvCxnSpPr>
          <p:cNvPr id="219" name="Google Shape;219;p21"/>
          <p:cNvCxnSpPr>
            <a:stCxn id="212" idx="3"/>
            <a:endCxn id="213" idx="1"/>
          </p:cNvCxnSpPr>
          <p:nvPr/>
        </p:nvCxnSpPr>
        <p:spPr>
          <a:xfrm>
            <a:off x="3658975" y="4724200"/>
            <a:ext cx="511800" cy="0"/>
          </a:xfrm>
          <a:prstGeom prst="straightConnector1">
            <a:avLst/>
          </a:prstGeom>
          <a:noFill/>
          <a:ln cap="flat" cmpd="sng" w="38100">
            <a:solidFill>
              <a:srgbClr val="6D9EEB"/>
            </a:solidFill>
            <a:prstDash val="solid"/>
            <a:round/>
            <a:headEnd len="med" w="med" type="none"/>
            <a:tailEnd len="med" w="med" type="triangle"/>
          </a:ln>
        </p:spPr>
      </p:cxnSp>
      <p:cxnSp>
        <p:nvCxnSpPr>
          <p:cNvPr id="220" name="Google Shape;220;p21"/>
          <p:cNvCxnSpPr>
            <a:stCxn id="213" idx="3"/>
            <a:endCxn id="214" idx="1"/>
          </p:cNvCxnSpPr>
          <p:nvPr/>
        </p:nvCxnSpPr>
        <p:spPr>
          <a:xfrm>
            <a:off x="6354750" y="4724200"/>
            <a:ext cx="511800" cy="0"/>
          </a:xfrm>
          <a:prstGeom prst="straightConnector1">
            <a:avLst/>
          </a:prstGeom>
          <a:noFill/>
          <a:ln cap="flat" cmpd="sng" w="38100">
            <a:solidFill>
              <a:srgbClr val="6D9EEB"/>
            </a:solidFill>
            <a:prstDash val="solid"/>
            <a:round/>
            <a:headEnd len="med" w="med" type="none"/>
            <a:tailEnd len="med" w="med" type="triangle"/>
          </a:ln>
        </p:spPr>
      </p:cxnSp>
      <p:sp>
        <p:nvSpPr>
          <p:cNvPr id="221" name="Google Shape;221;p21"/>
          <p:cNvSpPr txBox="1"/>
          <p:nvPr/>
        </p:nvSpPr>
        <p:spPr>
          <a:xfrm>
            <a:off x="76100" y="2749700"/>
            <a:ext cx="1389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500">
                <a:solidFill>
                  <a:srgbClr val="FFD966"/>
                </a:solidFill>
              </a:rPr>
              <a:t>Runtime Diagnostics</a:t>
            </a:r>
            <a:endParaRPr b="1" sz="1500">
              <a:solidFill>
                <a:srgbClr val="FFD966"/>
              </a:solidFill>
            </a:endParaRPr>
          </a:p>
        </p:txBody>
      </p:sp>
      <p:sp>
        <p:nvSpPr>
          <p:cNvPr id="222" name="Google Shape;222;p21"/>
          <p:cNvSpPr txBox="1"/>
          <p:nvPr/>
        </p:nvSpPr>
        <p:spPr>
          <a:xfrm>
            <a:off x="76100" y="3665550"/>
            <a:ext cx="1389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500">
                <a:solidFill>
                  <a:srgbClr val="FFD966"/>
                </a:solidFill>
              </a:rPr>
              <a:t>Monitoring</a:t>
            </a:r>
            <a:endParaRPr b="1" sz="1500">
              <a:solidFill>
                <a:srgbClr val="FFD966"/>
              </a:solidFill>
            </a:endParaRPr>
          </a:p>
        </p:txBody>
      </p:sp>
      <p:sp>
        <p:nvSpPr>
          <p:cNvPr id="223" name="Google Shape;223;p21"/>
          <p:cNvSpPr txBox="1"/>
          <p:nvPr/>
        </p:nvSpPr>
        <p:spPr>
          <a:xfrm>
            <a:off x="76100" y="4507650"/>
            <a:ext cx="13893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it" sz="1500">
                <a:solidFill>
                  <a:srgbClr val="FFD966"/>
                </a:solidFill>
              </a:rPr>
              <a:t>Security</a:t>
            </a:r>
            <a:endParaRPr b="1" sz="1500">
              <a:solidFill>
                <a:srgbClr val="FFD966"/>
              </a:solidFill>
            </a:endParaRPr>
          </a:p>
        </p:txBody>
      </p:sp>
      <p:sp>
        <p:nvSpPr>
          <p:cNvPr id="224" name="Google Shape;22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228" name="Shape 228"/>
        <p:cNvGrpSpPr/>
        <p:nvPr/>
      </p:nvGrpSpPr>
      <p:grpSpPr>
        <a:xfrm>
          <a:off x="0" y="0"/>
          <a:ext cx="0" cy="0"/>
          <a:chOff x="0" y="0"/>
          <a:chExt cx="0" cy="0"/>
        </a:xfrm>
      </p:grpSpPr>
      <p:sp>
        <p:nvSpPr>
          <p:cNvPr id="229" name="Google Shape;229;p22"/>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chemeClr val="lt1"/>
                </a:solidFill>
                <a:latin typeface="Roboto ExtraBold"/>
                <a:ea typeface="Roboto ExtraBold"/>
                <a:cs typeface="Roboto ExtraBold"/>
                <a:sym typeface="Roboto ExtraBold"/>
              </a:rPr>
              <a:t>Experimental Validation Setup</a:t>
            </a:r>
            <a:endParaRPr sz="2800">
              <a:solidFill>
                <a:schemeClr val="lt1"/>
              </a:solidFill>
              <a:latin typeface="Roboto ExtraBold"/>
              <a:ea typeface="Roboto ExtraBold"/>
              <a:cs typeface="Roboto ExtraBold"/>
              <a:sym typeface="Roboto ExtraBold"/>
            </a:endParaRPr>
          </a:p>
        </p:txBody>
      </p:sp>
      <p:sp>
        <p:nvSpPr>
          <p:cNvPr id="230" name="Google Shape;230;p22"/>
          <p:cNvSpPr/>
          <p:nvPr/>
        </p:nvSpPr>
        <p:spPr>
          <a:xfrm>
            <a:off x="59500" y="662375"/>
            <a:ext cx="1972500" cy="24129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Monitor Pod</a:t>
            </a:r>
            <a:endParaRPr b="1" sz="1800">
              <a:solidFill>
                <a:schemeClr val="lt1"/>
              </a:solidFill>
            </a:endParaRPr>
          </a:p>
          <a:p>
            <a:pPr indent="0" lvl="0" marL="0" rtl="0" algn="ctr">
              <a:spcBef>
                <a:spcPts val="0"/>
              </a:spcBef>
              <a:spcAft>
                <a:spcPts val="0"/>
              </a:spcAft>
              <a:buNone/>
            </a:pPr>
            <a:r>
              <a:t/>
            </a:r>
            <a:endParaRPr b="1" sz="1800">
              <a:solidFill>
                <a:schemeClr val="lt1"/>
              </a:solidFill>
            </a:endParaRPr>
          </a:p>
          <a:p>
            <a:pPr indent="0" lvl="0" marL="0" rtl="0" algn="ctr">
              <a:spcBef>
                <a:spcPts val="0"/>
              </a:spcBef>
              <a:spcAft>
                <a:spcPts val="0"/>
              </a:spcAft>
              <a:buNone/>
            </a:pPr>
            <a:r>
              <a:t/>
            </a:r>
            <a:endParaRPr b="1" sz="1800">
              <a:solidFill>
                <a:schemeClr val="lt1"/>
              </a:solidFill>
            </a:endParaRPr>
          </a:p>
          <a:p>
            <a:pPr indent="0" lvl="0" marL="0" rtl="0" algn="ctr">
              <a:spcBef>
                <a:spcPts val="0"/>
              </a:spcBef>
              <a:spcAft>
                <a:spcPts val="0"/>
              </a:spcAft>
              <a:buNone/>
            </a:pPr>
            <a:r>
              <a:rPr lang="it" sz="1800">
                <a:solidFill>
                  <a:schemeClr val="lt1"/>
                </a:solidFill>
              </a:rPr>
              <a:t>eBPF Agent</a:t>
            </a:r>
            <a:endParaRPr sz="1800">
              <a:solidFill>
                <a:schemeClr val="lt1"/>
              </a:solidFill>
            </a:endParaRPr>
          </a:p>
          <a:p>
            <a:pPr indent="0" lvl="0" marL="0" rtl="0" algn="ctr">
              <a:spcBef>
                <a:spcPts val="0"/>
              </a:spcBef>
              <a:spcAft>
                <a:spcPts val="0"/>
              </a:spcAft>
              <a:buNone/>
            </a:pPr>
            <a:r>
              <a:t/>
            </a:r>
            <a:endParaRPr sz="1800">
              <a:solidFill>
                <a:schemeClr val="lt1"/>
              </a:solidFill>
            </a:endParaRPr>
          </a:p>
          <a:p>
            <a:pPr indent="0" lvl="0" marL="0" rtl="0" algn="ctr">
              <a:spcBef>
                <a:spcPts val="0"/>
              </a:spcBef>
              <a:spcAft>
                <a:spcPts val="0"/>
              </a:spcAft>
              <a:buNone/>
            </a:pPr>
            <a:r>
              <a:t/>
            </a:r>
            <a:endParaRPr sz="1800">
              <a:solidFill>
                <a:schemeClr val="lt1"/>
              </a:solidFill>
            </a:endParaRPr>
          </a:p>
          <a:p>
            <a:pPr indent="0" lvl="0" marL="0" rtl="0" algn="ctr">
              <a:spcBef>
                <a:spcPts val="0"/>
              </a:spcBef>
              <a:spcAft>
                <a:spcPts val="0"/>
              </a:spcAft>
              <a:buNone/>
            </a:pPr>
            <a:r>
              <a:rPr lang="it" sz="1800">
                <a:solidFill>
                  <a:schemeClr val="lt1"/>
                </a:solidFill>
              </a:rPr>
              <a:t>Filtering on UID 10001</a:t>
            </a:r>
            <a:endParaRPr sz="1800">
              <a:solidFill>
                <a:schemeClr val="lt1"/>
              </a:solidFill>
            </a:endParaRPr>
          </a:p>
        </p:txBody>
      </p:sp>
      <p:sp>
        <p:nvSpPr>
          <p:cNvPr id="231" name="Google Shape;231;p22"/>
          <p:cNvSpPr/>
          <p:nvPr/>
        </p:nvSpPr>
        <p:spPr>
          <a:xfrm>
            <a:off x="2454863" y="662375"/>
            <a:ext cx="1972500" cy="24129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Trigger Pod</a:t>
            </a:r>
            <a:endParaRPr b="1" sz="1800">
              <a:solidFill>
                <a:schemeClr val="lt1"/>
              </a:solidFill>
            </a:endParaRPr>
          </a:p>
          <a:p>
            <a:pPr indent="0" lvl="0" marL="0" rtl="0" algn="ctr">
              <a:spcBef>
                <a:spcPts val="0"/>
              </a:spcBef>
              <a:spcAft>
                <a:spcPts val="0"/>
              </a:spcAft>
              <a:buNone/>
            </a:pPr>
            <a:r>
              <a:t/>
            </a:r>
            <a:endParaRPr b="1" sz="1800">
              <a:solidFill>
                <a:schemeClr val="lt1"/>
              </a:solidFill>
            </a:endParaRPr>
          </a:p>
          <a:p>
            <a:pPr indent="0" lvl="0" marL="0" rtl="0" algn="l">
              <a:spcBef>
                <a:spcPts val="0"/>
              </a:spcBef>
              <a:spcAft>
                <a:spcPts val="0"/>
              </a:spcAft>
              <a:buNone/>
            </a:pPr>
            <a:r>
              <a:t/>
            </a:r>
            <a:endParaRPr b="1" sz="1800">
              <a:solidFill>
                <a:schemeClr val="lt1"/>
              </a:solidFill>
            </a:endParaRPr>
          </a:p>
          <a:p>
            <a:pPr indent="0" lvl="0" marL="0" rtl="0" algn="ctr">
              <a:spcBef>
                <a:spcPts val="0"/>
              </a:spcBef>
              <a:spcAft>
                <a:spcPts val="0"/>
              </a:spcAft>
              <a:buNone/>
            </a:pPr>
            <a:r>
              <a:rPr lang="it" sz="1800">
                <a:solidFill>
                  <a:schemeClr val="lt1"/>
                </a:solidFill>
              </a:rPr>
              <a:t>Exploit Client</a:t>
            </a:r>
            <a:endParaRPr sz="1800">
              <a:solidFill>
                <a:schemeClr val="lt1"/>
              </a:solidFill>
            </a:endParaRPr>
          </a:p>
          <a:p>
            <a:pPr indent="0" lvl="0" marL="0" rtl="0" algn="ctr">
              <a:spcBef>
                <a:spcPts val="0"/>
              </a:spcBef>
              <a:spcAft>
                <a:spcPts val="0"/>
              </a:spcAft>
              <a:buNone/>
            </a:pPr>
            <a:r>
              <a:rPr lang="it" sz="1800">
                <a:solidFill>
                  <a:schemeClr val="lt1"/>
                </a:solidFill>
              </a:rPr>
              <a:t>(Attacker)</a:t>
            </a:r>
            <a:endParaRPr sz="1800">
              <a:solidFill>
                <a:schemeClr val="lt1"/>
              </a:solidFill>
            </a:endParaRPr>
          </a:p>
        </p:txBody>
      </p:sp>
      <p:sp>
        <p:nvSpPr>
          <p:cNvPr id="232" name="Google Shape;232;p22"/>
          <p:cNvSpPr/>
          <p:nvPr/>
        </p:nvSpPr>
        <p:spPr>
          <a:xfrm>
            <a:off x="290350" y="4006350"/>
            <a:ext cx="8730900" cy="8010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800">
              <a:solidFill>
                <a:schemeClr val="lt1"/>
              </a:solidFill>
            </a:endParaRPr>
          </a:p>
          <a:p>
            <a:pPr indent="0" lvl="0" marL="0" rtl="0" algn="ctr">
              <a:spcBef>
                <a:spcPts val="0"/>
              </a:spcBef>
              <a:spcAft>
                <a:spcPts val="0"/>
              </a:spcAft>
              <a:buNone/>
            </a:pPr>
            <a:r>
              <a:rPr b="1" lang="it" sz="1800">
                <a:solidFill>
                  <a:schemeClr val="lt1"/>
                </a:solidFill>
              </a:rPr>
              <a:t>Shared Linux Kernel (Rocky Linux 8.10)</a:t>
            </a:r>
            <a:endParaRPr b="1" sz="1800">
              <a:solidFill>
                <a:schemeClr val="lt1"/>
              </a:solidFill>
            </a:endParaRPr>
          </a:p>
        </p:txBody>
      </p:sp>
      <p:sp>
        <p:nvSpPr>
          <p:cNvPr id="233" name="Google Shape;233;p22"/>
          <p:cNvSpPr/>
          <p:nvPr/>
        </p:nvSpPr>
        <p:spPr>
          <a:xfrm>
            <a:off x="7112000" y="662375"/>
            <a:ext cx="1972500" cy="24129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Target Pod</a:t>
            </a:r>
            <a:endParaRPr b="1" sz="1800">
              <a:solidFill>
                <a:schemeClr val="lt1"/>
              </a:solidFill>
            </a:endParaRPr>
          </a:p>
          <a:p>
            <a:pPr indent="0" lvl="0" marL="0" rtl="0" algn="ctr">
              <a:spcBef>
                <a:spcPts val="0"/>
              </a:spcBef>
              <a:spcAft>
                <a:spcPts val="0"/>
              </a:spcAft>
              <a:buNone/>
            </a:pPr>
            <a:r>
              <a:t/>
            </a:r>
            <a:endParaRPr b="1" sz="1800">
              <a:solidFill>
                <a:schemeClr val="lt1"/>
              </a:solidFill>
            </a:endParaRPr>
          </a:p>
          <a:p>
            <a:pPr indent="0" lvl="0" marL="0" rtl="0" algn="ctr">
              <a:spcBef>
                <a:spcPts val="0"/>
              </a:spcBef>
              <a:spcAft>
                <a:spcPts val="0"/>
              </a:spcAft>
              <a:buNone/>
            </a:pPr>
            <a:r>
              <a:rPr lang="it" sz="1800">
                <a:solidFill>
                  <a:schemeClr val="lt1"/>
                </a:solidFill>
              </a:rPr>
              <a:t>Vulnerable CTF Service (UID 10001)</a:t>
            </a:r>
            <a:endParaRPr sz="1800">
              <a:solidFill>
                <a:schemeClr val="lt1"/>
              </a:solidFill>
            </a:endParaRPr>
          </a:p>
          <a:p>
            <a:pPr indent="0" lvl="0" marL="0" rtl="0" algn="ctr">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1800">
              <a:solidFill>
                <a:schemeClr val="lt1"/>
              </a:solidFill>
            </a:endParaRPr>
          </a:p>
        </p:txBody>
      </p:sp>
      <p:sp>
        <p:nvSpPr>
          <p:cNvPr id="234" name="Google Shape;23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cxnSp>
        <p:nvCxnSpPr>
          <p:cNvPr id="235" name="Google Shape;235;p22"/>
          <p:cNvCxnSpPr>
            <a:stCxn id="231" idx="3"/>
            <a:endCxn id="233" idx="1"/>
          </p:cNvCxnSpPr>
          <p:nvPr/>
        </p:nvCxnSpPr>
        <p:spPr>
          <a:xfrm>
            <a:off x="4427363" y="1868825"/>
            <a:ext cx="2684700" cy="0"/>
          </a:xfrm>
          <a:prstGeom prst="straightConnector1">
            <a:avLst/>
          </a:prstGeom>
          <a:noFill/>
          <a:ln cap="flat" cmpd="sng" w="28575">
            <a:solidFill>
              <a:srgbClr val="FF0000"/>
            </a:solidFill>
            <a:prstDash val="dash"/>
            <a:round/>
            <a:headEnd len="med" w="med" type="none"/>
            <a:tailEnd len="med" w="med" type="triangle"/>
          </a:ln>
        </p:spPr>
      </p:cxnSp>
      <p:cxnSp>
        <p:nvCxnSpPr>
          <p:cNvPr id="236" name="Google Shape;236;p22"/>
          <p:cNvCxnSpPr>
            <a:stCxn id="230" idx="2"/>
          </p:cNvCxnSpPr>
          <p:nvPr/>
        </p:nvCxnSpPr>
        <p:spPr>
          <a:xfrm>
            <a:off x="1045750" y="3075275"/>
            <a:ext cx="300" cy="905100"/>
          </a:xfrm>
          <a:prstGeom prst="straightConnector1">
            <a:avLst/>
          </a:prstGeom>
          <a:noFill/>
          <a:ln cap="flat" cmpd="sng" w="28575">
            <a:solidFill>
              <a:schemeClr val="lt1"/>
            </a:solidFill>
            <a:prstDash val="solid"/>
            <a:round/>
            <a:headEnd len="med" w="med" type="none"/>
            <a:tailEnd len="med" w="med" type="none"/>
          </a:ln>
        </p:spPr>
      </p:cxnSp>
      <p:cxnSp>
        <p:nvCxnSpPr>
          <p:cNvPr id="237" name="Google Shape;237;p22"/>
          <p:cNvCxnSpPr/>
          <p:nvPr/>
        </p:nvCxnSpPr>
        <p:spPr>
          <a:xfrm>
            <a:off x="3440975" y="3075275"/>
            <a:ext cx="300" cy="905100"/>
          </a:xfrm>
          <a:prstGeom prst="straightConnector1">
            <a:avLst/>
          </a:prstGeom>
          <a:noFill/>
          <a:ln cap="flat" cmpd="sng" w="28575">
            <a:solidFill>
              <a:schemeClr val="lt1"/>
            </a:solidFill>
            <a:prstDash val="solid"/>
            <a:round/>
            <a:headEnd len="med" w="med" type="none"/>
            <a:tailEnd len="med" w="med" type="none"/>
          </a:ln>
        </p:spPr>
      </p:cxnSp>
      <p:cxnSp>
        <p:nvCxnSpPr>
          <p:cNvPr id="238" name="Google Shape;238;p22"/>
          <p:cNvCxnSpPr/>
          <p:nvPr/>
        </p:nvCxnSpPr>
        <p:spPr>
          <a:xfrm>
            <a:off x="8098100" y="3088263"/>
            <a:ext cx="300" cy="905100"/>
          </a:xfrm>
          <a:prstGeom prst="straightConnector1">
            <a:avLst/>
          </a:prstGeom>
          <a:noFill/>
          <a:ln cap="flat" cmpd="sng" w="28575">
            <a:solidFill>
              <a:schemeClr val="lt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p23"/>
          <p:cNvSpPr txBox="1"/>
          <p:nvPr/>
        </p:nvSpPr>
        <p:spPr>
          <a:xfrm>
            <a:off x="0" y="0"/>
            <a:ext cx="9144000" cy="8862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it" sz="2700">
                <a:solidFill>
                  <a:srgbClr val="073763"/>
                </a:solidFill>
                <a:latin typeface="Roboto ExtraBold"/>
                <a:ea typeface="Roboto ExtraBold"/>
                <a:cs typeface="Roboto ExtraBold"/>
                <a:sym typeface="Roboto ExtraBold"/>
              </a:rPr>
              <a:t>Host level Hook Implementation Strategy</a:t>
            </a:r>
            <a:endParaRPr sz="2400">
              <a:solidFill>
                <a:srgbClr val="073763"/>
              </a:solidFill>
              <a:latin typeface="Roboto ExtraBold"/>
              <a:ea typeface="Roboto ExtraBold"/>
              <a:cs typeface="Roboto ExtraBold"/>
              <a:sym typeface="Roboto ExtraBold"/>
            </a:endParaRPr>
          </a:p>
        </p:txBody>
      </p:sp>
      <p:sp>
        <p:nvSpPr>
          <p:cNvPr id="244" name="Google Shape;244;p23"/>
          <p:cNvSpPr txBox="1"/>
          <p:nvPr/>
        </p:nvSpPr>
        <p:spPr>
          <a:xfrm>
            <a:off x="0" y="886200"/>
            <a:ext cx="3210300" cy="33246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rgbClr val="073763"/>
              </a:buClr>
              <a:buSzPts val="1300"/>
              <a:buChar char="●"/>
            </a:pPr>
            <a:r>
              <a:rPr b="1" lang="it" sz="1700">
                <a:solidFill>
                  <a:srgbClr val="073763"/>
                </a:solidFill>
              </a:rPr>
              <a:t>Semantic hooks</a:t>
            </a:r>
            <a:r>
              <a:rPr b="1" lang="it" sz="1700">
                <a:solidFill>
                  <a:srgbClr val="073763"/>
                </a:solidFill>
              </a:rPr>
              <a:t>: </a:t>
            </a:r>
            <a:r>
              <a:rPr lang="it" sz="1700">
                <a:solidFill>
                  <a:srgbClr val="073763"/>
                </a:solidFill>
              </a:rPr>
              <a:t>Primarily based on kprobes and security hooks exposing resolved kernel objects.</a:t>
            </a:r>
            <a:endParaRPr sz="1700">
              <a:solidFill>
                <a:srgbClr val="073763"/>
              </a:solidFill>
            </a:endParaRPr>
          </a:p>
          <a:p>
            <a:pPr indent="-311150" lvl="0" marL="457200" rtl="0" algn="l">
              <a:spcBef>
                <a:spcPts val="0"/>
              </a:spcBef>
              <a:spcAft>
                <a:spcPts val="0"/>
              </a:spcAft>
              <a:buClr>
                <a:srgbClr val="073763"/>
              </a:buClr>
              <a:buSzPts val="1300"/>
              <a:buChar char="●"/>
            </a:pPr>
            <a:r>
              <a:rPr b="1" lang="it" sz="1700">
                <a:solidFill>
                  <a:srgbClr val="073763"/>
                </a:solidFill>
              </a:rPr>
              <a:t>Enter/exit model</a:t>
            </a:r>
            <a:r>
              <a:rPr b="1" lang="it" sz="1700">
                <a:solidFill>
                  <a:srgbClr val="073763"/>
                </a:solidFill>
              </a:rPr>
              <a:t>: </a:t>
            </a:r>
            <a:r>
              <a:rPr lang="it" sz="1700">
                <a:solidFill>
                  <a:srgbClr val="073763"/>
                </a:solidFill>
              </a:rPr>
              <a:t>Entry stores arguments; exit adds the final return value.</a:t>
            </a:r>
            <a:endParaRPr sz="1700">
              <a:solidFill>
                <a:srgbClr val="073763"/>
              </a:solidFill>
            </a:endParaRPr>
          </a:p>
          <a:p>
            <a:pPr indent="-336550" lvl="0" marL="457200" rtl="0" algn="l">
              <a:spcBef>
                <a:spcPts val="0"/>
              </a:spcBef>
              <a:spcAft>
                <a:spcPts val="0"/>
              </a:spcAft>
              <a:buClr>
                <a:srgbClr val="073763"/>
              </a:buClr>
              <a:buSzPts val="1700"/>
              <a:buChar char="●"/>
            </a:pPr>
            <a:r>
              <a:rPr b="1" lang="it" sz="1700">
                <a:solidFill>
                  <a:srgbClr val="073763"/>
                </a:solidFill>
              </a:rPr>
              <a:t>Kernel adaptation:</a:t>
            </a:r>
            <a:r>
              <a:rPr lang="it" sz="1700">
                <a:solidFill>
                  <a:srgbClr val="073763"/>
                </a:solidFill>
              </a:rPr>
              <a:t> Designed around Rocky Linux 4.18 verifier constraints.</a:t>
            </a:r>
            <a:endParaRPr b="1" sz="1700">
              <a:solidFill>
                <a:srgbClr val="073763"/>
              </a:solidFill>
            </a:endParaRPr>
          </a:p>
        </p:txBody>
      </p:sp>
      <p:sp>
        <p:nvSpPr>
          <p:cNvPr id="245" name="Google Shape;245;p23"/>
          <p:cNvSpPr/>
          <p:nvPr/>
        </p:nvSpPr>
        <p:spPr>
          <a:xfrm>
            <a:off x="4616904" y="112935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Required Information</a:t>
            </a:r>
            <a:endParaRPr b="1">
              <a:solidFill>
                <a:schemeClr val="lt1"/>
              </a:solidFill>
            </a:endParaRPr>
          </a:p>
        </p:txBody>
      </p:sp>
      <p:sp>
        <p:nvSpPr>
          <p:cNvPr id="246" name="Google Shape;246;p23"/>
          <p:cNvSpPr/>
          <p:nvPr/>
        </p:nvSpPr>
        <p:spPr>
          <a:xfrm>
            <a:off x="4616904" y="194995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Is the Return Value Required?</a:t>
            </a:r>
            <a:endParaRPr b="1">
              <a:solidFill>
                <a:schemeClr val="lt1"/>
              </a:solidFill>
            </a:endParaRPr>
          </a:p>
        </p:txBody>
      </p:sp>
      <p:sp>
        <p:nvSpPr>
          <p:cNvPr id="247" name="Google Shape;247;p23"/>
          <p:cNvSpPr/>
          <p:nvPr/>
        </p:nvSpPr>
        <p:spPr>
          <a:xfrm>
            <a:off x="4616904" y="397025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Normalized Event in Go Userspace</a:t>
            </a:r>
            <a:endParaRPr b="1">
              <a:solidFill>
                <a:schemeClr val="lt1"/>
              </a:solidFill>
            </a:endParaRPr>
          </a:p>
        </p:txBody>
      </p:sp>
      <p:cxnSp>
        <p:nvCxnSpPr>
          <p:cNvPr id="248" name="Google Shape;248;p23"/>
          <p:cNvCxnSpPr>
            <a:stCxn id="245" idx="2"/>
            <a:endCxn id="246" idx="0"/>
          </p:cNvCxnSpPr>
          <p:nvPr/>
        </p:nvCxnSpPr>
        <p:spPr>
          <a:xfrm>
            <a:off x="6000654" y="1552350"/>
            <a:ext cx="0" cy="397500"/>
          </a:xfrm>
          <a:prstGeom prst="straightConnector1">
            <a:avLst/>
          </a:prstGeom>
          <a:noFill/>
          <a:ln cap="flat" cmpd="sng" w="22975">
            <a:solidFill>
              <a:srgbClr val="6FA8DC"/>
            </a:solidFill>
            <a:prstDash val="solid"/>
            <a:round/>
            <a:headEnd len="med" w="med" type="none"/>
            <a:tailEnd len="med" w="med" type="triangle"/>
          </a:ln>
        </p:spPr>
      </p:cxnSp>
      <p:sp>
        <p:nvSpPr>
          <p:cNvPr id="249" name="Google Shape;249;p23"/>
          <p:cNvSpPr/>
          <p:nvPr/>
        </p:nvSpPr>
        <p:spPr>
          <a:xfrm>
            <a:off x="3156250" y="296010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Enter/Exit Model</a:t>
            </a:r>
            <a:endParaRPr b="1">
              <a:solidFill>
                <a:schemeClr val="lt1"/>
              </a:solidFill>
            </a:endParaRPr>
          </a:p>
        </p:txBody>
      </p:sp>
      <p:sp>
        <p:nvSpPr>
          <p:cNvPr id="250" name="Google Shape;250;p23"/>
          <p:cNvSpPr/>
          <p:nvPr/>
        </p:nvSpPr>
        <p:spPr>
          <a:xfrm>
            <a:off x="6256307" y="296010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Semantic Hook</a:t>
            </a:r>
            <a:endParaRPr b="1">
              <a:solidFill>
                <a:schemeClr val="lt1"/>
              </a:solidFill>
            </a:endParaRPr>
          </a:p>
        </p:txBody>
      </p:sp>
      <p:cxnSp>
        <p:nvCxnSpPr>
          <p:cNvPr id="251" name="Google Shape;251;p23"/>
          <p:cNvCxnSpPr>
            <a:stCxn id="246" idx="2"/>
            <a:endCxn id="249" idx="0"/>
          </p:cNvCxnSpPr>
          <p:nvPr/>
        </p:nvCxnSpPr>
        <p:spPr>
          <a:xfrm flipH="1">
            <a:off x="4539954" y="2372950"/>
            <a:ext cx="1460700" cy="587100"/>
          </a:xfrm>
          <a:prstGeom prst="straightConnector1">
            <a:avLst/>
          </a:prstGeom>
          <a:noFill/>
          <a:ln cap="flat" cmpd="sng" w="22975">
            <a:solidFill>
              <a:srgbClr val="6FA8DC"/>
            </a:solidFill>
            <a:prstDash val="solid"/>
            <a:round/>
            <a:headEnd len="med" w="med" type="none"/>
            <a:tailEnd len="med" w="med" type="triangle"/>
          </a:ln>
        </p:spPr>
      </p:cxnSp>
      <p:cxnSp>
        <p:nvCxnSpPr>
          <p:cNvPr id="252" name="Google Shape;252;p23"/>
          <p:cNvCxnSpPr>
            <a:stCxn id="246" idx="2"/>
            <a:endCxn id="250" idx="0"/>
          </p:cNvCxnSpPr>
          <p:nvPr/>
        </p:nvCxnSpPr>
        <p:spPr>
          <a:xfrm>
            <a:off x="6000654" y="2372950"/>
            <a:ext cx="1639500" cy="587100"/>
          </a:xfrm>
          <a:prstGeom prst="straightConnector1">
            <a:avLst/>
          </a:prstGeom>
          <a:noFill/>
          <a:ln cap="flat" cmpd="sng" w="22975">
            <a:solidFill>
              <a:srgbClr val="6FA8DC"/>
            </a:solidFill>
            <a:prstDash val="solid"/>
            <a:round/>
            <a:headEnd len="med" w="med" type="none"/>
            <a:tailEnd len="med" w="med" type="triangle"/>
          </a:ln>
        </p:spPr>
      </p:cxnSp>
      <p:cxnSp>
        <p:nvCxnSpPr>
          <p:cNvPr id="253" name="Google Shape;253;p23"/>
          <p:cNvCxnSpPr>
            <a:stCxn id="249" idx="2"/>
            <a:endCxn id="247" idx="0"/>
          </p:cNvCxnSpPr>
          <p:nvPr/>
        </p:nvCxnSpPr>
        <p:spPr>
          <a:xfrm>
            <a:off x="4540000" y="3383100"/>
            <a:ext cx="1460700" cy="587100"/>
          </a:xfrm>
          <a:prstGeom prst="straightConnector1">
            <a:avLst/>
          </a:prstGeom>
          <a:noFill/>
          <a:ln cap="flat" cmpd="sng" w="22975">
            <a:solidFill>
              <a:srgbClr val="6FA8DC"/>
            </a:solidFill>
            <a:prstDash val="solid"/>
            <a:round/>
            <a:headEnd len="med" w="med" type="none"/>
            <a:tailEnd len="med" w="med" type="triangle"/>
          </a:ln>
        </p:spPr>
      </p:cxnSp>
      <p:cxnSp>
        <p:nvCxnSpPr>
          <p:cNvPr id="254" name="Google Shape;254;p23"/>
          <p:cNvCxnSpPr>
            <a:stCxn id="250" idx="2"/>
            <a:endCxn id="247" idx="0"/>
          </p:cNvCxnSpPr>
          <p:nvPr/>
        </p:nvCxnSpPr>
        <p:spPr>
          <a:xfrm flipH="1">
            <a:off x="6000557" y="3383100"/>
            <a:ext cx="1639500" cy="587100"/>
          </a:xfrm>
          <a:prstGeom prst="straightConnector1">
            <a:avLst/>
          </a:prstGeom>
          <a:noFill/>
          <a:ln cap="flat" cmpd="sng" w="22975">
            <a:solidFill>
              <a:srgbClr val="6FA8DC"/>
            </a:solidFill>
            <a:prstDash val="solid"/>
            <a:round/>
            <a:headEnd len="med" w="med" type="none"/>
            <a:tailEnd len="med" w="med" type="triangle"/>
          </a:ln>
        </p:spPr>
      </p:cxnSp>
      <p:sp>
        <p:nvSpPr>
          <p:cNvPr id="255" name="Google Shape;255;p23"/>
          <p:cNvSpPr txBox="1"/>
          <p:nvPr/>
        </p:nvSpPr>
        <p:spPr>
          <a:xfrm>
            <a:off x="4614750" y="2452650"/>
            <a:ext cx="590700" cy="2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500">
                <a:solidFill>
                  <a:schemeClr val="dk2"/>
                </a:solidFill>
              </a:rPr>
              <a:t>Yes</a:t>
            </a:r>
            <a:endParaRPr sz="1500">
              <a:solidFill>
                <a:schemeClr val="dk2"/>
              </a:solidFill>
            </a:endParaRPr>
          </a:p>
        </p:txBody>
      </p:sp>
      <p:sp>
        <p:nvSpPr>
          <p:cNvPr id="256" name="Google Shape;256;p23"/>
          <p:cNvSpPr txBox="1"/>
          <p:nvPr/>
        </p:nvSpPr>
        <p:spPr>
          <a:xfrm>
            <a:off x="6971597" y="2452650"/>
            <a:ext cx="5907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500">
                <a:solidFill>
                  <a:schemeClr val="dk2"/>
                </a:solidFill>
              </a:rPr>
              <a:t>No</a:t>
            </a:r>
            <a:endParaRPr sz="1500">
              <a:solidFill>
                <a:schemeClr val="dk2"/>
              </a:solidFill>
            </a:endParaRPr>
          </a:p>
          <a:p>
            <a:pPr indent="0" lvl="0" marL="0" rtl="0" algn="l">
              <a:spcBef>
                <a:spcPts val="0"/>
              </a:spcBef>
              <a:spcAft>
                <a:spcPts val="0"/>
              </a:spcAft>
              <a:buNone/>
            </a:pPr>
            <a:r>
              <a:t/>
            </a:r>
            <a:endParaRPr sz="1500">
              <a:solidFill>
                <a:schemeClr val="dk2"/>
              </a:solidFill>
            </a:endParaRPr>
          </a:p>
        </p:txBody>
      </p:sp>
      <p:sp>
        <p:nvSpPr>
          <p:cNvPr id="257" name="Google Shape;25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261" name="Shape 261"/>
        <p:cNvGrpSpPr/>
        <p:nvPr/>
      </p:nvGrpSpPr>
      <p:grpSpPr>
        <a:xfrm>
          <a:off x="0" y="0"/>
          <a:ext cx="0" cy="0"/>
          <a:chOff x="0" y="0"/>
          <a:chExt cx="0" cy="0"/>
        </a:xfrm>
      </p:grpSpPr>
      <p:sp>
        <p:nvSpPr>
          <p:cNvPr id="262" name="Google Shape;262;p24"/>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chemeClr val="lt1"/>
                </a:solidFill>
                <a:latin typeface="Roboto ExtraBold"/>
                <a:ea typeface="Roboto ExtraBold"/>
                <a:cs typeface="Roboto ExtraBold"/>
                <a:sym typeface="Roboto ExtraBold"/>
              </a:rPr>
              <a:t>Common eBPF Implementation Pattern</a:t>
            </a:r>
            <a:endParaRPr sz="2800">
              <a:solidFill>
                <a:schemeClr val="lt1"/>
              </a:solidFill>
              <a:latin typeface="Roboto ExtraBold"/>
              <a:ea typeface="Roboto ExtraBold"/>
              <a:cs typeface="Roboto ExtraBold"/>
              <a:sym typeface="Roboto ExtraBold"/>
            </a:endParaRPr>
          </a:p>
        </p:txBody>
      </p:sp>
      <p:sp>
        <p:nvSpPr>
          <p:cNvPr id="263" name="Google Shape;263;p24"/>
          <p:cNvSpPr/>
          <p:nvPr/>
        </p:nvSpPr>
        <p:spPr>
          <a:xfrm>
            <a:off x="203800" y="801000"/>
            <a:ext cx="1895100" cy="2940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program_data_t</a:t>
            </a:r>
            <a:endParaRPr b="1" sz="1174">
              <a:solidFill>
                <a:srgbClr val="FFFFFF"/>
              </a:solidFill>
            </a:endParaRPr>
          </a:p>
        </p:txBody>
      </p:sp>
      <p:cxnSp>
        <p:nvCxnSpPr>
          <p:cNvPr id="264" name="Google Shape;264;p24"/>
          <p:cNvCxnSpPr>
            <a:stCxn id="265" idx="3"/>
          </p:cNvCxnSpPr>
          <p:nvPr/>
        </p:nvCxnSpPr>
        <p:spPr>
          <a:xfrm flipH="1" rot="10800000">
            <a:off x="2098900" y="1425500"/>
            <a:ext cx="602400" cy="5400"/>
          </a:xfrm>
          <a:prstGeom prst="straightConnector1">
            <a:avLst/>
          </a:prstGeom>
          <a:noFill/>
          <a:ln cap="flat" cmpd="sng" w="38100">
            <a:solidFill>
              <a:srgbClr val="60B28E"/>
            </a:solidFill>
            <a:prstDash val="solid"/>
            <a:round/>
            <a:headEnd len="med" w="med" type="none"/>
            <a:tailEnd len="med" w="med" type="triangle"/>
          </a:ln>
        </p:spPr>
      </p:cxnSp>
      <p:sp>
        <p:nvSpPr>
          <p:cNvPr id="265" name="Google Shape;265;p24"/>
          <p:cNvSpPr/>
          <p:nvPr/>
        </p:nvSpPr>
        <p:spPr>
          <a:xfrm>
            <a:off x="203800" y="1095050"/>
            <a:ext cx="1895100" cy="6717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Per-hook working state</a:t>
            </a:r>
            <a:endParaRPr b="1" sz="1174">
              <a:solidFill>
                <a:srgbClr val="FFFFFF"/>
              </a:solidFill>
            </a:endParaRPr>
          </a:p>
        </p:txBody>
      </p:sp>
      <p:sp>
        <p:nvSpPr>
          <p:cNvPr id="266" name="Google Shape;266;p24"/>
          <p:cNvSpPr/>
          <p:nvPr/>
        </p:nvSpPr>
        <p:spPr>
          <a:xfrm>
            <a:off x="2701300" y="801000"/>
            <a:ext cx="1895100" cy="2940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event_data_t</a:t>
            </a:r>
            <a:endParaRPr b="1" sz="1174">
              <a:solidFill>
                <a:srgbClr val="FFFFFF"/>
              </a:solidFill>
            </a:endParaRPr>
          </a:p>
        </p:txBody>
      </p:sp>
      <p:sp>
        <p:nvSpPr>
          <p:cNvPr id="267" name="Google Shape;267;p24"/>
          <p:cNvSpPr/>
          <p:nvPr/>
        </p:nvSpPr>
        <p:spPr>
          <a:xfrm>
            <a:off x="2701300" y="1095047"/>
            <a:ext cx="1895100" cy="3113400"/>
          </a:xfrm>
          <a:prstGeom prst="rect">
            <a:avLst/>
          </a:prstGeom>
          <a:solidFill>
            <a:srgbClr val="1155CC"/>
          </a:solidFill>
          <a:ln cap="flat" cmpd="sng" w="31950">
            <a:solidFill>
              <a:schemeClr val="lt1"/>
            </a:solidFill>
            <a:prstDash val="solid"/>
            <a:round/>
            <a:headEnd len="sm" w="sm" type="none"/>
            <a:tailEnd len="sm" w="sm" type="none"/>
          </a:ln>
        </p:spPr>
        <p:txBody>
          <a:bodyPr anchorCtr="0" anchor="t"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Event under construction</a:t>
            </a:r>
            <a:endParaRPr b="1" sz="1174">
              <a:solidFill>
                <a:srgbClr val="FFFFFF"/>
              </a:solidFill>
            </a:endParaRPr>
          </a:p>
        </p:txBody>
      </p:sp>
      <p:sp>
        <p:nvSpPr>
          <p:cNvPr id="268" name="Google Shape;268;p24"/>
          <p:cNvSpPr/>
          <p:nvPr/>
        </p:nvSpPr>
        <p:spPr>
          <a:xfrm>
            <a:off x="2830841" y="1554585"/>
            <a:ext cx="1635900" cy="1243800"/>
          </a:xfrm>
          <a:prstGeom prst="rect">
            <a:avLst/>
          </a:prstGeom>
          <a:solidFill>
            <a:srgbClr val="1155CC"/>
          </a:solidFill>
          <a:ln cap="flat" cmpd="sng" w="31950">
            <a:solidFill>
              <a:schemeClr val="lt1"/>
            </a:solidFill>
            <a:prstDash val="solid"/>
            <a:round/>
            <a:headEnd len="sm" w="sm" type="none"/>
            <a:tailEnd len="sm" w="sm" type="none"/>
          </a:ln>
        </p:spPr>
        <p:txBody>
          <a:bodyPr anchorCtr="0" anchor="t"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event_context_t</a:t>
            </a:r>
            <a:endParaRPr b="1" sz="1174">
              <a:solidFill>
                <a:srgbClr val="FFFFFF"/>
              </a:solidFill>
            </a:endParaRPr>
          </a:p>
        </p:txBody>
      </p:sp>
      <p:sp>
        <p:nvSpPr>
          <p:cNvPr id="269" name="Google Shape;269;p24"/>
          <p:cNvSpPr/>
          <p:nvPr/>
        </p:nvSpPr>
        <p:spPr>
          <a:xfrm>
            <a:off x="2894857" y="1848611"/>
            <a:ext cx="1508100" cy="2940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timestamp</a:t>
            </a:r>
            <a:endParaRPr b="1" sz="1174">
              <a:solidFill>
                <a:srgbClr val="FFFFFF"/>
              </a:solidFill>
            </a:endParaRPr>
          </a:p>
        </p:txBody>
      </p:sp>
      <p:sp>
        <p:nvSpPr>
          <p:cNvPr id="270" name="Google Shape;270;p24"/>
          <p:cNvSpPr/>
          <p:nvPr/>
        </p:nvSpPr>
        <p:spPr>
          <a:xfrm>
            <a:off x="2894857" y="2138676"/>
            <a:ext cx="1508100" cy="2940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event ID</a:t>
            </a:r>
            <a:endParaRPr b="1" sz="1174">
              <a:solidFill>
                <a:srgbClr val="FFFFFF"/>
              </a:solidFill>
            </a:endParaRPr>
          </a:p>
        </p:txBody>
      </p:sp>
      <p:sp>
        <p:nvSpPr>
          <p:cNvPr id="271" name="Google Shape;271;p24"/>
          <p:cNvSpPr/>
          <p:nvPr/>
        </p:nvSpPr>
        <p:spPr>
          <a:xfrm>
            <a:off x="2894857" y="2432723"/>
            <a:ext cx="1508100" cy="2940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task_context_t</a:t>
            </a:r>
            <a:endParaRPr b="1" sz="1174">
              <a:solidFill>
                <a:srgbClr val="FFFFFF"/>
              </a:solidFill>
            </a:endParaRPr>
          </a:p>
        </p:txBody>
      </p:sp>
      <p:sp>
        <p:nvSpPr>
          <p:cNvPr id="272" name="Google Shape;272;p24"/>
          <p:cNvSpPr/>
          <p:nvPr/>
        </p:nvSpPr>
        <p:spPr>
          <a:xfrm>
            <a:off x="2830841" y="2896222"/>
            <a:ext cx="1635900" cy="1243800"/>
          </a:xfrm>
          <a:prstGeom prst="rect">
            <a:avLst/>
          </a:prstGeom>
          <a:solidFill>
            <a:srgbClr val="1155CC"/>
          </a:solidFill>
          <a:ln cap="flat" cmpd="sng" w="31950">
            <a:solidFill>
              <a:schemeClr val="lt1"/>
            </a:solidFill>
            <a:prstDash val="solid"/>
            <a:round/>
            <a:headEnd len="sm" w="sm" type="none"/>
            <a:tailEnd len="sm" w="sm" type="none"/>
          </a:ln>
        </p:spPr>
        <p:txBody>
          <a:bodyPr anchorCtr="0" anchor="t"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args_buffer_t</a:t>
            </a:r>
            <a:endParaRPr b="1" sz="1174">
              <a:solidFill>
                <a:srgbClr val="FFFFFF"/>
              </a:solidFill>
            </a:endParaRPr>
          </a:p>
        </p:txBody>
      </p:sp>
      <p:sp>
        <p:nvSpPr>
          <p:cNvPr id="273" name="Google Shape;273;p24"/>
          <p:cNvSpPr/>
          <p:nvPr/>
        </p:nvSpPr>
        <p:spPr>
          <a:xfrm>
            <a:off x="2894857" y="3190269"/>
            <a:ext cx="1508100" cy="8448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Indexed and serialized arguments.</a:t>
            </a:r>
            <a:endParaRPr b="1" sz="1174">
              <a:solidFill>
                <a:srgbClr val="FFFFFF"/>
              </a:solidFill>
            </a:endParaRPr>
          </a:p>
        </p:txBody>
      </p:sp>
      <p:sp>
        <p:nvSpPr>
          <p:cNvPr id="274" name="Google Shape;274;p24"/>
          <p:cNvSpPr/>
          <p:nvPr/>
        </p:nvSpPr>
        <p:spPr>
          <a:xfrm>
            <a:off x="212850" y="4358450"/>
            <a:ext cx="8718300" cy="618000"/>
          </a:xfrm>
          <a:prstGeom prst="roundRect">
            <a:avLst>
              <a:gd fmla="val 16667" name="adj"/>
            </a:avLst>
          </a:prstGeom>
          <a:solidFill>
            <a:schemeClr val="lt2"/>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spcBef>
                <a:spcPts val="0"/>
              </a:spcBef>
              <a:spcAft>
                <a:spcPts val="0"/>
              </a:spcAft>
              <a:buNone/>
            </a:pPr>
            <a:r>
              <a:rPr b="1" lang="it" sz="1600">
                <a:solidFill>
                  <a:srgbClr val="042543"/>
                </a:solidFill>
              </a:rPr>
              <a:t>When the return value is required, entry stores the arguments and exit completes the event with the syscall outcome.</a:t>
            </a:r>
            <a:endParaRPr b="1" sz="1200">
              <a:solidFill>
                <a:srgbClr val="042543"/>
              </a:solidFill>
            </a:endParaRPr>
          </a:p>
        </p:txBody>
      </p:sp>
      <p:sp>
        <p:nvSpPr>
          <p:cNvPr id="275" name="Google Shape;275;p24"/>
          <p:cNvSpPr/>
          <p:nvPr/>
        </p:nvSpPr>
        <p:spPr>
          <a:xfrm>
            <a:off x="5198800" y="801000"/>
            <a:ext cx="1895100" cy="6717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init_program_data()</a:t>
            </a:r>
            <a:endParaRPr b="1" sz="1174">
              <a:solidFill>
                <a:srgbClr val="FFFFFF"/>
              </a:solidFill>
            </a:endParaRPr>
          </a:p>
        </p:txBody>
      </p:sp>
      <p:sp>
        <p:nvSpPr>
          <p:cNvPr id="276" name="Google Shape;276;p24"/>
          <p:cNvSpPr/>
          <p:nvPr/>
        </p:nvSpPr>
        <p:spPr>
          <a:xfrm>
            <a:off x="5198800" y="2042212"/>
            <a:ext cx="1895100" cy="671700"/>
          </a:xfrm>
          <a:prstGeom prst="rect">
            <a:avLst/>
          </a:prstGeom>
          <a:solidFill>
            <a:srgbClr val="1155CC"/>
          </a:solidFill>
          <a:ln cap="flat" cmpd="sng" w="31950">
            <a:solidFill>
              <a:schemeClr val="lt1"/>
            </a:solidFill>
            <a:prstDash val="solid"/>
            <a:round/>
            <a:headEnd len="sm" w="sm" type="none"/>
            <a:tailEnd len="sm" w="sm" type="none"/>
          </a:ln>
        </p:spPr>
        <p:txBody>
          <a:bodyPr anchorCtr="0" anchor="t"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save_to_submit_buf() /</a:t>
            </a:r>
            <a:endParaRPr b="1" sz="1174">
              <a:solidFill>
                <a:srgbClr val="FFFFFF"/>
              </a:solidFill>
            </a:endParaRPr>
          </a:p>
          <a:p>
            <a:pPr indent="0" lvl="0" marL="0" rtl="0" algn="ctr">
              <a:spcBef>
                <a:spcPts val="0"/>
              </a:spcBef>
              <a:spcAft>
                <a:spcPts val="0"/>
              </a:spcAft>
              <a:buNone/>
            </a:pPr>
            <a:r>
              <a:rPr b="1" lang="it" sz="1174">
                <a:solidFill>
                  <a:srgbClr val="FFFFFF"/>
                </a:solidFill>
              </a:rPr>
              <a:t>save_str_to_buf() /</a:t>
            </a:r>
            <a:endParaRPr b="1" sz="1174">
              <a:solidFill>
                <a:srgbClr val="FFFFFF"/>
              </a:solidFill>
            </a:endParaRPr>
          </a:p>
          <a:p>
            <a:pPr indent="0" lvl="0" marL="0" rtl="0" algn="ctr">
              <a:spcBef>
                <a:spcPts val="0"/>
              </a:spcBef>
              <a:spcAft>
                <a:spcPts val="0"/>
              </a:spcAft>
              <a:buNone/>
            </a:pPr>
            <a:r>
              <a:rPr b="1" lang="it" sz="1174">
                <a:solidFill>
                  <a:srgbClr val="FFFFFF"/>
                </a:solidFill>
              </a:rPr>
              <a:t>save_str_arr_to_buf()</a:t>
            </a:r>
            <a:endParaRPr b="1" sz="1174">
              <a:solidFill>
                <a:srgbClr val="FFFFFF"/>
              </a:solidFill>
            </a:endParaRPr>
          </a:p>
        </p:txBody>
      </p:sp>
      <p:sp>
        <p:nvSpPr>
          <p:cNvPr id="277" name="Google Shape;277;p24"/>
          <p:cNvSpPr/>
          <p:nvPr/>
        </p:nvSpPr>
        <p:spPr>
          <a:xfrm>
            <a:off x="5198800" y="3283437"/>
            <a:ext cx="1895100" cy="671700"/>
          </a:xfrm>
          <a:prstGeom prst="rect">
            <a:avLst/>
          </a:prstGeom>
          <a:solidFill>
            <a:srgbClr val="1155CC"/>
          </a:solidFill>
          <a:ln cap="flat" cmpd="sng" w="31950">
            <a:solidFill>
              <a:schemeClr val="lt1"/>
            </a:solidFill>
            <a:prstDash val="solid"/>
            <a:round/>
            <a:headEnd len="sm" w="sm" type="none"/>
            <a:tailEnd len="sm" w="sm" type="none"/>
          </a:ln>
        </p:spPr>
        <p:txBody>
          <a:bodyPr anchorCtr="0" anchor="ctr" bIns="76650" lIns="76650" spcFirstLastPara="1" rIns="76650" wrap="square" tIns="76650">
            <a:noAutofit/>
          </a:bodyPr>
          <a:lstStyle/>
          <a:p>
            <a:pPr indent="0" lvl="0" marL="0" rtl="0" algn="ctr">
              <a:spcBef>
                <a:spcPts val="0"/>
              </a:spcBef>
              <a:spcAft>
                <a:spcPts val="0"/>
              </a:spcAft>
              <a:buNone/>
            </a:pPr>
            <a:r>
              <a:rPr b="1" lang="it" sz="1174">
                <a:solidFill>
                  <a:srgbClr val="FFFFFF"/>
                </a:solidFill>
              </a:rPr>
              <a:t>events_perf_submit()</a:t>
            </a:r>
            <a:endParaRPr b="1" sz="1174">
              <a:solidFill>
                <a:srgbClr val="FFFFFF"/>
              </a:solidFill>
            </a:endParaRPr>
          </a:p>
        </p:txBody>
      </p:sp>
      <p:cxnSp>
        <p:nvCxnSpPr>
          <p:cNvPr id="278" name="Google Shape;278;p24"/>
          <p:cNvCxnSpPr>
            <a:stCxn id="275" idx="2"/>
            <a:endCxn id="276" idx="0"/>
          </p:cNvCxnSpPr>
          <p:nvPr/>
        </p:nvCxnSpPr>
        <p:spPr>
          <a:xfrm>
            <a:off x="6146350" y="1472700"/>
            <a:ext cx="0" cy="569400"/>
          </a:xfrm>
          <a:prstGeom prst="straightConnector1">
            <a:avLst/>
          </a:prstGeom>
          <a:noFill/>
          <a:ln cap="flat" cmpd="sng" w="38100">
            <a:solidFill>
              <a:srgbClr val="60B28E"/>
            </a:solidFill>
            <a:prstDash val="solid"/>
            <a:round/>
            <a:headEnd len="med" w="med" type="none"/>
            <a:tailEnd len="med" w="med" type="triangle"/>
          </a:ln>
        </p:spPr>
      </p:cxnSp>
      <p:cxnSp>
        <p:nvCxnSpPr>
          <p:cNvPr id="279" name="Google Shape;279;p24"/>
          <p:cNvCxnSpPr>
            <a:stCxn id="276" idx="2"/>
            <a:endCxn id="277" idx="0"/>
          </p:cNvCxnSpPr>
          <p:nvPr/>
        </p:nvCxnSpPr>
        <p:spPr>
          <a:xfrm>
            <a:off x="6146350" y="2713912"/>
            <a:ext cx="0" cy="569400"/>
          </a:xfrm>
          <a:prstGeom prst="straightConnector1">
            <a:avLst/>
          </a:prstGeom>
          <a:noFill/>
          <a:ln cap="flat" cmpd="sng" w="38100">
            <a:solidFill>
              <a:srgbClr val="60B28E"/>
            </a:solidFill>
            <a:prstDash val="solid"/>
            <a:round/>
            <a:headEnd len="med" w="med" type="none"/>
            <a:tailEnd len="med" w="med" type="triangle"/>
          </a:ln>
        </p:spPr>
      </p:cxnSp>
      <p:sp>
        <p:nvSpPr>
          <p:cNvPr id="280" name="Google Shape;280;p24"/>
          <p:cNvSpPr txBox="1"/>
          <p:nvPr/>
        </p:nvSpPr>
        <p:spPr>
          <a:xfrm>
            <a:off x="7182000" y="874200"/>
            <a:ext cx="18012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6D9EEB"/>
                </a:solidFill>
              </a:rPr>
              <a:t>Context Initialization</a:t>
            </a:r>
            <a:endParaRPr b="1">
              <a:solidFill>
                <a:schemeClr val="lt1"/>
              </a:solidFill>
            </a:endParaRPr>
          </a:p>
        </p:txBody>
      </p:sp>
      <p:sp>
        <p:nvSpPr>
          <p:cNvPr id="281" name="Google Shape;281;p24"/>
          <p:cNvSpPr txBox="1"/>
          <p:nvPr/>
        </p:nvSpPr>
        <p:spPr>
          <a:xfrm>
            <a:off x="7182000" y="2115400"/>
            <a:ext cx="18012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6D9EEB"/>
                </a:solidFill>
              </a:rPr>
              <a:t>Typed Serialization</a:t>
            </a:r>
            <a:endParaRPr b="1">
              <a:solidFill>
                <a:schemeClr val="lt1"/>
              </a:solidFill>
            </a:endParaRPr>
          </a:p>
        </p:txBody>
      </p:sp>
      <p:sp>
        <p:nvSpPr>
          <p:cNvPr id="282" name="Google Shape;282;p24"/>
          <p:cNvSpPr txBox="1"/>
          <p:nvPr/>
        </p:nvSpPr>
        <p:spPr>
          <a:xfrm>
            <a:off x="7182000" y="3350025"/>
            <a:ext cx="18012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6D9EEB"/>
                </a:solidFill>
              </a:rPr>
              <a:t>Perf-Buffer Submission</a:t>
            </a:r>
            <a:endParaRPr b="1">
              <a:solidFill>
                <a:schemeClr val="lt1"/>
              </a:solidFill>
            </a:endParaRPr>
          </a:p>
        </p:txBody>
      </p:sp>
      <p:sp>
        <p:nvSpPr>
          <p:cNvPr id="283" name="Google Shape;28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287" name="Shape 287"/>
        <p:cNvGrpSpPr/>
        <p:nvPr/>
      </p:nvGrpSpPr>
      <p:grpSpPr>
        <a:xfrm>
          <a:off x="0" y="0"/>
          <a:ext cx="0" cy="0"/>
          <a:chOff x="0" y="0"/>
          <a:chExt cx="0" cy="0"/>
        </a:xfrm>
      </p:grpSpPr>
      <p:sp>
        <p:nvSpPr>
          <p:cNvPr id="288" name="Google Shape;288;p25"/>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chemeClr val="lt1"/>
                </a:solidFill>
                <a:latin typeface="Roboto ExtraBold"/>
                <a:ea typeface="Roboto ExtraBold"/>
                <a:cs typeface="Roboto ExtraBold"/>
                <a:sym typeface="Roboto ExtraBold"/>
              </a:rPr>
              <a:t>Process Lifecycle</a:t>
            </a:r>
            <a:endParaRPr sz="2800">
              <a:solidFill>
                <a:schemeClr val="lt1"/>
              </a:solidFill>
              <a:latin typeface="Roboto ExtraBold"/>
              <a:ea typeface="Roboto ExtraBold"/>
              <a:cs typeface="Roboto ExtraBold"/>
              <a:sym typeface="Roboto ExtraBold"/>
            </a:endParaRPr>
          </a:p>
        </p:txBody>
      </p:sp>
      <p:cxnSp>
        <p:nvCxnSpPr>
          <p:cNvPr id="289" name="Google Shape;289;p25"/>
          <p:cNvCxnSpPr/>
          <p:nvPr/>
        </p:nvCxnSpPr>
        <p:spPr>
          <a:xfrm>
            <a:off x="290350" y="2770850"/>
            <a:ext cx="8744100" cy="0"/>
          </a:xfrm>
          <a:prstGeom prst="straightConnector1">
            <a:avLst/>
          </a:prstGeom>
          <a:noFill/>
          <a:ln cap="flat" cmpd="sng" w="76200">
            <a:solidFill>
              <a:srgbClr val="60B28E"/>
            </a:solidFill>
            <a:prstDash val="solid"/>
            <a:round/>
            <a:headEnd len="med" w="med" type="none"/>
            <a:tailEnd len="med" w="med" type="triangle"/>
          </a:ln>
        </p:spPr>
      </p:cxnSp>
      <p:cxnSp>
        <p:nvCxnSpPr>
          <p:cNvPr id="290" name="Google Shape;290;p25"/>
          <p:cNvCxnSpPr/>
          <p:nvPr/>
        </p:nvCxnSpPr>
        <p:spPr>
          <a:xfrm>
            <a:off x="1330450" y="2458425"/>
            <a:ext cx="0" cy="588900"/>
          </a:xfrm>
          <a:prstGeom prst="straightConnector1">
            <a:avLst/>
          </a:prstGeom>
          <a:noFill/>
          <a:ln cap="flat" cmpd="sng" w="76200">
            <a:solidFill>
              <a:srgbClr val="60B28E"/>
            </a:solidFill>
            <a:prstDash val="solid"/>
            <a:round/>
            <a:headEnd len="med" w="med" type="none"/>
            <a:tailEnd len="med" w="med" type="none"/>
          </a:ln>
        </p:spPr>
      </p:cxnSp>
      <p:cxnSp>
        <p:nvCxnSpPr>
          <p:cNvPr id="291" name="Google Shape;291;p25"/>
          <p:cNvCxnSpPr/>
          <p:nvPr/>
        </p:nvCxnSpPr>
        <p:spPr>
          <a:xfrm>
            <a:off x="2951200" y="2458425"/>
            <a:ext cx="0" cy="588900"/>
          </a:xfrm>
          <a:prstGeom prst="straightConnector1">
            <a:avLst/>
          </a:prstGeom>
          <a:noFill/>
          <a:ln cap="flat" cmpd="sng" w="76200">
            <a:solidFill>
              <a:srgbClr val="60B28E"/>
            </a:solidFill>
            <a:prstDash val="solid"/>
            <a:round/>
            <a:headEnd len="med" w="med" type="none"/>
            <a:tailEnd len="med" w="med" type="none"/>
          </a:ln>
        </p:spPr>
      </p:cxnSp>
      <p:cxnSp>
        <p:nvCxnSpPr>
          <p:cNvPr id="292" name="Google Shape;292;p25"/>
          <p:cNvCxnSpPr/>
          <p:nvPr/>
        </p:nvCxnSpPr>
        <p:spPr>
          <a:xfrm>
            <a:off x="4580300" y="2458425"/>
            <a:ext cx="0" cy="588900"/>
          </a:xfrm>
          <a:prstGeom prst="straightConnector1">
            <a:avLst/>
          </a:prstGeom>
          <a:noFill/>
          <a:ln cap="flat" cmpd="sng" w="76200">
            <a:solidFill>
              <a:srgbClr val="60B28E"/>
            </a:solidFill>
            <a:prstDash val="solid"/>
            <a:round/>
            <a:headEnd len="med" w="med" type="none"/>
            <a:tailEnd len="med" w="med" type="none"/>
          </a:ln>
        </p:spPr>
      </p:cxnSp>
      <p:cxnSp>
        <p:nvCxnSpPr>
          <p:cNvPr id="293" name="Google Shape;293;p25"/>
          <p:cNvCxnSpPr/>
          <p:nvPr/>
        </p:nvCxnSpPr>
        <p:spPr>
          <a:xfrm>
            <a:off x="6192775" y="2458425"/>
            <a:ext cx="0" cy="588900"/>
          </a:xfrm>
          <a:prstGeom prst="straightConnector1">
            <a:avLst/>
          </a:prstGeom>
          <a:noFill/>
          <a:ln cap="flat" cmpd="sng" w="76200">
            <a:solidFill>
              <a:srgbClr val="60B28E"/>
            </a:solidFill>
            <a:prstDash val="solid"/>
            <a:round/>
            <a:headEnd len="med" w="med" type="none"/>
            <a:tailEnd len="med" w="med" type="none"/>
          </a:ln>
        </p:spPr>
      </p:cxnSp>
      <p:cxnSp>
        <p:nvCxnSpPr>
          <p:cNvPr id="294" name="Google Shape;294;p25"/>
          <p:cNvCxnSpPr/>
          <p:nvPr/>
        </p:nvCxnSpPr>
        <p:spPr>
          <a:xfrm>
            <a:off x="7813550" y="2458425"/>
            <a:ext cx="0" cy="588900"/>
          </a:xfrm>
          <a:prstGeom prst="straightConnector1">
            <a:avLst/>
          </a:prstGeom>
          <a:noFill/>
          <a:ln cap="flat" cmpd="sng" w="76200">
            <a:solidFill>
              <a:srgbClr val="60B28E"/>
            </a:solidFill>
            <a:prstDash val="solid"/>
            <a:round/>
            <a:headEnd len="med" w="med" type="none"/>
            <a:tailEnd len="med" w="med" type="none"/>
          </a:ln>
        </p:spPr>
      </p:cxnSp>
      <p:sp>
        <p:nvSpPr>
          <p:cNvPr id="295" name="Google Shape;295;p25"/>
          <p:cNvSpPr/>
          <p:nvPr/>
        </p:nvSpPr>
        <p:spPr>
          <a:xfrm>
            <a:off x="59500" y="662375"/>
            <a:ext cx="2541900" cy="17055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fork / vfork / clone</a:t>
            </a:r>
            <a:endParaRPr b="1" sz="1800">
              <a:solidFill>
                <a:schemeClr val="lt1"/>
              </a:solidFill>
            </a:endParaRPr>
          </a:p>
          <a:p>
            <a:pPr indent="0" lvl="0" marL="0" rtl="0" algn="ctr">
              <a:spcBef>
                <a:spcPts val="0"/>
              </a:spcBef>
              <a:spcAft>
                <a:spcPts val="0"/>
              </a:spcAft>
              <a:buNone/>
            </a:pPr>
            <a:r>
              <a:rPr b="1" lang="it" sz="1600">
                <a:solidFill>
                  <a:schemeClr val="lt1"/>
                </a:solidFill>
              </a:rPr>
              <a:t>Syscall Request:</a:t>
            </a:r>
            <a:endParaRPr b="1" sz="1600">
              <a:solidFill>
                <a:schemeClr val="lt1"/>
              </a:solidFill>
            </a:endParaRPr>
          </a:p>
          <a:p>
            <a:pPr indent="0" lvl="0" marL="0" rtl="0" algn="ctr">
              <a:spcBef>
                <a:spcPts val="0"/>
              </a:spcBef>
              <a:spcAft>
                <a:spcPts val="0"/>
              </a:spcAft>
              <a:buNone/>
            </a:pPr>
            <a:r>
              <a:rPr lang="it" sz="1600">
                <a:solidFill>
                  <a:schemeClr val="lt1"/>
                </a:solidFill>
              </a:rPr>
              <a:t>Capture the initial process-creation request.</a:t>
            </a:r>
            <a:endParaRPr sz="1600">
              <a:solidFill>
                <a:schemeClr val="lt1"/>
              </a:solidFill>
            </a:endParaRPr>
          </a:p>
        </p:txBody>
      </p:sp>
      <p:sp>
        <p:nvSpPr>
          <p:cNvPr id="296" name="Google Shape;296;p25"/>
          <p:cNvSpPr/>
          <p:nvPr/>
        </p:nvSpPr>
        <p:spPr>
          <a:xfrm>
            <a:off x="1680250" y="3101850"/>
            <a:ext cx="2541900" cy="17055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sched_process_fork</a:t>
            </a:r>
            <a:endParaRPr b="1" sz="1800">
              <a:solidFill>
                <a:schemeClr val="lt1"/>
              </a:solidFill>
            </a:endParaRPr>
          </a:p>
          <a:p>
            <a:pPr indent="0" lvl="0" marL="0" rtl="0" algn="ctr">
              <a:spcBef>
                <a:spcPts val="0"/>
              </a:spcBef>
              <a:spcAft>
                <a:spcPts val="0"/>
              </a:spcAft>
              <a:buNone/>
            </a:pPr>
            <a:r>
              <a:rPr b="1" lang="it" sz="1600">
                <a:solidFill>
                  <a:schemeClr val="lt1"/>
                </a:solidFill>
              </a:rPr>
              <a:t>Parent-child relationship:</a:t>
            </a:r>
            <a:endParaRPr b="1" sz="1600">
              <a:solidFill>
                <a:schemeClr val="lt1"/>
              </a:solidFill>
            </a:endParaRPr>
          </a:p>
          <a:p>
            <a:pPr indent="0" lvl="0" marL="0" rtl="0" algn="ctr">
              <a:spcBef>
                <a:spcPts val="0"/>
              </a:spcBef>
              <a:spcAft>
                <a:spcPts val="0"/>
              </a:spcAft>
              <a:buNone/>
            </a:pPr>
            <a:r>
              <a:rPr lang="it" sz="1600">
                <a:solidFill>
                  <a:schemeClr val="lt1"/>
                </a:solidFill>
              </a:rPr>
              <a:t>Observe the task relationship established by the kernel.</a:t>
            </a:r>
            <a:endParaRPr sz="1600">
              <a:solidFill>
                <a:schemeClr val="lt1"/>
              </a:solidFill>
            </a:endParaRPr>
          </a:p>
        </p:txBody>
      </p:sp>
      <p:sp>
        <p:nvSpPr>
          <p:cNvPr id="297" name="Google Shape;297;p25"/>
          <p:cNvSpPr/>
          <p:nvPr/>
        </p:nvSpPr>
        <p:spPr>
          <a:xfrm>
            <a:off x="3309350" y="662375"/>
            <a:ext cx="2541900" cy="17055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task_rename</a:t>
            </a:r>
            <a:endParaRPr b="1" sz="1800">
              <a:solidFill>
                <a:schemeClr val="lt1"/>
              </a:solidFill>
            </a:endParaRPr>
          </a:p>
          <a:p>
            <a:pPr indent="0" lvl="0" marL="0" rtl="0" algn="ctr">
              <a:spcBef>
                <a:spcPts val="0"/>
              </a:spcBef>
              <a:spcAft>
                <a:spcPts val="0"/>
              </a:spcAft>
              <a:buNone/>
            </a:pPr>
            <a:r>
              <a:rPr b="1" lang="it" sz="1600">
                <a:solidFill>
                  <a:schemeClr val="lt1"/>
                </a:solidFill>
              </a:rPr>
              <a:t>Task transition:</a:t>
            </a:r>
            <a:endParaRPr b="1" sz="1600">
              <a:solidFill>
                <a:schemeClr val="lt1"/>
              </a:solidFill>
            </a:endParaRPr>
          </a:p>
          <a:p>
            <a:pPr indent="0" lvl="0" marL="0" rtl="0" algn="ctr">
              <a:spcBef>
                <a:spcPts val="0"/>
              </a:spcBef>
              <a:spcAft>
                <a:spcPts val="0"/>
              </a:spcAft>
              <a:buNone/>
            </a:pPr>
            <a:r>
              <a:rPr lang="it" sz="1600">
                <a:solidFill>
                  <a:schemeClr val="lt1"/>
                </a:solidFill>
              </a:rPr>
              <a:t>Track changes to the process comm.</a:t>
            </a:r>
            <a:endParaRPr sz="1600">
              <a:solidFill>
                <a:schemeClr val="lt1"/>
              </a:solidFill>
            </a:endParaRPr>
          </a:p>
        </p:txBody>
      </p:sp>
      <p:sp>
        <p:nvSpPr>
          <p:cNvPr id="298" name="Google Shape;298;p25"/>
          <p:cNvSpPr/>
          <p:nvPr/>
        </p:nvSpPr>
        <p:spPr>
          <a:xfrm>
            <a:off x="4921825" y="3101850"/>
            <a:ext cx="2541900" cy="17055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sched_process_exec</a:t>
            </a:r>
            <a:endParaRPr b="1" sz="1800">
              <a:solidFill>
                <a:schemeClr val="lt1"/>
              </a:solidFill>
            </a:endParaRPr>
          </a:p>
          <a:p>
            <a:pPr indent="0" lvl="0" marL="0" rtl="0" algn="ctr">
              <a:spcBef>
                <a:spcPts val="0"/>
              </a:spcBef>
              <a:spcAft>
                <a:spcPts val="0"/>
              </a:spcAft>
              <a:buNone/>
            </a:pPr>
            <a:r>
              <a:rPr b="1" lang="it" sz="1600">
                <a:solidFill>
                  <a:schemeClr val="lt1"/>
                </a:solidFill>
              </a:rPr>
              <a:t>Executable image:</a:t>
            </a:r>
            <a:endParaRPr b="1" sz="1600">
              <a:solidFill>
                <a:schemeClr val="lt1"/>
              </a:solidFill>
            </a:endParaRPr>
          </a:p>
          <a:p>
            <a:pPr indent="0" lvl="0" marL="0" rtl="0" algn="ctr">
              <a:spcBef>
                <a:spcPts val="0"/>
              </a:spcBef>
              <a:spcAft>
                <a:spcPts val="0"/>
              </a:spcAft>
              <a:buNone/>
            </a:pPr>
            <a:r>
              <a:rPr lang="it" sz="1600">
                <a:solidFill>
                  <a:schemeClr val="lt1"/>
                </a:solidFill>
              </a:rPr>
              <a:t>Confirm successful image replacement.</a:t>
            </a:r>
            <a:endParaRPr sz="1600">
              <a:solidFill>
                <a:schemeClr val="lt1"/>
              </a:solidFill>
            </a:endParaRPr>
          </a:p>
        </p:txBody>
      </p:sp>
      <p:sp>
        <p:nvSpPr>
          <p:cNvPr id="299" name="Google Shape;299;p25"/>
          <p:cNvSpPr/>
          <p:nvPr/>
        </p:nvSpPr>
        <p:spPr>
          <a:xfrm>
            <a:off x="6542600" y="662375"/>
            <a:ext cx="2541900" cy="1705500"/>
          </a:xfrm>
          <a:prstGeom prst="rect">
            <a:avLst/>
          </a:prstGeom>
          <a:noFill/>
          <a:ln cap="flat" cmpd="sng" w="38100">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lt1"/>
                </a:solidFill>
              </a:rPr>
              <a:t>sched_process_exit</a:t>
            </a:r>
            <a:endParaRPr b="1" sz="1800">
              <a:solidFill>
                <a:schemeClr val="lt1"/>
              </a:solidFill>
            </a:endParaRPr>
          </a:p>
          <a:p>
            <a:pPr indent="0" lvl="0" marL="0" rtl="0" algn="ctr">
              <a:spcBef>
                <a:spcPts val="0"/>
              </a:spcBef>
              <a:spcAft>
                <a:spcPts val="0"/>
              </a:spcAft>
              <a:buNone/>
            </a:pPr>
            <a:r>
              <a:rPr b="1" lang="it" sz="1600">
                <a:solidFill>
                  <a:schemeClr val="lt1"/>
                </a:solidFill>
              </a:rPr>
              <a:t>Termination</a:t>
            </a:r>
            <a:r>
              <a:rPr b="1" lang="it" sz="1600">
                <a:solidFill>
                  <a:schemeClr val="lt1"/>
                </a:solidFill>
              </a:rPr>
              <a:t>:</a:t>
            </a:r>
            <a:endParaRPr b="1" sz="1600">
              <a:solidFill>
                <a:schemeClr val="lt1"/>
              </a:solidFill>
            </a:endParaRPr>
          </a:p>
          <a:p>
            <a:pPr indent="0" lvl="0" marL="0" rtl="0" algn="ctr">
              <a:spcBef>
                <a:spcPts val="0"/>
              </a:spcBef>
              <a:spcAft>
                <a:spcPts val="0"/>
              </a:spcAft>
              <a:buNone/>
            </a:pPr>
            <a:r>
              <a:rPr lang="it" sz="1600">
                <a:solidFill>
                  <a:schemeClr val="lt1"/>
                </a:solidFill>
              </a:rPr>
              <a:t>Record process exit and exit code.</a:t>
            </a:r>
            <a:endParaRPr sz="1600">
              <a:solidFill>
                <a:schemeClr val="lt1"/>
              </a:solidFill>
            </a:endParaRPr>
          </a:p>
        </p:txBody>
      </p:sp>
      <p:sp>
        <p:nvSpPr>
          <p:cNvPr id="300" name="Google Shape;30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26"/>
          <p:cNvSpPr/>
          <p:nvPr/>
        </p:nvSpPr>
        <p:spPr>
          <a:xfrm>
            <a:off x="68975" y="1404900"/>
            <a:ext cx="2049000" cy="2268900"/>
          </a:xfrm>
          <a:prstGeom prst="rect">
            <a:avLst/>
          </a:prstGeom>
          <a:noFill/>
          <a:ln cap="flat" cmpd="sng" w="28575">
            <a:solidFill>
              <a:schemeClr val="dk2"/>
            </a:solidFill>
            <a:prstDash val="dot"/>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a:t>Initial request</a:t>
            </a:r>
            <a:endParaRPr b="1"/>
          </a:p>
        </p:txBody>
      </p:sp>
      <p:sp>
        <p:nvSpPr>
          <p:cNvPr id="306" name="Google Shape;306;p26"/>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l">
              <a:spcBef>
                <a:spcPts val="0"/>
              </a:spcBef>
              <a:spcAft>
                <a:spcPts val="0"/>
              </a:spcAft>
              <a:buNone/>
            </a:pPr>
            <a:r>
              <a:rPr lang="it" sz="2800">
                <a:solidFill>
                  <a:srgbClr val="042543"/>
                </a:solidFill>
                <a:latin typeface="Roboto ExtraBold"/>
                <a:ea typeface="Roboto ExtraBold"/>
                <a:cs typeface="Roboto ExtraBold"/>
                <a:sym typeface="Roboto ExtraBold"/>
              </a:rPr>
              <a:t>Execution Monitoring: Attempts and Outcomes</a:t>
            </a:r>
            <a:endParaRPr sz="2800">
              <a:solidFill>
                <a:srgbClr val="042543"/>
              </a:solidFill>
              <a:latin typeface="Roboto ExtraBold"/>
              <a:ea typeface="Roboto ExtraBold"/>
              <a:cs typeface="Roboto ExtraBold"/>
              <a:sym typeface="Roboto ExtraBold"/>
            </a:endParaRPr>
          </a:p>
        </p:txBody>
      </p:sp>
      <p:sp>
        <p:nvSpPr>
          <p:cNvPr id="307" name="Google Shape;307;p26"/>
          <p:cNvSpPr/>
          <p:nvPr/>
        </p:nvSpPr>
        <p:spPr>
          <a:xfrm>
            <a:off x="262475" y="1881713"/>
            <a:ext cx="1662000" cy="6360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dk1"/>
                </a:solidFill>
              </a:rPr>
              <a:t>execve</a:t>
            </a:r>
            <a:endParaRPr b="1" sz="1600">
              <a:solidFill>
                <a:schemeClr val="dk1"/>
              </a:solidFill>
            </a:endParaRPr>
          </a:p>
        </p:txBody>
      </p:sp>
      <p:sp>
        <p:nvSpPr>
          <p:cNvPr id="308" name="Google Shape;308;p26"/>
          <p:cNvSpPr/>
          <p:nvPr/>
        </p:nvSpPr>
        <p:spPr>
          <a:xfrm>
            <a:off x="262475" y="2722688"/>
            <a:ext cx="1662000" cy="6360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dk1"/>
                </a:solidFill>
              </a:rPr>
              <a:t>execveat</a:t>
            </a:r>
            <a:endParaRPr b="1" sz="1600">
              <a:solidFill>
                <a:schemeClr val="dk1"/>
              </a:solidFill>
            </a:endParaRPr>
          </a:p>
        </p:txBody>
      </p:sp>
      <p:sp>
        <p:nvSpPr>
          <p:cNvPr id="309" name="Google Shape;309;p26"/>
          <p:cNvSpPr/>
          <p:nvPr/>
        </p:nvSpPr>
        <p:spPr>
          <a:xfrm>
            <a:off x="2552525" y="1992450"/>
            <a:ext cx="2411100" cy="1093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dk1"/>
                </a:solidFill>
              </a:rPr>
              <a:t>security_bprm_check</a:t>
            </a:r>
            <a:endParaRPr b="1" sz="1600">
              <a:solidFill>
                <a:schemeClr val="dk1"/>
              </a:solidFill>
            </a:endParaRPr>
          </a:p>
          <a:p>
            <a:pPr indent="0" lvl="0" marL="0" rtl="0" algn="ctr">
              <a:spcBef>
                <a:spcPts val="0"/>
              </a:spcBef>
              <a:spcAft>
                <a:spcPts val="0"/>
              </a:spcAft>
              <a:buNone/>
            </a:pPr>
            <a:r>
              <a:rPr b="1" lang="it">
                <a:solidFill>
                  <a:schemeClr val="dk1"/>
                </a:solidFill>
              </a:rPr>
              <a:t>Security Validation:</a:t>
            </a:r>
            <a:endParaRPr b="1">
              <a:solidFill>
                <a:schemeClr val="dk1"/>
              </a:solidFill>
            </a:endParaRPr>
          </a:p>
          <a:p>
            <a:pPr indent="0" lvl="0" marL="0" rtl="0" algn="ctr">
              <a:spcBef>
                <a:spcPts val="0"/>
              </a:spcBef>
              <a:spcAft>
                <a:spcPts val="0"/>
              </a:spcAft>
              <a:buNone/>
            </a:pPr>
            <a:r>
              <a:rPr lang="it">
                <a:solidFill>
                  <a:schemeClr val="dk1"/>
                </a:solidFill>
              </a:rPr>
              <a:t>Observes executable-image security checks.</a:t>
            </a:r>
            <a:endParaRPr>
              <a:solidFill>
                <a:schemeClr val="dk1"/>
              </a:solidFill>
            </a:endParaRPr>
          </a:p>
        </p:txBody>
      </p:sp>
      <p:sp>
        <p:nvSpPr>
          <p:cNvPr id="310" name="Google Shape;310;p26"/>
          <p:cNvSpPr/>
          <p:nvPr/>
        </p:nvSpPr>
        <p:spPr>
          <a:xfrm>
            <a:off x="5398175" y="1992450"/>
            <a:ext cx="3495000" cy="1093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dk1"/>
                </a:solidFill>
              </a:rPr>
              <a:t>security_bprm_creds_for_exec</a:t>
            </a:r>
            <a:endParaRPr b="1" sz="1600">
              <a:solidFill>
                <a:schemeClr val="dk1"/>
              </a:solidFill>
            </a:endParaRPr>
          </a:p>
          <a:p>
            <a:pPr indent="0" lvl="0" marL="0" rtl="0" algn="ctr">
              <a:spcBef>
                <a:spcPts val="0"/>
              </a:spcBef>
              <a:spcAft>
                <a:spcPts val="0"/>
              </a:spcAft>
              <a:buClr>
                <a:schemeClr val="dk1"/>
              </a:buClr>
              <a:buSzPts val="1100"/>
              <a:buFont typeface="Arial"/>
              <a:buNone/>
            </a:pPr>
            <a:r>
              <a:rPr b="1" lang="it">
                <a:solidFill>
                  <a:srgbClr val="042543"/>
                </a:solidFill>
              </a:rPr>
              <a:t>Credential preparation</a:t>
            </a:r>
            <a:r>
              <a:rPr b="1" lang="it">
                <a:solidFill>
                  <a:srgbClr val="042543"/>
                </a:solidFill>
              </a:rPr>
              <a:t>:</a:t>
            </a:r>
            <a:endParaRPr b="1">
              <a:solidFill>
                <a:srgbClr val="042543"/>
              </a:solidFill>
            </a:endParaRPr>
          </a:p>
          <a:p>
            <a:pPr indent="0" lvl="0" marL="0" rtl="0" algn="ctr">
              <a:spcBef>
                <a:spcPts val="0"/>
              </a:spcBef>
              <a:spcAft>
                <a:spcPts val="0"/>
              </a:spcAft>
              <a:buNone/>
            </a:pPr>
            <a:r>
              <a:rPr lang="it">
                <a:solidFill>
                  <a:srgbClr val="042543"/>
                </a:solidFill>
              </a:rPr>
              <a:t>Observes credentials prepared for the new image.</a:t>
            </a:r>
            <a:endParaRPr>
              <a:solidFill>
                <a:schemeClr val="dk1"/>
              </a:solidFill>
            </a:endParaRPr>
          </a:p>
        </p:txBody>
      </p:sp>
      <p:sp>
        <p:nvSpPr>
          <p:cNvPr id="311" name="Google Shape;311;p26"/>
          <p:cNvSpPr/>
          <p:nvPr/>
        </p:nvSpPr>
        <p:spPr>
          <a:xfrm>
            <a:off x="5398175" y="619650"/>
            <a:ext cx="3495000" cy="8847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dk1"/>
                </a:solidFill>
              </a:rPr>
              <a:t>sched_process_exec</a:t>
            </a:r>
            <a:endParaRPr b="1" sz="1600">
              <a:solidFill>
                <a:schemeClr val="dk1"/>
              </a:solidFill>
            </a:endParaRPr>
          </a:p>
          <a:p>
            <a:pPr indent="0" lvl="0" marL="0" rtl="0" algn="ctr">
              <a:spcBef>
                <a:spcPts val="0"/>
              </a:spcBef>
              <a:spcAft>
                <a:spcPts val="0"/>
              </a:spcAft>
              <a:buNone/>
            </a:pPr>
            <a:r>
              <a:rPr b="1" lang="it">
                <a:solidFill>
                  <a:schemeClr val="dk1"/>
                </a:solidFill>
              </a:rPr>
              <a:t>Successful outcome: </a:t>
            </a:r>
            <a:r>
              <a:rPr lang="it">
                <a:solidFill>
                  <a:schemeClr val="dk1"/>
                </a:solidFill>
              </a:rPr>
              <a:t>Confirms executable-image replacement.</a:t>
            </a:r>
            <a:endParaRPr>
              <a:solidFill>
                <a:schemeClr val="dk1"/>
              </a:solidFill>
            </a:endParaRPr>
          </a:p>
          <a:p>
            <a:pPr indent="0" lvl="0" marL="0" rtl="0" algn="ctr">
              <a:spcBef>
                <a:spcPts val="0"/>
              </a:spcBef>
              <a:spcAft>
                <a:spcPts val="0"/>
              </a:spcAft>
              <a:buNone/>
            </a:pPr>
            <a:r>
              <a:t/>
            </a:r>
            <a:endParaRPr>
              <a:solidFill>
                <a:schemeClr val="dk1"/>
              </a:solidFill>
            </a:endParaRPr>
          </a:p>
        </p:txBody>
      </p:sp>
      <p:sp>
        <p:nvSpPr>
          <p:cNvPr id="312" name="Google Shape;312;p26"/>
          <p:cNvSpPr/>
          <p:nvPr/>
        </p:nvSpPr>
        <p:spPr>
          <a:xfrm>
            <a:off x="5398175" y="3577950"/>
            <a:ext cx="3495000" cy="10938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600">
                <a:solidFill>
                  <a:schemeClr val="dk1"/>
                </a:solidFill>
              </a:rPr>
              <a:t>process_execute_failed</a:t>
            </a:r>
            <a:endParaRPr b="1" sz="1600">
              <a:solidFill>
                <a:schemeClr val="dk1"/>
              </a:solidFill>
            </a:endParaRPr>
          </a:p>
          <a:p>
            <a:pPr indent="0" lvl="0" marL="0" rtl="0" algn="ctr">
              <a:spcBef>
                <a:spcPts val="0"/>
              </a:spcBef>
              <a:spcAft>
                <a:spcPts val="0"/>
              </a:spcAft>
              <a:buNone/>
            </a:pPr>
            <a:r>
              <a:rPr b="1" lang="it">
                <a:solidFill>
                  <a:schemeClr val="dk1"/>
                </a:solidFill>
              </a:rPr>
              <a:t>Failed outcome: </a:t>
            </a:r>
            <a:r>
              <a:rPr lang="it">
                <a:solidFill>
                  <a:schemeClr val="dk1"/>
                </a:solidFill>
              </a:rPr>
              <a:t>Reports isolated failures with a normalized errno.</a:t>
            </a:r>
            <a:endParaRPr>
              <a:solidFill>
                <a:schemeClr val="dk1"/>
              </a:solidFill>
            </a:endParaRPr>
          </a:p>
        </p:txBody>
      </p:sp>
      <p:cxnSp>
        <p:nvCxnSpPr>
          <p:cNvPr id="313" name="Google Shape;313;p26"/>
          <p:cNvCxnSpPr>
            <a:stCxn id="305" idx="3"/>
            <a:endCxn id="309" idx="1"/>
          </p:cNvCxnSpPr>
          <p:nvPr/>
        </p:nvCxnSpPr>
        <p:spPr>
          <a:xfrm>
            <a:off x="2117975" y="2539350"/>
            <a:ext cx="434700" cy="0"/>
          </a:xfrm>
          <a:prstGeom prst="straightConnector1">
            <a:avLst/>
          </a:prstGeom>
          <a:noFill/>
          <a:ln cap="flat" cmpd="sng" w="38100">
            <a:solidFill>
              <a:srgbClr val="60B28E"/>
            </a:solidFill>
            <a:prstDash val="solid"/>
            <a:round/>
            <a:headEnd len="med" w="med" type="none"/>
            <a:tailEnd len="med" w="med" type="triangle"/>
          </a:ln>
        </p:spPr>
      </p:cxnSp>
      <p:cxnSp>
        <p:nvCxnSpPr>
          <p:cNvPr id="314" name="Google Shape;314;p26"/>
          <p:cNvCxnSpPr/>
          <p:nvPr/>
        </p:nvCxnSpPr>
        <p:spPr>
          <a:xfrm>
            <a:off x="4963625" y="2571750"/>
            <a:ext cx="434700" cy="0"/>
          </a:xfrm>
          <a:prstGeom prst="straightConnector1">
            <a:avLst/>
          </a:prstGeom>
          <a:noFill/>
          <a:ln cap="flat" cmpd="sng" w="38100">
            <a:solidFill>
              <a:srgbClr val="60B28E"/>
            </a:solidFill>
            <a:prstDash val="solid"/>
            <a:round/>
            <a:headEnd len="med" w="med" type="none"/>
            <a:tailEnd len="med" w="med" type="triangle"/>
          </a:ln>
        </p:spPr>
      </p:cxnSp>
      <p:cxnSp>
        <p:nvCxnSpPr>
          <p:cNvPr id="315" name="Google Shape;315;p26"/>
          <p:cNvCxnSpPr>
            <a:stCxn id="310" idx="0"/>
            <a:endCxn id="311" idx="2"/>
          </p:cNvCxnSpPr>
          <p:nvPr/>
        </p:nvCxnSpPr>
        <p:spPr>
          <a:xfrm rot="10800000">
            <a:off x="7145675" y="1504350"/>
            <a:ext cx="0" cy="488100"/>
          </a:xfrm>
          <a:prstGeom prst="straightConnector1">
            <a:avLst/>
          </a:prstGeom>
          <a:noFill/>
          <a:ln cap="flat" cmpd="sng" w="38100">
            <a:solidFill>
              <a:srgbClr val="60B28E"/>
            </a:solidFill>
            <a:prstDash val="solid"/>
            <a:round/>
            <a:headEnd len="med" w="med" type="none"/>
            <a:tailEnd len="med" w="med" type="triangle"/>
          </a:ln>
        </p:spPr>
      </p:cxnSp>
      <p:cxnSp>
        <p:nvCxnSpPr>
          <p:cNvPr id="316" name="Google Shape;316;p26"/>
          <p:cNvCxnSpPr>
            <a:stCxn id="310" idx="2"/>
            <a:endCxn id="312" idx="0"/>
          </p:cNvCxnSpPr>
          <p:nvPr/>
        </p:nvCxnSpPr>
        <p:spPr>
          <a:xfrm>
            <a:off x="7145675" y="3086250"/>
            <a:ext cx="0" cy="491700"/>
          </a:xfrm>
          <a:prstGeom prst="straightConnector1">
            <a:avLst/>
          </a:prstGeom>
          <a:noFill/>
          <a:ln cap="flat" cmpd="sng" w="38100">
            <a:solidFill>
              <a:srgbClr val="CC0000"/>
            </a:solidFill>
            <a:prstDash val="solid"/>
            <a:round/>
            <a:headEnd len="med" w="med" type="none"/>
            <a:tailEnd len="med" w="med" type="triangle"/>
          </a:ln>
        </p:spPr>
      </p:cxnSp>
      <p:sp>
        <p:nvSpPr>
          <p:cNvPr id="317" name="Google Shape;317;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sp>
        <p:nvSpPr>
          <p:cNvPr id="322" name="Google Shape;322;p27"/>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rgbClr val="042543"/>
                </a:solidFill>
                <a:latin typeface="Roboto ExtraBold"/>
                <a:ea typeface="Roboto ExtraBold"/>
                <a:cs typeface="Roboto ExtraBold"/>
                <a:sym typeface="Roboto ExtraBold"/>
              </a:rPr>
              <a:t>Identity, Credentials, and Capabilities</a:t>
            </a:r>
            <a:endParaRPr sz="2800">
              <a:solidFill>
                <a:srgbClr val="042543"/>
              </a:solidFill>
              <a:latin typeface="Roboto ExtraBold"/>
              <a:ea typeface="Roboto ExtraBold"/>
              <a:cs typeface="Roboto ExtraBold"/>
              <a:sym typeface="Roboto ExtraBold"/>
            </a:endParaRPr>
          </a:p>
        </p:txBody>
      </p:sp>
      <p:sp>
        <p:nvSpPr>
          <p:cNvPr id="323" name="Google Shape;323;p27"/>
          <p:cNvSpPr/>
          <p:nvPr/>
        </p:nvSpPr>
        <p:spPr>
          <a:xfrm>
            <a:off x="271229" y="112935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Previous Credentials</a:t>
            </a:r>
            <a:endParaRPr b="1">
              <a:solidFill>
                <a:schemeClr val="lt1"/>
              </a:solidFill>
            </a:endParaRPr>
          </a:p>
        </p:txBody>
      </p:sp>
      <p:sp>
        <p:nvSpPr>
          <p:cNvPr id="324" name="Google Shape;324;p27"/>
          <p:cNvSpPr/>
          <p:nvPr/>
        </p:nvSpPr>
        <p:spPr>
          <a:xfrm>
            <a:off x="271229" y="194995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setuid / setgid Families</a:t>
            </a:r>
            <a:endParaRPr b="1">
              <a:solidFill>
                <a:schemeClr val="lt1"/>
              </a:solidFill>
            </a:endParaRPr>
          </a:p>
        </p:txBody>
      </p:sp>
      <p:cxnSp>
        <p:nvCxnSpPr>
          <p:cNvPr id="325" name="Google Shape;325;p27"/>
          <p:cNvCxnSpPr>
            <a:stCxn id="323" idx="2"/>
            <a:endCxn id="324" idx="0"/>
          </p:cNvCxnSpPr>
          <p:nvPr/>
        </p:nvCxnSpPr>
        <p:spPr>
          <a:xfrm>
            <a:off x="1654979" y="1552350"/>
            <a:ext cx="0" cy="397500"/>
          </a:xfrm>
          <a:prstGeom prst="straightConnector1">
            <a:avLst/>
          </a:prstGeom>
          <a:noFill/>
          <a:ln cap="flat" cmpd="sng" w="22975">
            <a:solidFill>
              <a:srgbClr val="6FA8DC"/>
            </a:solidFill>
            <a:prstDash val="solid"/>
            <a:round/>
            <a:headEnd len="med" w="med" type="none"/>
            <a:tailEnd len="med" w="med" type="triangle"/>
          </a:ln>
        </p:spPr>
      </p:cxnSp>
      <p:cxnSp>
        <p:nvCxnSpPr>
          <p:cNvPr id="326" name="Google Shape;326;p27"/>
          <p:cNvCxnSpPr>
            <a:stCxn id="324" idx="2"/>
            <a:endCxn id="327" idx="0"/>
          </p:cNvCxnSpPr>
          <p:nvPr/>
        </p:nvCxnSpPr>
        <p:spPr>
          <a:xfrm>
            <a:off x="1654979" y="2372950"/>
            <a:ext cx="0" cy="397500"/>
          </a:xfrm>
          <a:prstGeom prst="straightConnector1">
            <a:avLst/>
          </a:prstGeom>
          <a:noFill/>
          <a:ln cap="flat" cmpd="sng" w="22975">
            <a:solidFill>
              <a:srgbClr val="6FA8DC"/>
            </a:solidFill>
            <a:prstDash val="solid"/>
            <a:round/>
            <a:headEnd len="med" w="med" type="none"/>
            <a:tailEnd len="med" w="med" type="triangle"/>
          </a:ln>
        </p:spPr>
      </p:cxnSp>
      <p:sp>
        <p:nvSpPr>
          <p:cNvPr id="327" name="Google Shape;327;p27"/>
          <p:cNvSpPr/>
          <p:nvPr/>
        </p:nvSpPr>
        <p:spPr>
          <a:xfrm>
            <a:off x="271229" y="277055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security_task_fix_setuid</a:t>
            </a:r>
            <a:endParaRPr b="1">
              <a:solidFill>
                <a:schemeClr val="lt1"/>
              </a:solidFill>
            </a:endParaRPr>
          </a:p>
        </p:txBody>
      </p:sp>
      <p:sp>
        <p:nvSpPr>
          <p:cNvPr id="328" name="Google Shape;328;p27"/>
          <p:cNvSpPr/>
          <p:nvPr/>
        </p:nvSpPr>
        <p:spPr>
          <a:xfrm>
            <a:off x="271229" y="3591150"/>
            <a:ext cx="2767500" cy="423000"/>
          </a:xfrm>
          <a:prstGeom prst="roundRect">
            <a:avLst>
              <a:gd fmla="val 16667" name="adj"/>
            </a:avLst>
          </a:prstGeom>
          <a:solidFill>
            <a:srgbClr val="1155CC"/>
          </a:solidFill>
          <a:ln cap="flat" cmpd="sng" w="3810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solidFill>
                  <a:schemeClr val="lt1"/>
                </a:solidFill>
              </a:rPr>
              <a:t>commit_creds</a:t>
            </a:r>
            <a:endParaRPr b="1">
              <a:solidFill>
                <a:schemeClr val="lt1"/>
              </a:solidFill>
            </a:endParaRPr>
          </a:p>
        </p:txBody>
      </p:sp>
      <p:cxnSp>
        <p:nvCxnSpPr>
          <p:cNvPr id="329" name="Google Shape;329;p27"/>
          <p:cNvCxnSpPr>
            <a:stCxn id="327" idx="2"/>
            <a:endCxn id="328" idx="0"/>
          </p:cNvCxnSpPr>
          <p:nvPr/>
        </p:nvCxnSpPr>
        <p:spPr>
          <a:xfrm>
            <a:off x="1654979" y="3193550"/>
            <a:ext cx="0" cy="397500"/>
          </a:xfrm>
          <a:prstGeom prst="straightConnector1">
            <a:avLst/>
          </a:prstGeom>
          <a:noFill/>
          <a:ln cap="flat" cmpd="sng" w="22975">
            <a:solidFill>
              <a:srgbClr val="6FA8DC"/>
            </a:solidFill>
            <a:prstDash val="solid"/>
            <a:round/>
            <a:headEnd len="med" w="med" type="none"/>
            <a:tailEnd len="med" w="med" type="triangle"/>
          </a:ln>
        </p:spPr>
      </p:cxnSp>
      <p:sp>
        <p:nvSpPr>
          <p:cNvPr id="330" name="Google Shape;330;p27"/>
          <p:cNvSpPr txBox="1"/>
          <p:nvPr/>
        </p:nvSpPr>
        <p:spPr>
          <a:xfrm>
            <a:off x="3148900" y="1960650"/>
            <a:ext cx="26481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042543"/>
                </a:solidFill>
              </a:rPr>
              <a:t>Userspace Request</a:t>
            </a:r>
            <a:endParaRPr>
              <a:solidFill>
                <a:srgbClr val="042543"/>
              </a:solidFill>
            </a:endParaRPr>
          </a:p>
        </p:txBody>
      </p:sp>
      <p:sp>
        <p:nvSpPr>
          <p:cNvPr id="331" name="Google Shape;331;p27"/>
          <p:cNvSpPr txBox="1"/>
          <p:nvPr/>
        </p:nvSpPr>
        <p:spPr>
          <a:xfrm>
            <a:off x="3148900" y="2702550"/>
            <a:ext cx="26481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042543"/>
                </a:solidFill>
              </a:rPr>
              <a:t>Security-Path Validation</a:t>
            </a:r>
            <a:endParaRPr>
              <a:solidFill>
                <a:srgbClr val="042543"/>
              </a:solidFill>
            </a:endParaRPr>
          </a:p>
        </p:txBody>
      </p:sp>
      <p:sp>
        <p:nvSpPr>
          <p:cNvPr id="332" name="Google Shape;332;p27"/>
          <p:cNvSpPr txBox="1"/>
          <p:nvPr/>
        </p:nvSpPr>
        <p:spPr>
          <a:xfrm>
            <a:off x="3148900" y="3517800"/>
            <a:ext cx="2648100" cy="3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solidFill>
                  <a:srgbClr val="042543"/>
                </a:solidFill>
              </a:rPr>
              <a:t>Final Credential Commit</a:t>
            </a:r>
            <a:endParaRPr>
              <a:solidFill>
                <a:srgbClr val="042543"/>
              </a:solidFill>
            </a:endParaRPr>
          </a:p>
        </p:txBody>
      </p:sp>
      <p:cxnSp>
        <p:nvCxnSpPr>
          <p:cNvPr id="333" name="Google Shape;333;p27"/>
          <p:cNvCxnSpPr/>
          <p:nvPr/>
        </p:nvCxnSpPr>
        <p:spPr>
          <a:xfrm rot="5400000">
            <a:off x="3626800" y="2824850"/>
            <a:ext cx="4354800" cy="14400"/>
          </a:xfrm>
          <a:prstGeom prst="straightConnector1">
            <a:avLst/>
          </a:prstGeom>
          <a:noFill/>
          <a:ln cap="flat" cmpd="sng" w="38100">
            <a:solidFill>
              <a:srgbClr val="042543"/>
            </a:solidFill>
            <a:prstDash val="solid"/>
            <a:round/>
            <a:headEnd len="med" w="med" type="none"/>
            <a:tailEnd len="med" w="med" type="none"/>
          </a:ln>
        </p:spPr>
      </p:cxnSp>
      <p:sp>
        <p:nvSpPr>
          <p:cNvPr id="334" name="Google Shape;334;p27"/>
          <p:cNvSpPr/>
          <p:nvPr/>
        </p:nvSpPr>
        <p:spPr>
          <a:xfrm>
            <a:off x="6105275" y="1075400"/>
            <a:ext cx="2767500" cy="3513300"/>
          </a:xfrm>
          <a:prstGeom prst="rect">
            <a:avLst/>
          </a:prstGeom>
          <a:noFill/>
          <a:ln cap="flat" cmpd="sng" w="38100">
            <a:solidFill>
              <a:srgbClr val="04254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chemeClr val="dk1"/>
                </a:solidFill>
              </a:rPr>
              <a:t>Capability and process control</a:t>
            </a:r>
            <a:endParaRPr b="1" sz="1800">
              <a:solidFill>
                <a:schemeClr val="dk1"/>
              </a:solidFill>
            </a:endParaRPr>
          </a:p>
          <a:p>
            <a:pPr indent="-330200" lvl="0" marL="457200" rtl="0" algn="l">
              <a:spcBef>
                <a:spcPts val="0"/>
              </a:spcBef>
              <a:spcAft>
                <a:spcPts val="0"/>
              </a:spcAft>
              <a:buClr>
                <a:schemeClr val="dk1"/>
              </a:buClr>
              <a:buSzPts val="1600"/>
              <a:buChar char="●"/>
            </a:pPr>
            <a:r>
              <a:rPr b="1" lang="it" sz="1600">
                <a:solidFill>
                  <a:schemeClr val="dk1"/>
                </a:solidFill>
              </a:rPr>
              <a:t>cap_capable: </a:t>
            </a:r>
            <a:r>
              <a:rPr lang="it" sz="1600">
                <a:solidFill>
                  <a:schemeClr val="dk1"/>
                </a:solidFill>
              </a:rPr>
              <a:t>Observes checks for specific capabilities.</a:t>
            </a:r>
            <a:endParaRPr sz="1600">
              <a:solidFill>
                <a:schemeClr val="dk1"/>
              </a:solidFill>
            </a:endParaRPr>
          </a:p>
          <a:p>
            <a:pPr indent="-330200" lvl="0" marL="457200" rtl="0" algn="l">
              <a:spcBef>
                <a:spcPts val="0"/>
              </a:spcBef>
              <a:spcAft>
                <a:spcPts val="0"/>
              </a:spcAft>
              <a:buClr>
                <a:schemeClr val="dk1"/>
              </a:buClr>
              <a:buSzPts val="1600"/>
              <a:buChar char="●"/>
            </a:pPr>
            <a:r>
              <a:rPr b="1" lang="it" sz="1600">
                <a:solidFill>
                  <a:schemeClr val="dk1"/>
                </a:solidFill>
              </a:rPr>
              <a:t>ptrace </a:t>
            </a:r>
            <a:r>
              <a:rPr lang="it" sz="1600">
                <a:solidFill>
                  <a:schemeClr val="dk1"/>
                </a:solidFill>
              </a:rPr>
              <a:t>and </a:t>
            </a:r>
            <a:r>
              <a:rPr b="1" lang="it" sz="1600">
                <a:solidFill>
                  <a:schemeClr val="dk1"/>
                </a:solidFill>
              </a:rPr>
              <a:t>security_task_prctl: </a:t>
            </a:r>
            <a:r>
              <a:rPr lang="it" sz="1600">
                <a:solidFill>
                  <a:schemeClr val="dk1"/>
                </a:solidFill>
              </a:rPr>
              <a:t>Observe direct process interaction and state manipulation.</a:t>
            </a:r>
            <a:endParaRPr sz="1600">
              <a:solidFill>
                <a:schemeClr val="dk1"/>
              </a:solidFill>
            </a:endParaRPr>
          </a:p>
        </p:txBody>
      </p:sp>
      <p:sp>
        <p:nvSpPr>
          <p:cNvPr id="335" name="Google Shape;33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9" name="Shape 339"/>
        <p:cNvGrpSpPr/>
        <p:nvPr/>
      </p:nvGrpSpPr>
      <p:grpSpPr>
        <a:xfrm>
          <a:off x="0" y="0"/>
          <a:ext cx="0" cy="0"/>
          <a:chOff x="0" y="0"/>
          <a:chExt cx="0" cy="0"/>
        </a:xfrm>
      </p:grpSpPr>
      <p:sp>
        <p:nvSpPr>
          <p:cNvPr id="340" name="Google Shape;340;p28"/>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rgbClr val="042543"/>
                </a:solidFill>
                <a:latin typeface="Roboto ExtraBold"/>
                <a:ea typeface="Roboto ExtraBold"/>
                <a:cs typeface="Roboto ExtraBold"/>
                <a:sym typeface="Roboto ExtraBold"/>
              </a:rPr>
              <a:t>File, Permission, and Filesystem Security</a:t>
            </a:r>
            <a:endParaRPr sz="2800">
              <a:solidFill>
                <a:srgbClr val="042543"/>
              </a:solidFill>
              <a:latin typeface="Roboto ExtraBold"/>
              <a:ea typeface="Roboto ExtraBold"/>
              <a:cs typeface="Roboto ExtraBold"/>
              <a:sym typeface="Roboto ExtraBold"/>
            </a:endParaRPr>
          </a:p>
        </p:txBody>
      </p:sp>
      <p:cxnSp>
        <p:nvCxnSpPr>
          <p:cNvPr id="341" name="Google Shape;341;p28"/>
          <p:cNvCxnSpPr/>
          <p:nvPr/>
        </p:nvCxnSpPr>
        <p:spPr>
          <a:xfrm>
            <a:off x="4653500" y="801000"/>
            <a:ext cx="0" cy="3974700"/>
          </a:xfrm>
          <a:prstGeom prst="straightConnector1">
            <a:avLst/>
          </a:prstGeom>
          <a:noFill/>
          <a:ln cap="flat" cmpd="sng" w="38100">
            <a:solidFill>
              <a:schemeClr val="dk2"/>
            </a:solidFill>
            <a:prstDash val="solid"/>
            <a:round/>
            <a:headEnd len="med" w="med" type="none"/>
            <a:tailEnd len="med" w="med" type="none"/>
          </a:ln>
        </p:spPr>
      </p:cxnSp>
      <p:cxnSp>
        <p:nvCxnSpPr>
          <p:cNvPr id="342" name="Google Shape;342;p28"/>
          <p:cNvCxnSpPr/>
          <p:nvPr/>
        </p:nvCxnSpPr>
        <p:spPr>
          <a:xfrm rot="10800000">
            <a:off x="439950" y="2784300"/>
            <a:ext cx="8264100" cy="8100"/>
          </a:xfrm>
          <a:prstGeom prst="straightConnector1">
            <a:avLst/>
          </a:prstGeom>
          <a:noFill/>
          <a:ln cap="flat" cmpd="sng" w="38100">
            <a:solidFill>
              <a:schemeClr val="dk2"/>
            </a:solidFill>
            <a:prstDash val="solid"/>
            <a:round/>
            <a:headEnd len="med" w="med" type="none"/>
            <a:tailEnd len="med" w="med" type="none"/>
          </a:ln>
        </p:spPr>
      </p:cxnSp>
      <p:sp>
        <p:nvSpPr>
          <p:cNvPr id="343" name="Google Shape;343;p28"/>
          <p:cNvSpPr txBox="1"/>
          <p:nvPr/>
        </p:nvSpPr>
        <p:spPr>
          <a:xfrm>
            <a:off x="0" y="801000"/>
            <a:ext cx="4572000" cy="18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42543"/>
                </a:solidFill>
              </a:rPr>
              <a:t>File Access</a:t>
            </a:r>
            <a:endParaRPr b="1" sz="1800">
              <a:solidFill>
                <a:srgbClr val="042543"/>
              </a:solidFill>
            </a:endParaRPr>
          </a:p>
          <a:p>
            <a:pPr indent="-342900" lvl="0" marL="457200" rtl="0" algn="l">
              <a:spcBef>
                <a:spcPts val="0"/>
              </a:spcBef>
              <a:spcAft>
                <a:spcPts val="0"/>
              </a:spcAft>
              <a:buClr>
                <a:srgbClr val="042543"/>
              </a:buClr>
              <a:buSzPts val="1800"/>
              <a:buChar char="-"/>
            </a:pPr>
            <a:r>
              <a:rPr b="1" lang="it" sz="1800">
                <a:solidFill>
                  <a:srgbClr val="042543"/>
                </a:solidFill>
              </a:rPr>
              <a:t>open: </a:t>
            </a:r>
            <a:r>
              <a:rPr lang="it" sz="1800">
                <a:solidFill>
                  <a:srgbClr val="042543"/>
                </a:solidFill>
              </a:rPr>
              <a:t>reports the syscall outcome.</a:t>
            </a:r>
            <a:endParaRPr sz="1800">
              <a:solidFill>
                <a:srgbClr val="042543"/>
              </a:solidFill>
            </a:endParaRPr>
          </a:p>
          <a:p>
            <a:pPr indent="-342900" lvl="0" marL="457200" rtl="0" algn="l">
              <a:spcBef>
                <a:spcPts val="0"/>
              </a:spcBef>
              <a:spcAft>
                <a:spcPts val="0"/>
              </a:spcAft>
              <a:buClr>
                <a:srgbClr val="042543"/>
              </a:buClr>
              <a:buSzPts val="1800"/>
              <a:buChar char="-"/>
            </a:pPr>
            <a:r>
              <a:rPr b="1" lang="it" sz="1800">
                <a:solidFill>
                  <a:srgbClr val="042543"/>
                </a:solidFill>
              </a:rPr>
              <a:t>security_file_open / security_file_permission: </a:t>
            </a:r>
            <a:r>
              <a:rPr lang="it" sz="1800">
                <a:solidFill>
                  <a:srgbClr val="042543"/>
                </a:solidFill>
              </a:rPr>
              <a:t>expose stable metadata (path, inode, device, and ctime)</a:t>
            </a:r>
            <a:endParaRPr sz="1800">
              <a:solidFill>
                <a:srgbClr val="042543"/>
              </a:solidFill>
            </a:endParaRPr>
          </a:p>
        </p:txBody>
      </p:sp>
      <p:sp>
        <p:nvSpPr>
          <p:cNvPr id="344" name="Google Shape;344;p28"/>
          <p:cNvSpPr txBox="1"/>
          <p:nvPr/>
        </p:nvSpPr>
        <p:spPr>
          <a:xfrm>
            <a:off x="4693275" y="2877600"/>
            <a:ext cx="4572000" cy="18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42543"/>
                </a:solidFill>
              </a:rPr>
              <a:t>Mounting</a:t>
            </a:r>
            <a:endParaRPr b="1" sz="1800">
              <a:solidFill>
                <a:srgbClr val="042543"/>
              </a:solidFill>
            </a:endParaRPr>
          </a:p>
          <a:p>
            <a:pPr indent="-342900" lvl="0" marL="457200" rtl="0" algn="l">
              <a:spcBef>
                <a:spcPts val="0"/>
              </a:spcBef>
              <a:spcAft>
                <a:spcPts val="0"/>
              </a:spcAft>
              <a:buClr>
                <a:srgbClr val="042543"/>
              </a:buClr>
              <a:buSzPts val="1800"/>
              <a:buChar char="-"/>
            </a:pPr>
            <a:r>
              <a:rPr b="1" lang="it" sz="1800">
                <a:solidFill>
                  <a:srgbClr val="042543"/>
                </a:solidFill>
              </a:rPr>
              <a:t>security_sb_mount /  security_sb_unumount: </a:t>
            </a:r>
            <a:r>
              <a:rPr lang="it" sz="1800">
                <a:solidFill>
                  <a:srgbClr val="042543"/>
                </a:solidFill>
              </a:rPr>
              <a:t>observe mount points and associated flags.</a:t>
            </a:r>
            <a:endParaRPr sz="1800">
              <a:solidFill>
                <a:srgbClr val="042543"/>
              </a:solidFill>
            </a:endParaRPr>
          </a:p>
        </p:txBody>
      </p:sp>
      <p:sp>
        <p:nvSpPr>
          <p:cNvPr id="345" name="Google Shape;345;p28"/>
          <p:cNvSpPr txBox="1"/>
          <p:nvPr/>
        </p:nvSpPr>
        <p:spPr>
          <a:xfrm>
            <a:off x="0" y="2877600"/>
            <a:ext cx="4572000" cy="18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42543"/>
                </a:solidFill>
              </a:rPr>
              <a:t>Inode</a:t>
            </a:r>
            <a:endParaRPr b="1" sz="1800">
              <a:solidFill>
                <a:srgbClr val="042543"/>
              </a:solidFill>
            </a:endParaRPr>
          </a:p>
          <a:p>
            <a:pPr indent="-342900" lvl="0" marL="457200" rtl="0" algn="l">
              <a:spcBef>
                <a:spcPts val="0"/>
              </a:spcBef>
              <a:spcAft>
                <a:spcPts val="0"/>
              </a:spcAft>
              <a:buClr>
                <a:srgbClr val="042543"/>
              </a:buClr>
              <a:buSzPts val="1800"/>
              <a:buChar char="-"/>
            </a:pPr>
            <a:r>
              <a:rPr b="1" lang="it" sz="1800">
                <a:solidFill>
                  <a:srgbClr val="042543"/>
                </a:solidFill>
              </a:rPr>
              <a:t>unlink, rename, symlink and mknod: </a:t>
            </a:r>
            <a:r>
              <a:rPr lang="it" sz="1800">
                <a:solidFill>
                  <a:srgbClr val="042543"/>
                </a:solidFill>
              </a:rPr>
              <a:t>track structural filesystem changes.</a:t>
            </a:r>
            <a:endParaRPr sz="1800">
              <a:solidFill>
                <a:srgbClr val="042543"/>
              </a:solidFill>
            </a:endParaRPr>
          </a:p>
        </p:txBody>
      </p:sp>
      <p:sp>
        <p:nvSpPr>
          <p:cNvPr id="346" name="Google Shape;346;p28"/>
          <p:cNvSpPr txBox="1"/>
          <p:nvPr/>
        </p:nvSpPr>
        <p:spPr>
          <a:xfrm>
            <a:off x="4693275" y="843600"/>
            <a:ext cx="4572000" cy="18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42543"/>
                </a:solidFill>
              </a:rPr>
              <a:t>Permissions</a:t>
            </a:r>
            <a:endParaRPr b="1" sz="1800">
              <a:solidFill>
                <a:srgbClr val="042543"/>
              </a:solidFill>
            </a:endParaRPr>
          </a:p>
          <a:p>
            <a:pPr indent="-342900" lvl="0" marL="457200" rtl="0" algn="l">
              <a:spcBef>
                <a:spcPts val="0"/>
              </a:spcBef>
              <a:spcAft>
                <a:spcPts val="0"/>
              </a:spcAft>
              <a:buClr>
                <a:srgbClr val="042543"/>
              </a:buClr>
              <a:buSzPts val="1800"/>
              <a:buChar char="-"/>
            </a:pPr>
            <a:r>
              <a:rPr lang="it" sz="1800">
                <a:solidFill>
                  <a:srgbClr val="042543"/>
                </a:solidFill>
              </a:rPr>
              <a:t>The </a:t>
            </a:r>
            <a:r>
              <a:rPr b="1" lang="it" sz="1800">
                <a:solidFill>
                  <a:srgbClr val="042543"/>
                </a:solidFill>
              </a:rPr>
              <a:t>chmod </a:t>
            </a:r>
            <a:r>
              <a:rPr lang="it" sz="1800">
                <a:solidFill>
                  <a:srgbClr val="042543"/>
                </a:solidFill>
              </a:rPr>
              <a:t>and </a:t>
            </a:r>
            <a:r>
              <a:rPr b="1" lang="it" sz="1800">
                <a:solidFill>
                  <a:srgbClr val="042543"/>
                </a:solidFill>
              </a:rPr>
              <a:t>chown</a:t>
            </a:r>
            <a:r>
              <a:rPr lang="it" sz="1800">
                <a:solidFill>
                  <a:srgbClr val="042543"/>
                </a:solidFill>
              </a:rPr>
              <a:t> families monitor permission and ownership changes, including return values.</a:t>
            </a:r>
            <a:endParaRPr sz="1800">
              <a:solidFill>
                <a:srgbClr val="042543"/>
              </a:solidFill>
            </a:endParaRPr>
          </a:p>
        </p:txBody>
      </p:sp>
      <p:sp>
        <p:nvSpPr>
          <p:cNvPr id="347" name="Google Shape;34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1" name="Shape 351"/>
        <p:cNvGrpSpPr/>
        <p:nvPr/>
      </p:nvGrpSpPr>
      <p:grpSpPr>
        <a:xfrm>
          <a:off x="0" y="0"/>
          <a:ext cx="0" cy="0"/>
          <a:chOff x="0" y="0"/>
          <a:chExt cx="0" cy="0"/>
        </a:xfrm>
      </p:grpSpPr>
      <p:sp>
        <p:nvSpPr>
          <p:cNvPr id="352" name="Google Shape;352;p29"/>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rgbClr val="042543"/>
                </a:solidFill>
                <a:latin typeface="Roboto ExtraBold"/>
                <a:ea typeface="Roboto ExtraBold"/>
                <a:cs typeface="Roboto ExtraBold"/>
                <a:sym typeface="Roboto ExtraBold"/>
              </a:rPr>
              <a:t>Memory and Namespaces</a:t>
            </a:r>
            <a:endParaRPr sz="2800">
              <a:solidFill>
                <a:srgbClr val="042543"/>
              </a:solidFill>
              <a:latin typeface="Roboto ExtraBold"/>
              <a:ea typeface="Roboto ExtraBold"/>
              <a:cs typeface="Roboto ExtraBold"/>
              <a:sym typeface="Roboto ExtraBold"/>
            </a:endParaRPr>
          </a:p>
        </p:txBody>
      </p:sp>
      <p:cxnSp>
        <p:nvCxnSpPr>
          <p:cNvPr id="353" name="Google Shape;353;p29"/>
          <p:cNvCxnSpPr/>
          <p:nvPr/>
        </p:nvCxnSpPr>
        <p:spPr>
          <a:xfrm rot="10800000">
            <a:off x="439950" y="2784300"/>
            <a:ext cx="8264100" cy="8100"/>
          </a:xfrm>
          <a:prstGeom prst="straightConnector1">
            <a:avLst/>
          </a:prstGeom>
          <a:noFill/>
          <a:ln cap="flat" cmpd="sng" w="38100">
            <a:solidFill>
              <a:schemeClr val="dk2"/>
            </a:solidFill>
            <a:prstDash val="solid"/>
            <a:round/>
            <a:headEnd len="med" w="med" type="none"/>
            <a:tailEnd len="med" w="med" type="none"/>
          </a:ln>
        </p:spPr>
      </p:cxnSp>
      <p:sp>
        <p:nvSpPr>
          <p:cNvPr id="354" name="Google Shape;354;p29"/>
          <p:cNvSpPr txBox="1"/>
          <p:nvPr/>
        </p:nvSpPr>
        <p:spPr>
          <a:xfrm>
            <a:off x="0" y="3005025"/>
            <a:ext cx="2819700" cy="18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73763"/>
                </a:solidFill>
              </a:rPr>
              <a:t>Namespace Transitions</a:t>
            </a:r>
            <a:endParaRPr sz="1800">
              <a:solidFill>
                <a:srgbClr val="073763"/>
              </a:solidFill>
            </a:endParaRPr>
          </a:p>
        </p:txBody>
      </p:sp>
      <p:sp>
        <p:nvSpPr>
          <p:cNvPr id="355" name="Google Shape;355;p29"/>
          <p:cNvSpPr txBox="1"/>
          <p:nvPr/>
        </p:nvSpPr>
        <p:spPr>
          <a:xfrm>
            <a:off x="0" y="760575"/>
            <a:ext cx="2819700" cy="189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73763"/>
                </a:solidFill>
              </a:rPr>
              <a:t>Memory Management</a:t>
            </a:r>
            <a:endParaRPr sz="1800">
              <a:solidFill>
                <a:srgbClr val="073763"/>
              </a:solidFill>
            </a:endParaRPr>
          </a:p>
        </p:txBody>
      </p:sp>
      <p:sp>
        <p:nvSpPr>
          <p:cNvPr id="356" name="Google Shape;356;p29"/>
          <p:cNvSpPr txBox="1"/>
          <p:nvPr/>
        </p:nvSpPr>
        <p:spPr>
          <a:xfrm>
            <a:off x="2762750" y="847575"/>
            <a:ext cx="5941200" cy="17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it">
                <a:solidFill>
                  <a:schemeClr val="dk2"/>
                </a:solidFill>
              </a:rPr>
              <a:t>mmap</a:t>
            </a:r>
            <a:endParaRPr i="1">
              <a:solidFill>
                <a:schemeClr val="dk2"/>
              </a:solidFill>
            </a:endParaRPr>
          </a:p>
          <a:p>
            <a:pPr indent="0" lvl="0" marL="0" rtl="0" algn="l">
              <a:spcBef>
                <a:spcPts val="0"/>
              </a:spcBef>
              <a:spcAft>
                <a:spcPts val="0"/>
              </a:spcAft>
              <a:buNone/>
            </a:pPr>
            <a:r>
              <a:rPr i="1" lang="it">
                <a:solidFill>
                  <a:schemeClr val="dk2"/>
                </a:solidFill>
              </a:rPr>
              <a:t>mprotect</a:t>
            </a:r>
            <a:endParaRPr i="1">
              <a:solidFill>
                <a:schemeClr val="dk2"/>
              </a:solidFill>
            </a:endParaRPr>
          </a:p>
          <a:p>
            <a:pPr indent="0" lvl="0" marL="0" rtl="0" algn="l">
              <a:spcBef>
                <a:spcPts val="0"/>
              </a:spcBef>
              <a:spcAft>
                <a:spcPts val="0"/>
              </a:spcAft>
              <a:buNone/>
            </a:pPr>
            <a:r>
              <a:rPr i="1" lang="it">
                <a:solidFill>
                  <a:schemeClr val="dk2"/>
                </a:solidFill>
              </a:rPr>
              <a:t>pkey_mprotect</a:t>
            </a:r>
            <a:endParaRPr i="1">
              <a:solidFill>
                <a:schemeClr val="dk2"/>
              </a:solidFill>
            </a:endParaRPr>
          </a:p>
          <a:p>
            <a:pPr indent="0" lvl="0" marL="0" rtl="0" algn="l">
              <a:spcBef>
                <a:spcPts val="0"/>
              </a:spcBef>
              <a:spcAft>
                <a:spcPts val="0"/>
              </a:spcAft>
              <a:buNone/>
            </a:pPr>
            <a:r>
              <a:rPr i="1" lang="it">
                <a:solidFill>
                  <a:schemeClr val="dk2"/>
                </a:solidFill>
              </a:rPr>
              <a:t>memfd_create</a:t>
            </a:r>
            <a:endParaRPr i="1">
              <a:solidFill>
                <a:schemeClr val="dk2"/>
              </a:solidFill>
            </a:endParaRPr>
          </a:p>
          <a:p>
            <a:pPr indent="0" lvl="0" marL="0" rtl="0" algn="l">
              <a:spcBef>
                <a:spcPts val="0"/>
              </a:spcBef>
              <a:spcAft>
                <a:spcPts val="0"/>
              </a:spcAft>
              <a:buNone/>
            </a:pPr>
            <a:r>
              <a:rPr i="1" lang="it">
                <a:solidFill>
                  <a:schemeClr val="dk2"/>
                </a:solidFill>
              </a:rPr>
              <a:t>process_vm_readv / process_vm_writev</a:t>
            </a:r>
            <a:endParaRPr i="1">
              <a:solidFill>
                <a:schemeClr val="dk2"/>
              </a:solidFill>
            </a:endParaRPr>
          </a:p>
          <a:p>
            <a:pPr indent="0" lvl="0" marL="0" rtl="0" algn="l">
              <a:spcBef>
                <a:spcPts val="0"/>
              </a:spcBef>
              <a:spcAft>
                <a:spcPts val="0"/>
              </a:spcAft>
              <a:buNone/>
            </a:pPr>
            <a:r>
              <a:rPr lang="it" sz="1600">
                <a:solidFill>
                  <a:schemeClr val="dk2"/>
                </a:solidFill>
              </a:rPr>
              <a:t>Visibility into executable-memory transitions, fileless execution, unusual mappings, and cross-process memory access.</a:t>
            </a:r>
            <a:endParaRPr sz="1600">
              <a:solidFill>
                <a:schemeClr val="dk2"/>
              </a:solidFill>
            </a:endParaRPr>
          </a:p>
        </p:txBody>
      </p:sp>
      <p:sp>
        <p:nvSpPr>
          <p:cNvPr id="357" name="Google Shape;357;p29"/>
          <p:cNvSpPr txBox="1"/>
          <p:nvPr/>
        </p:nvSpPr>
        <p:spPr>
          <a:xfrm>
            <a:off x="2819700" y="3091950"/>
            <a:ext cx="5941200" cy="172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it">
                <a:solidFill>
                  <a:schemeClr val="dk2"/>
                </a:solidFill>
              </a:rPr>
              <a:t>setns</a:t>
            </a:r>
            <a:endParaRPr i="1">
              <a:solidFill>
                <a:schemeClr val="dk2"/>
              </a:solidFill>
            </a:endParaRPr>
          </a:p>
          <a:p>
            <a:pPr indent="0" lvl="0" marL="0" rtl="0" algn="l">
              <a:spcBef>
                <a:spcPts val="0"/>
              </a:spcBef>
              <a:spcAft>
                <a:spcPts val="0"/>
              </a:spcAft>
              <a:buNone/>
            </a:pPr>
            <a:r>
              <a:rPr i="1" lang="it">
                <a:solidFill>
                  <a:schemeClr val="dk2"/>
                </a:solidFill>
              </a:rPr>
              <a:t>unshare</a:t>
            </a:r>
            <a:endParaRPr i="1">
              <a:solidFill>
                <a:schemeClr val="dk2"/>
              </a:solidFill>
            </a:endParaRPr>
          </a:p>
          <a:p>
            <a:pPr indent="0" lvl="0" marL="0" rtl="0" algn="l">
              <a:spcBef>
                <a:spcPts val="0"/>
              </a:spcBef>
              <a:spcAft>
                <a:spcPts val="0"/>
              </a:spcAft>
              <a:buNone/>
            </a:pPr>
            <a:r>
              <a:rPr i="1" lang="it">
                <a:solidFill>
                  <a:schemeClr val="dk2"/>
                </a:solidFill>
              </a:rPr>
              <a:t>switch_task_ns</a:t>
            </a:r>
            <a:endParaRPr i="1">
              <a:solidFill>
                <a:schemeClr val="dk2"/>
              </a:solidFill>
            </a:endParaRPr>
          </a:p>
          <a:p>
            <a:pPr indent="0" lvl="0" marL="0" rtl="0" algn="l">
              <a:spcBef>
                <a:spcPts val="0"/>
              </a:spcBef>
              <a:spcAft>
                <a:spcPts val="0"/>
              </a:spcAft>
              <a:buNone/>
            </a:pPr>
            <a:r>
              <a:rPr lang="it" sz="1600">
                <a:solidFill>
                  <a:schemeClr val="dk2"/>
                </a:solidFill>
              </a:rPr>
              <a:t>Observes isolation requests and verifies the namespace changes effectively applied by the kernel.</a:t>
            </a:r>
            <a:endParaRPr sz="1600">
              <a:solidFill>
                <a:schemeClr val="dk2"/>
              </a:solidFill>
            </a:endParaRPr>
          </a:p>
        </p:txBody>
      </p:sp>
      <p:sp>
        <p:nvSpPr>
          <p:cNvPr id="358" name="Google Shape;358;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62" name="Shape 362"/>
        <p:cNvGrpSpPr/>
        <p:nvPr/>
      </p:nvGrpSpPr>
      <p:grpSpPr>
        <a:xfrm>
          <a:off x="0" y="0"/>
          <a:ext cx="0" cy="0"/>
          <a:chOff x="0" y="0"/>
          <a:chExt cx="0" cy="0"/>
        </a:xfrm>
      </p:grpSpPr>
      <p:sp>
        <p:nvSpPr>
          <p:cNvPr id="363" name="Google Shape;363;p30"/>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rgbClr val="042543"/>
                </a:solidFill>
                <a:latin typeface="Roboto ExtraBold"/>
                <a:ea typeface="Roboto ExtraBold"/>
                <a:cs typeface="Roboto ExtraBold"/>
                <a:sym typeface="Roboto ExtraBold"/>
              </a:rPr>
              <a:t>Kernel Hardening and Modules</a:t>
            </a:r>
            <a:endParaRPr sz="2800">
              <a:solidFill>
                <a:srgbClr val="042543"/>
              </a:solidFill>
              <a:latin typeface="Roboto ExtraBold"/>
              <a:ea typeface="Roboto ExtraBold"/>
              <a:cs typeface="Roboto ExtraBold"/>
              <a:sym typeface="Roboto ExtraBold"/>
            </a:endParaRPr>
          </a:p>
        </p:txBody>
      </p:sp>
      <p:sp>
        <p:nvSpPr>
          <p:cNvPr id="364" name="Google Shape;364;p30"/>
          <p:cNvSpPr/>
          <p:nvPr/>
        </p:nvSpPr>
        <p:spPr>
          <a:xfrm>
            <a:off x="5802600" y="801000"/>
            <a:ext cx="3131100" cy="3942000"/>
          </a:xfrm>
          <a:prstGeom prst="rect">
            <a:avLst/>
          </a:prstGeom>
          <a:noFill/>
          <a:ln cap="flat" cmpd="sng" w="39175">
            <a:solidFill>
              <a:schemeClr val="dk2"/>
            </a:solidFill>
            <a:prstDash val="dot"/>
            <a:round/>
            <a:headEnd len="sm" w="sm" type="none"/>
            <a:tailEnd len="sm" w="sm" type="none"/>
          </a:ln>
        </p:spPr>
        <p:txBody>
          <a:bodyPr anchorCtr="0" anchor="t" bIns="125350" lIns="125350" spcFirstLastPara="1" rIns="125350" wrap="square" tIns="125350">
            <a:noAutofit/>
          </a:bodyPr>
          <a:lstStyle/>
          <a:p>
            <a:pPr indent="0" lvl="0" marL="0" rtl="0" algn="ctr">
              <a:spcBef>
                <a:spcPts val="0"/>
              </a:spcBef>
              <a:spcAft>
                <a:spcPts val="0"/>
              </a:spcAft>
              <a:buNone/>
            </a:pPr>
            <a:r>
              <a:rPr b="1" lang="it" sz="1450"/>
              <a:t>Example of a scenario observable through distinct events</a:t>
            </a:r>
            <a:endParaRPr b="1" sz="1450"/>
          </a:p>
        </p:txBody>
      </p:sp>
      <p:sp>
        <p:nvSpPr>
          <p:cNvPr id="365" name="Google Shape;365;p30"/>
          <p:cNvSpPr/>
          <p:nvPr/>
        </p:nvSpPr>
        <p:spPr>
          <a:xfrm>
            <a:off x="6228750" y="1637575"/>
            <a:ext cx="2278800" cy="609300"/>
          </a:xfrm>
          <a:prstGeom prst="rect">
            <a:avLst/>
          </a:prstGeom>
          <a:noFill/>
          <a:ln cap="flat" cmpd="sng" w="52250">
            <a:solidFill>
              <a:schemeClr val="dk1"/>
            </a:solidFill>
            <a:prstDash val="solid"/>
            <a:round/>
            <a:headEnd len="sm" w="sm" type="none"/>
            <a:tailEnd len="sm" w="sm" type="none"/>
          </a:ln>
        </p:spPr>
        <p:txBody>
          <a:bodyPr anchorCtr="0" anchor="ctr" bIns="125350" lIns="125350" spcFirstLastPara="1" rIns="125350" wrap="square" tIns="125350">
            <a:noAutofit/>
          </a:bodyPr>
          <a:lstStyle/>
          <a:p>
            <a:pPr indent="0" lvl="0" marL="0" rtl="0" algn="ctr">
              <a:spcBef>
                <a:spcPts val="0"/>
              </a:spcBef>
              <a:spcAft>
                <a:spcPts val="0"/>
              </a:spcAft>
              <a:buNone/>
            </a:pPr>
            <a:r>
              <a:rPr b="1" lang="it" sz="1800">
                <a:solidFill>
                  <a:schemeClr val="dk1"/>
                </a:solidFill>
              </a:rPr>
              <a:t>module load</a:t>
            </a:r>
            <a:endParaRPr b="1" sz="1800">
              <a:solidFill>
                <a:schemeClr val="dk1"/>
              </a:solidFill>
            </a:endParaRPr>
          </a:p>
        </p:txBody>
      </p:sp>
      <p:sp>
        <p:nvSpPr>
          <p:cNvPr id="366" name="Google Shape;366;p30"/>
          <p:cNvSpPr/>
          <p:nvPr/>
        </p:nvSpPr>
        <p:spPr>
          <a:xfrm>
            <a:off x="6228750" y="2732100"/>
            <a:ext cx="2278800" cy="609300"/>
          </a:xfrm>
          <a:prstGeom prst="rect">
            <a:avLst/>
          </a:prstGeom>
          <a:noFill/>
          <a:ln cap="flat" cmpd="sng" w="52250">
            <a:solidFill>
              <a:schemeClr val="dk1"/>
            </a:solidFill>
            <a:prstDash val="solid"/>
            <a:round/>
            <a:headEnd len="sm" w="sm" type="none"/>
            <a:tailEnd len="sm" w="sm" type="none"/>
          </a:ln>
        </p:spPr>
        <p:txBody>
          <a:bodyPr anchorCtr="0" anchor="ctr" bIns="125350" lIns="125350" spcFirstLastPara="1" rIns="125350" wrap="square" tIns="125350">
            <a:noAutofit/>
          </a:bodyPr>
          <a:lstStyle/>
          <a:p>
            <a:pPr indent="0" lvl="0" marL="0" rtl="0" algn="ctr">
              <a:spcBef>
                <a:spcPts val="0"/>
              </a:spcBef>
              <a:spcAft>
                <a:spcPts val="0"/>
              </a:spcAft>
              <a:buNone/>
            </a:pPr>
            <a:r>
              <a:rPr b="1" lang="it" sz="1800">
                <a:solidFill>
                  <a:schemeClr val="dk1"/>
                </a:solidFill>
              </a:rPr>
              <a:t>register_kprobe</a:t>
            </a:r>
            <a:endParaRPr b="1" sz="1800">
              <a:solidFill>
                <a:schemeClr val="dk1"/>
              </a:solidFill>
            </a:endParaRPr>
          </a:p>
        </p:txBody>
      </p:sp>
      <p:sp>
        <p:nvSpPr>
          <p:cNvPr id="367" name="Google Shape;367;p30"/>
          <p:cNvSpPr/>
          <p:nvPr/>
        </p:nvSpPr>
        <p:spPr>
          <a:xfrm>
            <a:off x="6228750" y="3826625"/>
            <a:ext cx="2278800" cy="609300"/>
          </a:xfrm>
          <a:prstGeom prst="rect">
            <a:avLst/>
          </a:prstGeom>
          <a:noFill/>
          <a:ln cap="flat" cmpd="sng" w="52250">
            <a:solidFill>
              <a:schemeClr val="dk1"/>
            </a:solidFill>
            <a:prstDash val="solid"/>
            <a:round/>
            <a:headEnd len="sm" w="sm" type="none"/>
            <a:tailEnd len="sm" w="sm" type="none"/>
          </a:ln>
        </p:spPr>
        <p:txBody>
          <a:bodyPr anchorCtr="0" anchor="ctr" bIns="125350" lIns="125350" spcFirstLastPara="1" rIns="125350" wrap="square" tIns="125350">
            <a:noAutofit/>
          </a:bodyPr>
          <a:lstStyle/>
          <a:p>
            <a:pPr indent="0" lvl="0" marL="0" rtl="0" algn="ctr">
              <a:spcBef>
                <a:spcPts val="0"/>
              </a:spcBef>
              <a:spcAft>
                <a:spcPts val="0"/>
              </a:spcAft>
              <a:buNone/>
            </a:pPr>
            <a:r>
              <a:rPr b="1" lang="it" sz="1800">
                <a:solidFill>
                  <a:schemeClr val="dk1"/>
                </a:solidFill>
              </a:rPr>
              <a:t>procfs Entry</a:t>
            </a:r>
            <a:endParaRPr b="1" sz="1800">
              <a:solidFill>
                <a:schemeClr val="dk1"/>
              </a:solidFill>
            </a:endParaRPr>
          </a:p>
        </p:txBody>
      </p:sp>
      <p:cxnSp>
        <p:nvCxnSpPr>
          <p:cNvPr id="368" name="Google Shape;368;p30"/>
          <p:cNvCxnSpPr>
            <a:stCxn id="365" idx="2"/>
            <a:endCxn id="366" idx="0"/>
          </p:cNvCxnSpPr>
          <p:nvPr/>
        </p:nvCxnSpPr>
        <p:spPr>
          <a:xfrm>
            <a:off x="7368150" y="2246875"/>
            <a:ext cx="0" cy="485100"/>
          </a:xfrm>
          <a:prstGeom prst="straightConnector1">
            <a:avLst/>
          </a:prstGeom>
          <a:noFill/>
          <a:ln cap="flat" cmpd="sng" w="38100">
            <a:solidFill>
              <a:srgbClr val="60B28E"/>
            </a:solidFill>
            <a:prstDash val="solid"/>
            <a:round/>
            <a:headEnd len="med" w="med" type="none"/>
            <a:tailEnd len="med" w="med" type="triangle"/>
          </a:ln>
        </p:spPr>
      </p:cxnSp>
      <p:cxnSp>
        <p:nvCxnSpPr>
          <p:cNvPr id="369" name="Google Shape;369;p30"/>
          <p:cNvCxnSpPr>
            <a:stCxn id="366" idx="2"/>
            <a:endCxn id="367" idx="0"/>
          </p:cNvCxnSpPr>
          <p:nvPr/>
        </p:nvCxnSpPr>
        <p:spPr>
          <a:xfrm>
            <a:off x="7368150" y="3341400"/>
            <a:ext cx="0" cy="485100"/>
          </a:xfrm>
          <a:prstGeom prst="straightConnector1">
            <a:avLst/>
          </a:prstGeom>
          <a:noFill/>
          <a:ln cap="flat" cmpd="sng" w="38100">
            <a:solidFill>
              <a:srgbClr val="60B28E"/>
            </a:solidFill>
            <a:prstDash val="solid"/>
            <a:round/>
            <a:headEnd len="med" w="med" type="none"/>
            <a:tailEnd len="med" w="med" type="triangle"/>
          </a:ln>
        </p:spPr>
      </p:cxnSp>
      <p:cxnSp>
        <p:nvCxnSpPr>
          <p:cNvPr id="370" name="Google Shape;370;p30"/>
          <p:cNvCxnSpPr/>
          <p:nvPr/>
        </p:nvCxnSpPr>
        <p:spPr>
          <a:xfrm rot="10800000">
            <a:off x="474000" y="1680500"/>
            <a:ext cx="5017500" cy="16500"/>
          </a:xfrm>
          <a:prstGeom prst="straightConnector1">
            <a:avLst/>
          </a:prstGeom>
          <a:noFill/>
          <a:ln cap="flat" cmpd="sng" w="38100">
            <a:solidFill>
              <a:schemeClr val="dk2"/>
            </a:solidFill>
            <a:prstDash val="solid"/>
            <a:round/>
            <a:headEnd len="med" w="med" type="none"/>
            <a:tailEnd len="med" w="med" type="none"/>
          </a:ln>
        </p:spPr>
      </p:cxnSp>
      <p:sp>
        <p:nvSpPr>
          <p:cNvPr id="371" name="Google Shape;371;p30"/>
          <p:cNvSpPr txBox="1"/>
          <p:nvPr/>
        </p:nvSpPr>
        <p:spPr>
          <a:xfrm>
            <a:off x="0" y="680275"/>
            <a:ext cx="20484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73763"/>
                </a:solidFill>
              </a:rPr>
              <a:t>Module lifecycle:</a:t>
            </a:r>
            <a:endParaRPr sz="1800">
              <a:solidFill>
                <a:srgbClr val="073763"/>
              </a:solidFill>
            </a:endParaRPr>
          </a:p>
        </p:txBody>
      </p:sp>
      <p:sp>
        <p:nvSpPr>
          <p:cNvPr id="372" name="Google Shape;372;p30"/>
          <p:cNvSpPr txBox="1"/>
          <p:nvPr/>
        </p:nvSpPr>
        <p:spPr>
          <a:xfrm>
            <a:off x="2048338" y="680275"/>
            <a:ext cx="34431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it" sz="1800">
                <a:solidFill>
                  <a:srgbClr val="042543"/>
                </a:solidFill>
              </a:rPr>
              <a:t>module_load,</a:t>
            </a:r>
            <a:endParaRPr i="1" sz="1800">
              <a:solidFill>
                <a:srgbClr val="042543"/>
              </a:solidFill>
            </a:endParaRPr>
          </a:p>
          <a:p>
            <a:pPr indent="0" lvl="0" marL="0" rtl="0" algn="l">
              <a:spcBef>
                <a:spcPts val="0"/>
              </a:spcBef>
              <a:spcAft>
                <a:spcPts val="0"/>
              </a:spcAft>
              <a:buNone/>
            </a:pPr>
            <a:r>
              <a:rPr i="1" lang="it" sz="1800">
                <a:solidFill>
                  <a:srgbClr val="042543"/>
                </a:solidFill>
              </a:rPr>
              <a:t>module_free,</a:t>
            </a:r>
            <a:endParaRPr i="1" sz="1800">
              <a:solidFill>
                <a:srgbClr val="042543"/>
              </a:solidFill>
            </a:endParaRPr>
          </a:p>
          <a:p>
            <a:pPr indent="0" lvl="0" marL="0" rtl="0" algn="l">
              <a:spcBef>
                <a:spcPts val="0"/>
              </a:spcBef>
              <a:spcAft>
                <a:spcPts val="0"/>
              </a:spcAft>
              <a:buNone/>
            </a:pPr>
            <a:r>
              <a:rPr i="1" lang="it" sz="1800">
                <a:solidFill>
                  <a:srgbClr val="042543"/>
                </a:solidFill>
              </a:rPr>
              <a:t>do_init_module.</a:t>
            </a:r>
            <a:endParaRPr i="1" sz="1800">
              <a:solidFill>
                <a:srgbClr val="042543"/>
              </a:solidFill>
            </a:endParaRPr>
          </a:p>
        </p:txBody>
      </p:sp>
      <p:cxnSp>
        <p:nvCxnSpPr>
          <p:cNvPr id="373" name="Google Shape;373;p30"/>
          <p:cNvCxnSpPr/>
          <p:nvPr/>
        </p:nvCxnSpPr>
        <p:spPr>
          <a:xfrm rot="10800000">
            <a:off x="474000" y="2824450"/>
            <a:ext cx="5017500" cy="16500"/>
          </a:xfrm>
          <a:prstGeom prst="straightConnector1">
            <a:avLst/>
          </a:prstGeom>
          <a:noFill/>
          <a:ln cap="flat" cmpd="sng" w="38100">
            <a:solidFill>
              <a:schemeClr val="dk2"/>
            </a:solidFill>
            <a:prstDash val="solid"/>
            <a:round/>
            <a:headEnd len="med" w="med" type="none"/>
            <a:tailEnd len="med" w="med" type="none"/>
          </a:ln>
        </p:spPr>
      </p:cxnSp>
      <p:sp>
        <p:nvSpPr>
          <p:cNvPr id="374" name="Google Shape;374;p30"/>
          <p:cNvSpPr txBox="1"/>
          <p:nvPr/>
        </p:nvSpPr>
        <p:spPr>
          <a:xfrm>
            <a:off x="0" y="1824225"/>
            <a:ext cx="20484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73763"/>
                </a:solidFill>
              </a:rPr>
              <a:t>eBPF surface:</a:t>
            </a:r>
            <a:endParaRPr sz="1800">
              <a:solidFill>
                <a:srgbClr val="073763"/>
              </a:solidFill>
            </a:endParaRPr>
          </a:p>
        </p:txBody>
      </p:sp>
      <p:sp>
        <p:nvSpPr>
          <p:cNvPr id="375" name="Google Shape;375;p30"/>
          <p:cNvSpPr txBox="1"/>
          <p:nvPr/>
        </p:nvSpPr>
        <p:spPr>
          <a:xfrm>
            <a:off x="2048338" y="1824225"/>
            <a:ext cx="34431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it" sz="1800">
                <a:solidFill>
                  <a:srgbClr val="042543"/>
                </a:solidFill>
              </a:rPr>
              <a:t>security_bpf,</a:t>
            </a:r>
            <a:endParaRPr i="1" sz="1800">
              <a:solidFill>
                <a:srgbClr val="042543"/>
              </a:solidFill>
            </a:endParaRPr>
          </a:p>
          <a:p>
            <a:pPr indent="0" lvl="0" marL="0" rtl="0" algn="l">
              <a:spcBef>
                <a:spcPts val="0"/>
              </a:spcBef>
              <a:spcAft>
                <a:spcPts val="0"/>
              </a:spcAft>
              <a:buNone/>
            </a:pPr>
            <a:r>
              <a:rPr i="1" lang="it" sz="1800">
                <a:solidFill>
                  <a:srgbClr val="042543"/>
                </a:solidFill>
              </a:rPr>
              <a:t>security_bpf_map,</a:t>
            </a:r>
            <a:endParaRPr i="1" sz="1800">
              <a:solidFill>
                <a:srgbClr val="042543"/>
              </a:solidFill>
            </a:endParaRPr>
          </a:p>
          <a:p>
            <a:pPr indent="0" lvl="0" marL="0" rtl="0" algn="l">
              <a:spcBef>
                <a:spcPts val="0"/>
              </a:spcBef>
              <a:spcAft>
                <a:spcPts val="0"/>
              </a:spcAft>
              <a:buNone/>
            </a:pPr>
            <a:r>
              <a:rPr i="1" lang="it" sz="1800">
                <a:solidFill>
                  <a:srgbClr val="042543"/>
                </a:solidFill>
              </a:rPr>
              <a:t>security_bpf_prog.</a:t>
            </a:r>
            <a:endParaRPr i="1" sz="1800">
              <a:solidFill>
                <a:srgbClr val="042543"/>
              </a:solidFill>
            </a:endParaRPr>
          </a:p>
        </p:txBody>
      </p:sp>
      <p:cxnSp>
        <p:nvCxnSpPr>
          <p:cNvPr id="376" name="Google Shape;376;p30"/>
          <p:cNvCxnSpPr/>
          <p:nvPr/>
        </p:nvCxnSpPr>
        <p:spPr>
          <a:xfrm rot="10800000">
            <a:off x="474000" y="3720450"/>
            <a:ext cx="5017500" cy="16500"/>
          </a:xfrm>
          <a:prstGeom prst="straightConnector1">
            <a:avLst/>
          </a:prstGeom>
          <a:noFill/>
          <a:ln cap="flat" cmpd="sng" w="38100">
            <a:solidFill>
              <a:schemeClr val="dk2"/>
            </a:solidFill>
            <a:prstDash val="solid"/>
            <a:round/>
            <a:headEnd len="med" w="med" type="none"/>
            <a:tailEnd len="med" w="med" type="none"/>
          </a:ln>
        </p:spPr>
      </p:cxnSp>
      <p:sp>
        <p:nvSpPr>
          <p:cNvPr id="377" name="Google Shape;377;p30"/>
          <p:cNvSpPr txBox="1"/>
          <p:nvPr/>
        </p:nvSpPr>
        <p:spPr>
          <a:xfrm>
            <a:off x="0" y="2968175"/>
            <a:ext cx="20484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73763"/>
                </a:solidFill>
              </a:rPr>
              <a:t>Dynamic instrumentation:</a:t>
            </a:r>
            <a:endParaRPr sz="1800">
              <a:solidFill>
                <a:srgbClr val="073763"/>
              </a:solidFill>
            </a:endParaRPr>
          </a:p>
        </p:txBody>
      </p:sp>
      <p:sp>
        <p:nvSpPr>
          <p:cNvPr id="378" name="Google Shape;378;p30"/>
          <p:cNvSpPr txBox="1"/>
          <p:nvPr/>
        </p:nvSpPr>
        <p:spPr>
          <a:xfrm>
            <a:off x="2048338" y="2968175"/>
            <a:ext cx="34431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it" sz="1800">
                <a:solidFill>
                  <a:srgbClr val="042543"/>
                </a:solidFill>
              </a:rPr>
              <a:t>register_kprobe,</a:t>
            </a:r>
            <a:endParaRPr i="1" sz="1800">
              <a:solidFill>
                <a:srgbClr val="042543"/>
              </a:solidFill>
            </a:endParaRPr>
          </a:p>
          <a:p>
            <a:pPr indent="0" lvl="0" marL="0" rtl="0" algn="l">
              <a:spcBef>
                <a:spcPts val="0"/>
              </a:spcBef>
              <a:spcAft>
                <a:spcPts val="0"/>
              </a:spcAft>
              <a:buNone/>
            </a:pPr>
            <a:r>
              <a:rPr i="1" lang="it" sz="1800">
                <a:solidFill>
                  <a:srgbClr val="042543"/>
                </a:solidFill>
              </a:rPr>
              <a:t>kallsyms_lookup_name.</a:t>
            </a:r>
            <a:endParaRPr i="1" sz="1800">
              <a:solidFill>
                <a:srgbClr val="042543"/>
              </a:solidFill>
            </a:endParaRPr>
          </a:p>
        </p:txBody>
      </p:sp>
      <p:sp>
        <p:nvSpPr>
          <p:cNvPr id="379" name="Google Shape;379;p30"/>
          <p:cNvSpPr txBox="1"/>
          <p:nvPr/>
        </p:nvSpPr>
        <p:spPr>
          <a:xfrm>
            <a:off x="0" y="3826625"/>
            <a:ext cx="20484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73763"/>
                </a:solidFill>
              </a:rPr>
              <a:t>Kernel interfaces:</a:t>
            </a:r>
            <a:endParaRPr sz="1800">
              <a:solidFill>
                <a:srgbClr val="073763"/>
              </a:solidFill>
            </a:endParaRPr>
          </a:p>
        </p:txBody>
      </p:sp>
      <p:sp>
        <p:nvSpPr>
          <p:cNvPr id="380" name="Google Shape;380;p30"/>
          <p:cNvSpPr txBox="1"/>
          <p:nvPr/>
        </p:nvSpPr>
        <p:spPr>
          <a:xfrm>
            <a:off x="2048338" y="3826625"/>
            <a:ext cx="3443100" cy="87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it" sz="1800">
                <a:solidFill>
                  <a:srgbClr val="042543"/>
                </a:solidFill>
              </a:rPr>
              <a:t>proc_create,</a:t>
            </a:r>
            <a:endParaRPr i="1" sz="1800">
              <a:solidFill>
                <a:srgbClr val="042543"/>
              </a:solidFill>
            </a:endParaRPr>
          </a:p>
          <a:p>
            <a:pPr indent="0" lvl="0" marL="0" rtl="0" algn="l">
              <a:spcBef>
                <a:spcPts val="0"/>
              </a:spcBef>
              <a:spcAft>
                <a:spcPts val="0"/>
              </a:spcAft>
              <a:buNone/>
            </a:pPr>
            <a:r>
              <a:rPr i="1" lang="it" sz="1800">
                <a:solidFill>
                  <a:srgbClr val="042543"/>
                </a:solidFill>
              </a:rPr>
              <a:t>call_usermodehelper,</a:t>
            </a:r>
            <a:endParaRPr i="1" sz="1800">
              <a:solidFill>
                <a:srgbClr val="042543"/>
              </a:solidFill>
            </a:endParaRPr>
          </a:p>
          <a:p>
            <a:pPr indent="0" lvl="0" marL="0" rtl="0" algn="l">
              <a:spcBef>
                <a:spcPts val="0"/>
              </a:spcBef>
              <a:spcAft>
                <a:spcPts val="0"/>
              </a:spcAft>
              <a:buNone/>
            </a:pPr>
            <a:r>
              <a:rPr i="1" lang="it" sz="1800">
                <a:solidFill>
                  <a:srgbClr val="042543"/>
                </a:solidFill>
              </a:rPr>
              <a:t>security_kernel_read_file.</a:t>
            </a:r>
            <a:endParaRPr i="1" sz="1800">
              <a:solidFill>
                <a:srgbClr val="042543"/>
              </a:solidFill>
            </a:endParaRPr>
          </a:p>
        </p:txBody>
      </p:sp>
      <p:sp>
        <p:nvSpPr>
          <p:cNvPr id="381" name="Google Shape;38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385" name="Shape 385"/>
        <p:cNvGrpSpPr/>
        <p:nvPr/>
      </p:nvGrpSpPr>
      <p:grpSpPr>
        <a:xfrm>
          <a:off x="0" y="0"/>
          <a:ext cx="0" cy="0"/>
          <a:chOff x="0" y="0"/>
          <a:chExt cx="0" cy="0"/>
        </a:xfrm>
      </p:grpSpPr>
      <p:sp>
        <p:nvSpPr>
          <p:cNvPr id="386" name="Google Shape;386;p31"/>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chemeClr val="lt1"/>
                </a:solidFill>
                <a:latin typeface="Roboto ExtraBold"/>
                <a:ea typeface="Roboto ExtraBold"/>
                <a:cs typeface="Roboto ExtraBold"/>
                <a:sym typeface="Roboto ExtraBold"/>
              </a:rPr>
              <a:t>AES beta exploit and detected evidence</a:t>
            </a:r>
            <a:endParaRPr sz="2800">
              <a:solidFill>
                <a:schemeClr val="lt1"/>
              </a:solidFill>
              <a:latin typeface="Roboto ExtraBold"/>
              <a:ea typeface="Roboto ExtraBold"/>
              <a:cs typeface="Roboto ExtraBold"/>
              <a:sym typeface="Roboto ExtraBold"/>
            </a:endParaRPr>
          </a:p>
        </p:txBody>
      </p:sp>
      <p:sp>
        <p:nvSpPr>
          <p:cNvPr id="387" name="Google Shape;387;p31"/>
          <p:cNvSpPr/>
          <p:nvPr/>
        </p:nvSpPr>
        <p:spPr>
          <a:xfrm>
            <a:off x="279775" y="655500"/>
            <a:ext cx="2637000" cy="4238700"/>
          </a:xfrm>
          <a:prstGeom prst="roundRect">
            <a:avLst>
              <a:gd fmla="val 7539" name="adj"/>
            </a:avLst>
          </a:prstGeom>
          <a:solidFill>
            <a:srgbClr val="C4E9FB"/>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it" sz="2000">
                <a:solidFill>
                  <a:srgbClr val="042543"/>
                </a:solidFill>
              </a:rPr>
              <a:t>Target Service</a:t>
            </a:r>
            <a:endParaRPr b="1" sz="1800">
              <a:solidFill>
                <a:srgbClr val="042543"/>
              </a:solidFill>
            </a:endParaRPr>
          </a:p>
          <a:p>
            <a:pPr indent="0" lvl="0" marL="0" rtl="0" algn="l">
              <a:spcBef>
                <a:spcPts val="0"/>
              </a:spcBef>
              <a:spcAft>
                <a:spcPts val="0"/>
              </a:spcAft>
              <a:buNone/>
            </a:pPr>
            <a:r>
              <a:t/>
            </a:r>
            <a:endParaRPr b="1" sz="1800">
              <a:solidFill>
                <a:srgbClr val="042543"/>
              </a:solidFill>
            </a:endParaRPr>
          </a:p>
          <a:p>
            <a:pPr indent="0" lvl="0" marL="0" rtl="0" algn="l">
              <a:spcBef>
                <a:spcPts val="0"/>
              </a:spcBef>
              <a:spcAft>
                <a:spcPts val="0"/>
              </a:spcAft>
              <a:buNone/>
            </a:pPr>
            <a:r>
              <a:rPr b="1" lang="it" sz="1800">
                <a:solidFill>
                  <a:srgbClr val="042543"/>
                </a:solidFill>
              </a:rPr>
              <a:t>Vulnerable CTF encryption service</a:t>
            </a:r>
            <a:endParaRPr sz="1600">
              <a:solidFill>
                <a:srgbClr val="042543"/>
              </a:solidFill>
            </a:endParaRPr>
          </a:p>
          <a:p>
            <a:pPr indent="0" lvl="0" marL="0" rtl="0" algn="l">
              <a:spcBef>
                <a:spcPts val="0"/>
              </a:spcBef>
              <a:spcAft>
                <a:spcPts val="0"/>
              </a:spcAft>
              <a:buNone/>
            </a:pPr>
            <a:r>
              <a:t/>
            </a:r>
            <a:endParaRPr b="1" sz="1800">
              <a:solidFill>
                <a:srgbClr val="042543"/>
              </a:solidFill>
            </a:endParaRPr>
          </a:p>
          <a:p>
            <a:pPr indent="0" lvl="0" marL="0" rtl="0" algn="l">
              <a:spcBef>
                <a:spcPts val="0"/>
              </a:spcBef>
              <a:spcAft>
                <a:spcPts val="0"/>
              </a:spcAft>
              <a:buNone/>
            </a:pPr>
            <a:r>
              <a:rPr b="1" lang="it" sz="1800">
                <a:solidFill>
                  <a:srgbClr val="042543"/>
                </a:solidFill>
              </a:rPr>
              <a:t>Kubernetes pod, UID 10001</a:t>
            </a:r>
            <a:endParaRPr sz="1600">
              <a:solidFill>
                <a:srgbClr val="042543"/>
              </a:solidFill>
            </a:endParaRPr>
          </a:p>
          <a:p>
            <a:pPr indent="0" lvl="0" marL="0" rtl="0" algn="l">
              <a:spcBef>
                <a:spcPts val="0"/>
              </a:spcBef>
              <a:spcAft>
                <a:spcPts val="0"/>
              </a:spcAft>
              <a:buNone/>
            </a:pPr>
            <a:r>
              <a:t/>
            </a:r>
            <a:endParaRPr sz="1600">
              <a:solidFill>
                <a:srgbClr val="042543"/>
              </a:solidFill>
            </a:endParaRPr>
          </a:p>
          <a:p>
            <a:pPr indent="0" lvl="0" marL="0" rtl="0" algn="l">
              <a:spcBef>
                <a:spcPts val="0"/>
              </a:spcBef>
              <a:spcAft>
                <a:spcPts val="0"/>
              </a:spcAft>
              <a:buNone/>
            </a:pPr>
            <a:r>
              <a:rPr b="1" lang="it" sz="1800">
                <a:solidFill>
                  <a:srgbClr val="042543"/>
                </a:solidFill>
              </a:rPr>
              <a:t>Flag:</a:t>
            </a:r>
            <a:endParaRPr b="1" sz="1800">
              <a:solidFill>
                <a:srgbClr val="042543"/>
              </a:solidFill>
            </a:endParaRPr>
          </a:p>
          <a:p>
            <a:pPr indent="0" lvl="0" marL="0" rtl="0" algn="l">
              <a:spcBef>
                <a:spcPts val="0"/>
              </a:spcBef>
              <a:spcAft>
                <a:spcPts val="0"/>
              </a:spcAft>
              <a:buNone/>
            </a:pPr>
            <a:r>
              <a:rPr lang="it" sz="1800">
                <a:solidFill>
                  <a:srgbClr val="042543"/>
                </a:solidFill>
              </a:rPr>
              <a:t>/opt/aes-beta/flag</a:t>
            </a:r>
            <a:endParaRPr sz="1800">
              <a:solidFill>
                <a:srgbClr val="042543"/>
              </a:solidFill>
            </a:endParaRPr>
          </a:p>
          <a:p>
            <a:pPr indent="0" lvl="0" marL="0" rtl="0" algn="l">
              <a:spcBef>
                <a:spcPts val="0"/>
              </a:spcBef>
              <a:spcAft>
                <a:spcPts val="0"/>
              </a:spcAft>
              <a:buNone/>
            </a:pPr>
            <a:r>
              <a:t/>
            </a:r>
            <a:endParaRPr sz="1600">
              <a:solidFill>
                <a:srgbClr val="042543"/>
              </a:solidFill>
            </a:endParaRPr>
          </a:p>
          <a:p>
            <a:pPr indent="0" lvl="0" marL="0" rtl="0" algn="l">
              <a:spcBef>
                <a:spcPts val="0"/>
              </a:spcBef>
              <a:spcAft>
                <a:spcPts val="0"/>
              </a:spcAft>
              <a:buClr>
                <a:schemeClr val="dk1"/>
              </a:buClr>
              <a:buSzPts val="1100"/>
              <a:buFont typeface="Arial"/>
              <a:buNone/>
            </a:pPr>
            <a:r>
              <a:rPr b="1" lang="it" sz="1800">
                <a:solidFill>
                  <a:srgbClr val="042543"/>
                </a:solidFill>
              </a:rPr>
              <a:t>Final payload:</a:t>
            </a:r>
            <a:endParaRPr sz="1600">
              <a:solidFill>
                <a:srgbClr val="042543"/>
              </a:solidFill>
            </a:endParaRPr>
          </a:p>
          <a:p>
            <a:pPr indent="0" lvl="0" marL="0" rtl="0" algn="l">
              <a:spcBef>
                <a:spcPts val="0"/>
              </a:spcBef>
              <a:spcAft>
                <a:spcPts val="0"/>
              </a:spcAft>
              <a:buNone/>
            </a:pPr>
            <a:r>
              <a:rPr lang="it" sz="1600">
                <a:solidFill>
                  <a:srgbClr val="042543"/>
                </a:solidFill>
              </a:rPr>
              <a:t>system(“cat flag”)</a:t>
            </a:r>
            <a:endParaRPr sz="1700">
              <a:solidFill>
                <a:srgbClr val="042543"/>
              </a:solidFill>
            </a:endParaRPr>
          </a:p>
        </p:txBody>
      </p:sp>
      <p:sp>
        <p:nvSpPr>
          <p:cNvPr id="388" name="Google Shape;388;p31"/>
          <p:cNvSpPr/>
          <p:nvPr/>
        </p:nvSpPr>
        <p:spPr>
          <a:xfrm>
            <a:off x="3253500" y="655500"/>
            <a:ext cx="2637000" cy="4238700"/>
          </a:xfrm>
          <a:prstGeom prst="roundRect">
            <a:avLst>
              <a:gd fmla="val 8134" name="adj"/>
            </a:avLst>
          </a:prstGeom>
          <a:solidFill>
            <a:srgbClr val="A4DEB6"/>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it" sz="2000"/>
              <a:t>Kernel Evidence</a:t>
            </a:r>
            <a:endParaRPr b="1" sz="2000"/>
          </a:p>
          <a:p>
            <a:pPr indent="0" lvl="0" marL="0" rtl="0" algn="l">
              <a:spcBef>
                <a:spcPts val="0"/>
              </a:spcBef>
              <a:spcAft>
                <a:spcPts val="0"/>
              </a:spcAft>
              <a:buNone/>
            </a:pPr>
            <a:r>
              <a:t/>
            </a:r>
            <a:endParaRPr b="1" sz="2000"/>
          </a:p>
          <a:p>
            <a:pPr indent="0" lvl="0" marL="0" rtl="0" algn="l">
              <a:spcBef>
                <a:spcPts val="0"/>
              </a:spcBef>
              <a:spcAft>
                <a:spcPts val="0"/>
              </a:spcAft>
              <a:buClr>
                <a:schemeClr val="dk1"/>
              </a:buClr>
              <a:buSzPts val="1100"/>
              <a:buFont typeface="Arial"/>
              <a:buNone/>
            </a:pPr>
            <a:r>
              <a:rPr b="1" lang="it" sz="1800">
                <a:solidFill>
                  <a:schemeClr val="dk1"/>
                </a:solidFill>
              </a:rPr>
              <a:t>/bin/sh executed</a:t>
            </a:r>
            <a:endParaRPr b="1" sz="1800">
              <a:solidFill>
                <a:schemeClr val="dk1"/>
              </a:solidFill>
            </a:endParaRPr>
          </a:p>
          <a:p>
            <a:pPr indent="0" lvl="0" marL="0" rtl="0" algn="l">
              <a:spcBef>
                <a:spcPts val="0"/>
              </a:spcBef>
              <a:spcAft>
                <a:spcPts val="0"/>
              </a:spcAft>
              <a:buClr>
                <a:schemeClr val="dk1"/>
              </a:buClr>
              <a:buSzPts val="1100"/>
              <a:buFont typeface="Arial"/>
              <a:buNone/>
            </a:pPr>
            <a:r>
              <a:rPr lang="it" sz="1600">
                <a:solidFill>
                  <a:schemeClr val="dk1"/>
                </a:solidFill>
              </a:rPr>
              <a:t>sched_process_exec</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it" sz="1800">
                <a:solidFill>
                  <a:schemeClr val="dk1"/>
                </a:solidFill>
              </a:rPr>
              <a:t>/bin/cat executed</a:t>
            </a:r>
            <a:endParaRPr b="1" sz="1800">
              <a:solidFill>
                <a:schemeClr val="dk1"/>
              </a:solidFill>
            </a:endParaRPr>
          </a:p>
          <a:p>
            <a:pPr indent="0" lvl="0" marL="0" rtl="0" algn="l">
              <a:spcBef>
                <a:spcPts val="0"/>
              </a:spcBef>
              <a:spcAft>
                <a:spcPts val="0"/>
              </a:spcAft>
              <a:buClr>
                <a:schemeClr val="dk1"/>
              </a:buClr>
              <a:buSzPts val="1100"/>
              <a:buFont typeface="Arial"/>
              <a:buNone/>
            </a:pPr>
            <a:r>
              <a:rPr lang="it" sz="1600">
                <a:solidFill>
                  <a:schemeClr val="dk1"/>
                </a:solidFill>
              </a:rPr>
              <a:t>sched_process_exec</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it" sz="1800">
                <a:solidFill>
                  <a:schemeClr val="dk1"/>
                </a:solidFill>
              </a:rPr>
              <a:t>Flag access observed</a:t>
            </a:r>
            <a:endParaRPr b="1" sz="1800">
              <a:solidFill>
                <a:schemeClr val="dk1"/>
              </a:solidFill>
            </a:endParaRPr>
          </a:p>
          <a:p>
            <a:pPr indent="0" lvl="0" marL="0" rtl="0" algn="l">
              <a:spcBef>
                <a:spcPts val="0"/>
              </a:spcBef>
              <a:spcAft>
                <a:spcPts val="0"/>
              </a:spcAft>
              <a:buClr>
                <a:schemeClr val="dk1"/>
              </a:buClr>
              <a:buSzPts val="1100"/>
              <a:buFont typeface="Arial"/>
              <a:buNone/>
            </a:pPr>
            <a:r>
              <a:rPr lang="it" sz="1600">
                <a:solidFill>
                  <a:schemeClr val="dk1"/>
                </a:solidFill>
              </a:rPr>
              <a:t>security_file_open</a:t>
            </a:r>
            <a:endParaRPr sz="1600">
              <a:solidFill>
                <a:schemeClr val="dk1"/>
              </a:solidFill>
            </a:endParaRPr>
          </a:p>
          <a:p>
            <a:pPr indent="0" lvl="0" marL="0" rtl="0" algn="l">
              <a:spcBef>
                <a:spcPts val="0"/>
              </a:spcBef>
              <a:spcAft>
                <a:spcPts val="0"/>
              </a:spcAft>
              <a:buNone/>
            </a:pPr>
            <a:r>
              <a:t/>
            </a:r>
            <a:endParaRPr b="1" sz="2000"/>
          </a:p>
          <a:p>
            <a:pPr indent="0" lvl="0" marL="0" rtl="0" algn="l">
              <a:spcBef>
                <a:spcPts val="0"/>
              </a:spcBef>
              <a:spcAft>
                <a:spcPts val="0"/>
              </a:spcAft>
              <a:buClr>
                <a:schemeClr val="dk1"/>
              </a:buClr>
              <a:buSzPts val="1100"/>
              <a:buFont typeface="Arial"/>
              <a:buNone/>
            </a:pPr>
            <a:r>
              <a:rPr b="1" lang="it" sz="1800">
                <a:solidFill>
                  <a:srgbClr val="042543"/>
                </a:solidFill>
              </a:rPr>
              <a:t>Successful open</a:t>
            </a:r>
            <a:endParaRPr b="1" sz="1800">
              <a:solidFill>
                <a:srgbClr val="042543"/>
              </a:solidFill>
            </a:endParaRPr>
          </a:p>
          <a:p>
            <a:pPr indent="0" lvl="0" marL="0" rtl="0" algn="l">
              <a:spcBef>
                <a:spcPts val="0"/>
              </a:spcBef>
              <a:spcAft>
                <a:spcPts val="0"/>
              </a:spcAft>
              <a:buNone/>
            </a:pPr>
            <a:r>
              <a:rPr lang="it" sz="1600"/>
              <a:t>open -&gt; fd 2</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p:txBody>
      </p:sp>
      <p:sp>
        <p:nvSpPr>
          <p:cNvPr id="389" name="Google Shape;389;p31"/>
          <p:cNvSpPr/>
          <p:nvPr/>
        </p:nvSpPr>
        <p:spPr>
          <a:xfrm>
            <a:off x="6227225" y="655501"/>
            <a:ext cx="2637000" cy="4238700"/>
          </a:xfrm>
          <a:prstGeom prst="roundRect">
            <a:avLst>
              <a:gd fmla="val 9560" name="adj"/>
            </a:avLst>
          </a:prstGeom>
          <a:solidFill>
            <a:srgbClr val="EA999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it" sz="2000"/>
              <a:t>Detector Result</a:t>
            </a:r>
            <a:endParaRPr b="1" sz="2000"/>
          </a:p>
          <a:p>
            <a:pPr indent="0" lvl="0" marL="0" rtl="0" algn="l">
              <a:spcBef>
                <a:spcPts val="0"/>
              </a:spcBef>
              <a:spcAft>
                <a:spcPts val="0"/>
              </a:spcAft>
              <a:buNone/>
            </a:pPr>
            <a:r>
              <a:t/>
            </a:r>
            <a:endParaRPr b="1" sz="2000"/>
          </a:p>
          <a:p>
            <a:pPr indent="0" lvl="0" marL="0" rtl="0" algn="l">
              <a:spcBef>
                <a:spcPts val="0"/>
              </a:spcBef>
              <a:spcAft>
                <a:spcPts val="0"/>
              </a:spcAft>
              <a:buClr>
                <a:schemeClr val="dk1"/>
              </a:buClr>
              <a:buSzPts val="1100"/>
              <a:buFont typeface="Arial"/>
              <a:buNone/>
            </a:pPr>
            <a:r>
              <a:rPr b="1" lang="it" sz="1800">
                <a:solidFill>
                  <a:schemeClr val="dk1"/>
                </a:solidFill>
              </a:rPr>
              <a:t>High severity alert</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it" sz="1800">
                <a:solidFill>
                  <a:schemeClr val="dk1"/>
                </a:solidFill>
              </a:rPr>
              <a:t>Command execution and flag access</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b="1" lang="it" sz="1800">
                <a:solidFill>
                  <a:schemeClr val="dk1"/>
                </a:solidFill>
              </a:rPr>
              <a:t>4 correlated events</a:t>
            </a:r>
            <a:endParaRPr sz="1600">
              <a:solidFill>
                <a:schemeClr val="dk1"/>
              </a:solidFill>
            </a:endParaRPr>
          </a:p>
          <a:p>
            <a:pPr indent="0" lvl="0" marL="0" rtl="0" algn="l">
              <a:spcBef>
                <a:spcPts val="0"/>
              </a:spcBef>
              <a:spcAft>
                <a:spcPts val="0"/>
              </a:spcAft>
              <a:buNone/>
            </a:pPr>
            <a:r>
              <a:t/>
            </a:r>
            <a:endParaRPr b="1" sz="2000"/>
          </a:p>
          <a:p>
            <a:pPr indent="0" lvl="0" marL="0" rtl="0" algn="l">
              <a:spcBef>
                <a:spcPts val="0"/>
              </a:spcBef>
              <a:spcAft>
                <a:spcPts val="0"/>
              </a:spcAft>
              <a:buClr>
                <a:schemeClr val="dk1"/>
              </a:buClr>
              <a:buSzPts val="1100"/>
              <a:buFont typeface="Arial"/>
              <a:buNone/>
            </a:pPr>
            <a:r>
              <a:rPr b="1" lang="it" sz="1800">
                <a:solidFill>
                  <a:srgbClr val="042543"/>
                </a:solidFill>
              </a:rPr>
              <a:t>MITRE ATT&amp;CK:</a:t>
            </a:r>
            <a:endParaRPr b="1" sz="1800">
              <a:solidFill>
                <a:srgbClr val="042543"/>
              </a:solidFill>
            </a:endParaRPr>
          </a:p>
          <a:p>
            <a:pPr indent="0" lvl="0" marL="0" rtl="0" algn="l">
              <a:spcBef>
                <a:spcPts val="0"/>
              </a:spcBef>
              <a:spcAft>
                <a:spcPts val="0"/>
              </a:spcAft>
              <a:buClr>
                <a:schemeClr val="dk1"/>
              </a:buClr>
              <a:buSzPts val="1100"/>
              <a:buFont typeface="Arial"/>
              <a:buNone/>
            </a:pPr>
            <a:r>
              <a:rPr lang="it" sz="1600">
                <a:solidFill>
                  <a:schemeClr val="dk1"/>
                </a:solidFill>
              </a:rPr>
              <a:t>TA0002 Execution</a:t>
            </a:r>
            <a:endParaRPr sz="1600">
              <a:solidFill>
                <a:schemeClr val="dk1"/>
              </a:solidFill>
            </a:endParaRPr>
          </a:p>
          <a:p>
            <a:pPr indent="0" lvl="0" marL="0" rtl="0" algn="l">
              <a:spcBef>
                <a:spcPts val="0"/>
              </a:spcBef>
              <a:spcAft>
                <a:spcPts val="0"/>
              </a:spcAft>
              <a:buClr>
                <a:schemeClr val="dk1"/>
              </a:buClr>
              <a:buSzPts val="1100"/>
              <a:buFont typeface="Arial"/>
              <a:buNone/>
            </a:pPr>
            <a:r>
              <a:rPr lang="it" sz="1600">
                <a:solidFill>
                  <a:schemeClr val="dk1"/>
                </a:solidFill>
              </a:rPr>
              <a:t>TA0009 Collection</a:t>
            </a:r>
            <a:endParaRPr sz="1600">
              <a:solidFill>
                <a:schemeClr val="dk1"/>
              </a:solidFill>
            </a:endParaRPr>
          </a:p>
          <a:p>
            <a:pPr indent="0" lvl="0" marL="0" rtl="0" algn="l">
              <a:spcBef>
                <a:spcPts val="0"/>
              </a:spcBef>
              <a:spcAft>
                <a:spcPts val="0"/>
              </a:spcAft>
              <a:buClr>
                <a:schemeClr val="dk1"/>
              </a:buClr>
              <a:buSzPts val="1100"/>
              <a:buFont typeface="Arial"/>
              <a:buNone/>
            </a:pPr>
            <a:r>
              <a:rPr lang="it" sz="1600">
                <a:solidFill>
                  <a:schemeClr val="dk1"/>
                </a:solidFill>
              </a:rPr>
              <a:t>T1059.004 Unix shell</a:t>
            </a:r>
            <a:endParaRPr sz="1600">
              <a:solidFill>
                <a:schemeClr val="dk1"/>
              </a:solidFill>
            </a:endParaRPr>
          </a:p>
          <a:p>
            <a:pPr indent="0" lvl="0" marL="0" rtl="0" algn="l">
              <a:spcBef>
                <a:spcPts val="0"/>
              </a:spcBef>
              <a:spcAft>
                <a:spcPts val="0"/>
              </a:spcAft>
              <a:buClr>
                <a:schemeClr val="dk1"/>
              </a:buClr>
              <a:buSzPts val="1100"/>
              <a:buFont typeface="Arial"/>
              <a:buNone/>
            </a:pPr>
            <a:r>
              <a:rPr lang="it" sz="1600">
                <a:solidFill>
                  <a:schemeClr val="dk1"/>
                </a:solidFill>
              </a:rPr>
              <a:t>T1005 Data from Local system</a:t>
            </a:r>
            <a:endParaRPr sz="1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3" name="Shape 393"/>
        <p:cNvGrpSpPr/>
        <p:nvPr/>
      </p:nvGrpSpPr>
      <p:grpSpPr>
        <a:xfrm>
          <a:off x="0" y="0"/>
          <a:ext cx="0" cy="0"/>
          <a:chOff x="0" y="0"/>
          <a:chExt cx="0" cy="0"/>
        </a:xfrm>
      </p:grpSpPr>
      <p:sp>
        <p:nvSpPr>
          <p:cNvPr id="394" name="Google Shape;394;p32"/>
          <p:cNvSpPr txBox="1"/>
          <p:nvPr/>
        </p:nvSpPr>
        <p:spPr>
          <a:xfrm>
            <a:off x="0" y="0"/>
            <a:ext cx="9144000" cy="8010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it" sz="2800">
                <a:solidFill>
                  <a:srgbClr val="042543"/>
                </a:solidFill>
                <a:latin typeface="Roboto ExtraBold"/>
                <a:ea typeface="Roboto ExtraBold"/>
                <a:cs typeface="Roboto ExtraBold"/>
                <a:sym typeface="Roboto ExtraBold"/>
              </a:rPr>
              <a:t>Evaluation Results: CPU Consumption</a:t>
            </a:r>
            <a:endParaRPr sz="2800">
              <a:solidFill>
                <a:srgbClr val="042543"/>
              </a:solidFill>
              <a:latin typeface="Roboto ExtraBold"/>
              <a:ea typeface="Roboto ExtraBold"/>
              <a:cs typeface="Roboto ExtraBold"/>
              <a:sym typeface="Roboto ExtraBold"/>
            </a:endParaRPr>
          </a:p>
        </p:txBody>
      </p:sp>
      <p:sp>
        <p:nvSpPr>
          <p:cNvPr id="395" name="Google Shape;395;p32"/>
          <p:cNvSpPr/>
          <p:nvPr/>
        </p:nvSpPr>
        <p:spPr>
          <a:xfrm>
            <a:off x="5813850" y="1075413"/>
            <a:ext cx="3207300" cy="3513300"/>
          </a:xfrm>
          <a:prstGeom prst="rect">
            <a:avLst/>
          </a:prstGeom>
          <a:noFill/>
          <a:ln cap="flat" cmpd="sng" w="38100">
            <a:solidFill>
              <a:srgbClr val="042543"/>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lang="it" sz="1800">
                <a:solidFill>
                  <a:schemeClr val="dk1"/>
                </a:solidFill>
              </a:rPr>
              <a:t>The prototype reduced mean CPU by about 92% through filtering before transport.</a:t>
            </a:r>
            <a:endParaRPr sz="1800">
              <a:solidFill>
                <a:schemeClr val="dk1"/>
              </a:solidFill>
            </a:endParaRPr>
          </a:p>
          <a:p>
            <a:pPr indent="-342900" lvl="0" marL="457200" rtl="0" algn="l">
              <a:spcBef>
                <a:spcPts val="0"/>
              </a:spcBef>
              <a:spcAft>
                <a:spcPts val="0"/>
              </a:spcAft>
              <a:buClr>
                <a:schemeClr val="dk1"/>
              </a:buClr>
              <a:buSzPts val="1800"/>
              <a:buChar char="-"/>
            </a:pPr>
            <a:r>
              <a:rPr lang="it" sz="1800">
                <a:solidFill>
                  <a:schemeClr val="dk1"/>
                </a:solidFill>
              </a:rPr>
              <a:t>All retained runs recovered the flags and produced the required evidence.</a:t>
            </a:r>
            <a:endParaRPr sz="1800">
              <a:solidFill>
                <a:schemeClr val="dk1"/>
              </a:solidFill>
            </a:endParaRPr>
          </a:p>
          <a:p>
            <a:pPr indent="-342900" lvl="0" marL="457200" rtl="0" algn="l">
              <a:spcBef>
                <a:spcPts val="0"/>
              </a:spcBef>
              <a:spcAft>
                <a:spcPts val="0"/>
              </a:spcAft>
              <a:buClr>
                <a:schemeClr val="dk1"/>
              </a:buClr>
              <a:buSzPts val="1800"/>
              <a:buChar char="-"/>
            </a:pPr>
            <a:r>
              <a:rPr lang="it" sz="1800">
                <a:solidFill>
                  <a:schemeClr val="dk1"/>
                </a:solidFill>
              </a:rPr>
              <a:t>Falco, Tetragon, and the prototype apply</a:t>
            </a:r>
            <a:r>
              <a:rPr lang="it"/>
              <a:t> </a:t>
            </a:r>
            <a:r>
              <a:rPr b="1" lang="it" sz="1800"/>
              <a:t>UID </a:t>
            </a:r>
            <a:r>
              <a:rPr lang="it" sz="1800"/>
              <a:t>selection at different stages</a:t>
            </a:r>
            <a:endParaRPr sz="1800"/>
          </a:p>
        </p:txBody>
      </p:sp>
      <p:sp>
        <p:nvSpPr>
          <p:cNvPr id="396" name="Google Shape;39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397" name="Google Shape;397;p32" title="mean_monitor_container_cpu_consumption.png"/>
          <p:cNvPicPr preferRelativeResize="0"/>
          <p:nvPr/>
        </p:nvPicPr>
        <p:blipFill>
          <a:blip r:embed="rId3">
            <a:alphaModFix/>
          </a:blip>
          <a:stretch>
            <a:fillRect/>
          </a:stretch>
        </p:blipFill>
        <p:spPr>
          <a:xfrm>
            <a:off x="152400" y="953400"/>
            <a:ext cx="5509048" cy="37605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3"/>
          <p:cNvSpPr/>
          <p:nvPr/>
        </p:nvSpPr>
        <p:spPr>
          <a:xfrm>
            <a:off x="0" y="0"/>
            <a:ext cx="9144000" cy="700087"/>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4" name="Google Shape;404;p33"/>
          <p:cNvSpPr/>
          <p:nvPr/>
        </p:nvSpPr>
        <p:spPr>
          <a:xfrm>
            <a:off x="514350" y="128588"/>
            <a:ext cx="8115300" cy="4429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300">
                <a:solidFill>
                  <a:srgbClr val="FFFFFF"/>
                </a:solidFill>
                <a:latin typeface="Arial"/>
                <a:ea typeface="Arial"/>
                <a:cs typeface="Arial"/>
                <a:sym typeface="Arial"/>
              </a:rPr>
              <a:t>Networking Subsystem</a:t>
            </a:r>
            <a:endParaRPr sz="1100"/>
          </a:p>
        </p:txBody>
      </p:sp>
      <p:sp>
        <p:nvSpPr>
          <p:cNvPr id="405" name="Google Shape;405;p33"/>
          <p:cNvSpPr/>
          <p:nvPr/>
        </p:nvSpPr>
        <p:spPr>
          <a:xfrm>
            <a:off x="8215313" y="4872038"/>
            <a:ext cx="500063" cy="12858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r>
              <a:rPr b="0" lang="it" sz="700">
                <a:solidFill>
                  <a:srgbClr val="7898B1"/>
                </a:solidFill>
                <a:latin typeface="Arial"/>
                <a:ea typeface="Arial"/>
                <a:cs typeface="Arial"/>
                <a:sym typeface="Arial"/>
              </a:rPr>
              <a:t>19</a:t>
            </a:r>
            <a:endParaRPr sz="1100"/>
          </a:p>
        </p:txBody>
      </p:sp>
      <p:sp>
        <p:nvSpPr>
          <p:cNvPr id="406" name="Google Shape;406;p33"/>
          <p:cNvSpPr/>
          <p:nvPr/>
        </p:nvSpPr>
        <p:spPr>
          <a:xfrm>
            <a:off x="514350" y="900113"/>
            <a:ext cx="8115300" cy="2714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600">
                <a:solidFill>
                  <a:srgbClr val="0A2E4F"/>
                </a:solidFill>
                <a:latin typeface="Arial"/>
                <a:ea typeface="Arial"/>
                <a:cs typeface="Arial"/>
                <a:sym typeface="Arial"/>
              </a:rPr>
              <a:t>The network path combines process context with packet and protocol metadata.</a:t>
            </a:r>
            <a:endParaRPr sz="1300"/>
          </a:p>
        </p:txBody>
      </p:sp>
      <p:sp>
        <p:nvSpPr>
          <p:cNvPr id="407" name="Google Shape;407;p33"/>
          <p:cNvSpPr/>
          <p:nvPr/>
        </p:nvSpPr>
        <p:spPr>
          <a:xfrm>
            <a:off x="257175" y="1371625"/>
            <a:ext cx="409200" cy="2715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263">
                <a:solidFill>
                  <a:srgbClr val="F45F57"/>
                </a:solidFill>
                <a:latin typeface="Arial"/>
                <a:ea typeface="Arial"/>
                <a:cs typeface="Arial"/>
                <a:sym typeface="Arial"/>
              </a:rPr>
              <a:t>01</a:t>
            </a:r>
            <a:endParaRPr sz="1370"/>
          </a:p>
        </p:txBody>
      </p:sp>
      <p:sp>
        <p:nvSpPr>
          <p:cNvPr id="408" name="Google Shape;408;p33"/>
          <p:cNvSpPr/>
          <p:nvPr/>
        </p:nvSpPr>
        <p:spPr>
          <a:xfrm>
            <a:off x="257175" y="1777702"/>
            <a:ext cx="1823100" cy="3213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589">
                <a:solidFill>
                  <a:srgbClr val="0A2E4F"/>
                </a:solidFill>
                <a:latin typeface="Arial"/>
                <a:ea typeface="Arial"/>
                <a:cs typeface="Arial"/>
                <a:sym typeface="Arial"/>
              </a:rPr>
              <a:t>OBSERVE</a:t>
            </a:r>
            <a:endParaRPr sz="1270"/>
          </a:p>
        </p:txBody>
      </p:sp>
      <p:cxnSp>
        <p:nvCxnSpPr>
          <p:cNvPr id="409" name="Google Shape;409;p33"/>
          <p:cNvCxnSpPr/>
          <p:nvPr/>
        </p:nvCxnSpPr>
        <p:spPr>
          <a:xfrm>
            <a:off x="257175" y="2251460"/>
            <a:ext cx="1671300" cy="0"/>
          </a:xfrm>
          <a:prstGeom prst="straightConnector1">
            <a:avLst/>
          </a:prstGeom>
          <a:noFill/>
          <a:ln cap="flat" cmpd="sng" w="50650">
            <a:solidFill>
              <a:srgbClr val="F45F57"/>
            </a:solidFill>
            <a:prstDash val="solid"/>
            <a:round/>
            <a:headEnd len="sm" w="sm" type="none"/>
            <a:tailEnd len="sm" w="sm" type="none"/>
          </a:ln>
        </p:spPr>
      </p:cxnSp>
      <p:sp>
        <p:nvSpPr>
          <p:cNvPr id="410" name="Google Shape;410;p33"/>
          <p:cNvSpPr/>
          <p:nvPr/>
        </p:nvSpPr>
        <p:spPr>
          <a:xfrm>
            <a:off x="257175" y="2513718"/>
            <a:ext cx="1823100" cy="947700"/>
          </a:xfrm>
          <a:prstGeom prst="rect">
            <a:avLst/>
          </a:prstGeom>
          <a:solidFill>
            <a:srgbClr val="FDECEB"/>
          </a:solidFill>
          <a:ln>
            <a:noFill/>
          </a:ln>
        </p:spPr>
        <p:txBody>
          <a:bodyPr anchorCtr="0" anchor="ctr" bIns="72925" lIns="72925" spcFirstLastPara="1" rIns="72925" wrap="square" tIns="72925">
            <a:noAutofit/>
          </a:bodyPr>
          <a:lstStyle/>
          <a:p>
            <a:pPr indent="0" lvl="0" marL="0" rtl="0" algn="l">
              <a:spcBef>
                <a:spcPts val="0"/>
              </a:spcBef>
              <a:spcAft>
                <a:spcPts val="0"/>
              </a:spcAft>
              <a:buNone/>
            </a:pPr>
            <a:r>
              <a:t/>
            </a:r>
            <a:endParaRPr/>
          </a:p>
        </p:txBody>
      </p:sp>
      <p:sp>
        <p:nvSpPr>
          <p:cNvPr id="411" name="Google Shape;411;p33"/>
          <p:cNvSpPr/>
          <p:nvPr/>
        </p:nvSpPr>
        <p:spPr>
          <a:xfrm>
            <a:off x="272400" y="2708300"/>
            <a:ext cx="1823100" cy="575400"/>
          </a:xfrm>
          <a:prstGeom prst="rect">
            <a:avLst/>
          </a:prstGeom>
          <a:noFill/>
          <a:ln>
            <a:noFill/>
          </a:ln>
        </p:spPr>
        <p:txBody>
          <a:bodyPr anchorCtr="0" anchor="t" bIns="36450" lIns="72925" spcFirstLastPara="1" rIns="72925" wrap="square" tIns="36450">
            <a:noAutofit/>
          </a:bodyPr>
          <a:lstStyle/>
          <a:p>
            <a:pPr indent="0" lvl="0" marL="0" marR="0" rtl="0" algn="ctr">
              <a:spcBef>
                <a:spcPts val="0"/>
              </a:spcBef>
              <a:spcAft>
                <a:spcPts val="0"/>
              </a:spcAft>
              <a:buNone/>
            </a:pPr>
            <a:r>
              <a:rPr b="1" lang="it" sz="1300">
                <a:solidFill>
                  <a:srgbClr val="062B49"/>
                </a:solidFill>
              </a:rPr>
              <a:t>Socket operations</a:t>
            </a:r>
            <a:endParaRPr b="1" sz="1300">
              <a:solidFill>
                <a:srgbClr val="062B49"/>
              </a:solidFill>
            </a:endParaRPr>
          </a:p>
          <a:p>
            <a:pPr indent="0" lvl="0" marL="0" marR="0" rtl="0" algn="ctr">
              <a:spcBef>
                <a:spcPts val="0"/>
              </a:spcBef>
              <a:spcAft>
                <a:spcPts val="0"/>
              </a:spcAft>
              <a:buNone/>
            </a:pPr>
            <a:r>
              <a:rPr b="1" lang="it" sz="1300">
                <a:solidFill>
                  <a:srgbClr val="062B49"/>
                </a:solidFill>
              </a:rPr>
              <a:t>and packets</a:t>
            </a:r>
            <a:endParaRPr b="1" sz="1300">
              <a:solidFill>
                <a:srgbClr val="062B49"/>
              </a:solidFill>
            </a:endParaRPr>
          </a:p>
        </p:txBody>
      </p:sp>
      <p:sp>
        <p:nvSpPr>
          <p:cNvPr id="412" name="Google Shape;412;p33"/>
          <p:cNvSpPr/>
          <p:nvPr/>
        </p:nvSpPr>
        <p:spPr>
          <a:xfrm>
            <a:off x="2482947" y="1371625"/>
            <a:ext cx="349500" cy="2199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263">
                <a:solidFill>
                  <a:srgbClr val="F2B632"/>
                </a:solidFill>
                <a:latin typeface="Arial"/>
                <a:ea typeface="Arial"/>
                <a:cs typeface="Arial"/>
                <a:sym typeface="Arial"/>
              </a:rPr>
              <a:t>02</a:t>
            </a:r>
            <a:endParaRPr sz="1370"/>
          </a:p>
        </p:txBody>
      </p:sp>
      <p:sp>
        <p:nvSpPr>
          <p:cNvPr id="413" name="Google Shape;413;p33"/>
          <p:cNvSpPr/>
          <p:nvPr/>
        </p:nvSpPr>
        <p:spPr>
          <a:xfrm>
            <a:off x="2482947" y="1777702"/>
            <a:ext cx="1823100" cy="3213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589">
                <a:solidFill>
                  <a:srgbClr val="0A2E4F"/>
                </a:solidFill>
                <a:latin typeface="Arial"/>
                <a:ea typeface="Arial"/>
                <a:cs typeface="Arial"/>
                <a:sym typeface="Arial"/>
              </a:rPr>
              <a:t>CORRELATE</a:t>
            </a:r>
            <a:endParaRPr sz="1270"/>
          </a:p>
        </p:txBody>
      </p:sp>
      <p:cxnSp>
        <p:nvCxnSpPr>
          <p:cNvPr id="414" name="Google Shape;414;p33"/>
          <p:cNvCxnSpPr/>
          <p:nvPr/>
        </p:nvCxnSpPr>
        <p:spPr>
          <a:xfrm>
            <a:off x="2482947" y="2251460"/>
            <a:ext cx="1671300" cy="0"/>
          </a:xfrm>
          <a:prstGeom prst="straightConnector1">
            <a:avLst/>
          </a:prstGeom>
          <a:noFill/>
          <a:ln cap="flat" cmpd="sng" w="50650">
            <a:solidFill>
              <a:srgbClr val="F2B632"/>
            </a:solidFill>
            <a:prstDash val="solid"/>
            <a:round/>
            <a:headEnd len="sm" w="sm" type="none"/>
            <a:tailEnd len="sm" w="sm" type="none"/>
          </a:ln>
        </p:spPr>
      </p:cxnSp>
      <p:sp>
        <p:nvSpPr>
          <p:cNvPr id="415" name="Google Shape;415;p33"/>
          <p:cNvSpPr/>
          <p:nvPr/>
        </p:nvSpPr>
        <p:spPr>
          <a:xfrm>
            <a:off x="2482947" y="2513718"/>
            <a:ext cx="1823100" cy="947700"/>
          </a:xfrm>
          <a:prstGeom prst="rect">
            <a:avLst/>
          </a:prstGeom>
          <a:solidFill>
            <a:srgbClr val="FFF4D9"/>
          </a:solidFill>
          <a:ln>
            <a:noFill/>
          </a:ln>
        </p:spPr>
        <p:txBody>
          <a:bodyPr anchorCtr="0" anchor="ctr" bIns="72925" lIns="72925" spcFirstLastPara="1" rIns="72925" wrap="square" tIns="72925">
            <a:noAutofit/>
          </a:bodyPr>
          <a:lstStyle/>
          <a:p>
            <a:pPr indent="0" lvl="0" marL="0" rtl="0" algn="l">
              <a:spcBef>
                <a:spcPts val="0"/>
              </a:spcBef>
              <a:spcAft>
                <a:spcPts val="0"/>
              </a:spcAft>
              <a:buNone/>
            </a:pPr>
            <a:r>
              <a:t/>
            </a:r>
            <a:endParaRPr/>
          </a:p>
        </p:txBody>
      </p:sp>
      <p:sp>
        <p:nvSpPr>
          <p:cNvPr id="416" name="Google Shape;416;p33"/>
          <p:cNvSpPr/>
          <p:nvPr/>
        </p:nvSpPr>
        <p:spPr>
          <a:xfrm>
            <a:off x="2498175" y="2708300"/>
            <a:ext cx="1823100" cy="575400"/>
          </a:xfrm>
          <a:prstGeom prst="rect">
            <a:avLst/>
          </a:prstGeom>
          <a:noFill/>
          <a:ln>
            <a:noFill/>
          </a:ln>
        </p:spPr>
        <p:txBody>
          <a:bodyPr anchorCtr="0" anchor="t" bIns="36450" lIns="72925" spcFirstLastPara="1" rIns="72925" wrap="square" tIns="36450">
            <a:noAutofit/>
          </a:bodyPr>
          <a:lstStyle/>
          <a:p>
            <a:pPr indent="0" lvl="0" marL="0" marR="0" rtl="0" algn="ctr">
              <a:spcBef>
                <a:spcPts val="0"/>
              </a:spcBef>
              <a:spcAft>
                <a:spcPts val="0"/>
              </a:spcAft>
              <a:buNone/>
            </a:pPr>
            <a:r>
              <a:rPr b="1" lang="it" sz="1300">
                <a:solidFill>
                  <a:srgbClr val="062B49"/>
                </a:solidFill>
              </a:rPr>
              <a:t>Process context</a:t>
            </a:r>
            <a:endParaRPr b="1" sz="1300">
              <a:solidFill>
                <a:srgbClr val="062B49"/>
              </a:solidFill>
            </a:endParaRPr>
          </a:p>
          <a:p>
            <a:pPr indent="0" lvl="0" marL="0" marR="0" rtl="0" algn="ctr">
              <a:spcBef>
                <a:spcPts val="0"/>
              </a:spcBef>
              <a:spcAft>
                <a:spcPts val="0"/>
              </a:spcAft>
              <a:buNone/>
            </a:pPr>
            <a:r>
              <a:rPr b="1" lang="it" sz="1300">
                <a:solidFill>
                  <a:srgbClr val="062B49"/>
                </a:solidFill>
              </a:rPr>
              <a:t>with each packet</a:t>
            </a:r>
            <a:endParaRPr b="1" sz="1300">
              <a:solidFill>
                <a:srgbClr val="062B49"/>
              </a:solidFill>
            </a:endParaRPr>
          </a:p>
        </p:txBody>
      </p:sp>
      <p:sp>
        <p:nvSpPr>
          <p:cNvPr id="417" name="Google Shape;417;p33"/>
          <p:cNvSpPr/>
          <p:nvPr/>
        </p:nvSpPr>
        <p:spPr>
          <a:xfrm>
            <a:off x="4708720" y="1371625"/>
            <a:ext cx="349500" cy="2199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263">
                <a:solidFill>
                  <a:srgbClr val="1E5FD0"/>
                </a:solidFill>
                <a:latin typeface="Arial"/>
                <a:ea typeface="Arial"/>
                <a:cs typeface="Arial"/>
                <a:sym typeface="Arial"/>
              </a:rPr>
              <a:t>03</a:t>
            </a:r>
            <a:endParaRPr sz="1370"/>
          </a:p>
        </p:txBody>
      </p:sp>
      <p:sp>
        <p:nvSpPr>
          <p:cNvPr id="418" name="Google Shape;418;p33"/>
          <p:cNvSpPr/>
          <p:nvPr/>
        </p:nvSpPr>
        <p:spPr>
          <a:xfrm>
            <a:off x="4708720" y="1777702"/>
            <a:ext cx="1823100" cy="3213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589">
                <a:solidFill>
                  <a:srgbClr val="0A2E4F"/>
                </a:solidFill>
                <a:latin typeface="Arial"/>
                <a:ea typeface="Arial"/>
                <a:cs typeface="Arial"/>
                <a:sym typeface="Arial"/>
              </a:rPr>
              <a:t>DECODE</a:t>
            </a:r>
            <a:endParaRPr sz="1270"/>
          </a:p>
        </p:txBody>
      </p:sp>
      <p:cxnSp>
        <p:nvCxnSpPr>
          <p:cNvPr id="419" name="Google Shape;419;p33"/>
          <p:cNvCxnSpPr/>
          <p:nvPr/>
        </p:nvCxnSpPr>
        <p:spPr>
          <a:xfrm>
            <a:off x="4708720" y="2251460"/>
            <a:ext cx="1671300" cy="0"/>
          </a:xfrm>
          <a:prstGeom prst="straightConnector1">
            <a:avLst/>
          </a:prstGeom>
          <a:noFill/>
          <a:ln cap="flat" cmpd="sng" w="50650">
            <a:solidFill>
              <a:srgbClr val="1E5FD0"/>
            </a:solidFill>
            <a:prstDash val="solid"/>
            <a:round/>
            <a:headEnd len="sm" w="sm" type="none"/>
            <a:tailEnd len="sm" w="sm" type="none"/>
          </a:ln>
        </p:spPr>
      </p:cxnSp>
      <p:sp>
        <p:nvSpPr>
          <p:cNvPr id="420" name="Google Shape;420;p33"/>
          <p:cNvSpPr/>
          <p:nvPr/>
        </p:nvSpPr>
        <p:spPr>
          <a:xfrm>
            <a:off x="4708720" y="2513718"/>
            <a:ext cx="1823100" cy="947700"/>
          </a:xfrm>
          <a:prstGeom prst="rect">
            <a:avLst/>
          </a:prstGeom>
          <a:solidFill>
            <a:srgbClr val="EAF2FB"/>
          </a:solidFill>
          <a:ln>
            <a:noFill/>
          </a:ln>
        </p:spPr>
        <p:txBody>
          <a:bodyPr anchorCtr="0" anchor="ctr" bIns="72925" lIns="72925" spcFirstLastPara="1" rIns="72925" wrap="square" tIns="72925">
            <a:noAutofit/>
          </a:bodyPr>
          <a:lstStyle/>
          <a:p>
            <a:pPr indent="0" lvl="0" marL="0" rtl="0" algn="l">
              <a:spcBef>
                <a:spcPts val="0"/>
              </a:spcBef>
              <a:spcAft>
                <a:spcPts val="0"/>
              </a:spcAft>
              <a:buNone/>
            </a:pPr>
            <a:r>
              <a:t/>
            </a:r>
            <a:endParaRPr/>
          </a:p>
        </p:txBody>
      </p:sp>
      <p:sp>
        <p:nvSpPr>
          <p:cNvPr id="421" name="Google Shape;421;p33"/>
          <p:cNvSpPr/>
          <p:nvPr/>
        </p:nvSpPr>
        <p:spPr>
          <a:xfrm>
            <a:off x="4723950" y="2708300"/>
            <a:ext cx="1823100" cy="575400"/>
          </a:xfrm>
          <a:prstGeom prst="rect">
            <a:avLst/>
          </a:prstGeom>
          <a:noFill/>
          <a:ln>
            <a:noFill/>
          </a:ln>
        </p:spPr>
        <p:txBody>
          <a:bodyPr anchorCtr="0" anchor="t" bIns="36450" lIns="72925" spcFirstLastPara="1" rIns="72925" wrap="square" tIns="36450">
            <a:noAutofit/>
          </a:bodyPr>
          <a:lstStyle/>
          <a:p>
            <a:pPr indent="0" lvl="0" marL="0" marR="0" rtl="0" algn="ctr">
              <a:spcBef>
                <a:spcPts val="0"/>
              </a:spcBef>
              <a:spcAft>
                <a:spcPts val="0"/>
              </a:spcAft>
              <a:buNone/>
            </a:pPr>
            <a:r>
              <a:rPr b="1" lang="it" sz="1300">
                <a:solidFill>
                  <a:srgbClr val="062B49"/>
                </a:solidFill>
              </a:rPr>
              <a:t>Binary records into</a:t>
            </a:r>
            <a:endParaRPr b="1" sz="1300">
              <a:solidFill>
                <a:srgbClr val="062B49"/>
              </a:solidFill>
            </a:endParaRPr>
          </a:p>
          <a:p>
            <a:pPr indent="0" lvl="0" marL="0" marR="0" rtl="0" algn="ctr">
              <a:spcBef>
                <a:spcPts val="0"/>
              </a:spcBef>
              <a:spcAft>
                <a:spcPts val="0"/>
              </a:spcAft>
              <a:buNone/>
            </a:pPr>
            <a:r>
              <a:rPr b="1" lang="it" sz="1300">
                <a:solidFill>
                  <a:srgbClr val="062B49"/>
                </a:solidFill>
              </a:rPr>
              <a:t>normalized events</a:t>
            </a:r>
            <a:endParaRPr b="1" sz="1300">
              <a:solidFill>
                <a:srgbClr val="062B49"/>
              </a:solidFill>
            </a:endParaRPr>
          </a:p>
        </p:txBody>
      </p:sp>
      <p:sp>
        <p:nvSpPr>
          <p:cNvPr id="422" name="Google Shape;422;p33"/>
          <p:cNvSpPr/>
          <p:nvPr/>
        </p:nvSpPr>
        <p:spPr>
          <a:xfrm>
            <a:off x="6934492" y="1371625"/>
            <a:ext cx="349500" cy="2199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263">
                <a:solidFill>
                  <a:srgbClr val="2FB477"/>
                </a:solidFill>
                <a:latin typeface="Arial"/>
                <a:ea typeface="Arial"/>
                <a:cs typeface="Arial"/>
                <a:sym typeface="Arial"/>
              </a:rPr>
              <a:t>04</a:t>
            </a:r>
            <a:endParaRPr sz="1370"/>
          </a:p>
        </p:txBody>
      </p:sp>
      <p:sp>
        <p:nvSpPr>
          <p:cNvPr id="423" name="Google Shape;423;p33"/>
          <p:cNvSpPr/>
          <p:nvPr/>
        </p:nvSpPr>
        <p:spPr>
          <a:xfrm>
            <a:off x="6934492" y="1777702"/>
            <a:ext cx="1823100" cy="321300"/>
          </a:xfrm>
          <a:prstGeom prst="rect">
            <a:avLst/>
          </a:prstGeom>
          <a:noFill/>
          <a:ln>
            <a:noFill/>
          </a:ln>
        </p:spPr>
        <p:txBody>
          <a:bodyPr anchorCtr="0" anchor="t" bIns="36450" lIns="72925" spcFirstLastPara="1" rIns="72925" wrap="square" tIns="36450">
            <a:noAutofit/>
          </a:bodyPr>
          <a:lstStyle/>
          <a:p>
            <a:pPr indent="0" lvl="0" marL="0" marR="0" rtl="0" algn="l">
              <a:spcBef>
                <a:spcPts val="0"/>
              </a:spcBef>
              <a:spcAft>
                <a:spcPts val="0"/>
              </a:spcAft>
              <a:buNone/>
            </a:pPr>
            <a:r>
              <a:rPr b="1" lang="it" sz="1589">
                <a:solidFill>
                  <a:srgbClr val="0A2E4F"/>
                </a:solidFill>
                <a:latin typeface="Arial"/>
                <a:ea typeface="Arial"/>
                <a:cs typeface="Arial"/>
                <a:sym typeface="Arial"/>
              </a:rPr>
              <a:t>ENRICH</a:t>
            </a:r>
            <a:endParaRPr sz="1270"/>
          </a:p>
        </p:txBody>
      </p:sp>
      <p:cxnSp>
        <p:nvCxnSpPr>
          <p:cNvPr id="424" name="Google Shape;424;p33"/>
          <p:cNvCxnSpPr/>
          <p:nvPr/>
        </p:nvCxnSpPr>
        <p:spPr>
          <a:xfrm>
            <a:off x="6934492" y="2251460"/>
            <a:ext cx="1671300" cy="0"/>
          </a:xfrm>
          <a:prstGeom prst="straightConnector1">
            <a:avLst/>
          </a:prstGeom>
          <a:noFill/>
          <a:ln cap="flat" cmpd="sng" w="50650">
            <a:solidFill>
              <a:srgbClr val="2FB477"/>
            </a:solidFill>
            <a:prstDash val="solid"/>
            <a:round/>
            <a:headEnd len="sm" w="sm" type="none"/>
            <a:tailEnd len="sm" w="sm" type="none"/>
          </a:ln>
        </p:spPr>
      </p:cxnSp>
      <p:sp>
        <p:nvSpPr>
          <p:cNvPr id="425" name="Google Shape;425;p33"/>
          <p:cNvSpPr/>
          <p:nvPr/>
        </p:nvSpPr>
        <p:spPr>
          <a:xfrm>
            <a:off x="6934492" y="2513718"/>
            <a:ext cx="1823100" cy="947700"/>
          </a:xfrm>
          <a:prstGeom prst="rect">
            <a:avLst/>
          </a:prstGeom>
          <a:solidFill>
            <a:srgbClr val="E5F5EC"/>
          </a:solidFill>
          <a:ln>
            <a:noFill/>
          </a:ln>
        </p:spPr>
        <p:txBody>
          <a:bodyPr anchorCtr="0" anchor="ctr" bIns="72925" lIns="72925" spcFirstLastPara="1" rIns="72925" wrap="square" tIns="72925">
            <a:noAutofit/>
          </a:bodyPr>
          <a:lstStyle/>
          <a:p>
            <a:pPr indent="0" lvl="0" marL="0" rtl="0" algn="l">
              <a:spcBef>
                <a:spcPts val="0"/>
              </a:spcBef>
              <a:spcAft>
                <a:spcPts val="0"/>
              </a:spcAft>
              <a:buNone/>
            </a:pPr>
            <a:r>
              <a:t/>
            </a:r>
            <a:endParaRPr/>
          </a:p>
        </p:txBody>
      </p:sp>
      <p:sp>
        <p:nvSpPr>
          <p:cNvPr id="426" name="Google Shape;426;p33"/>
          <p:cNvSpPr/>
          <p:nvPr/>
        </p:nvSpPr>
        <p:spPr>
          <a:xfrm>
            <a:off x="6949725" y="2708300"/>
            <a:ext cx="1823100" cy="575400"/>
          </a:xfrm>
          <a:prstGeom prst="rect">
            <a:avLst/>
          </a:prstGeom>
          <a:noFill/>
          <a:ln>
            <a:noFill/>
          </a:ln>
        </p:spPr>
        <p:txBody>
          <a:bodyPr anchorCtr="0" anchor="t" bIns="36450" lIns="72925" spcFirstLastPara="1" rIns="72925" wrap="square" tIns="36450">
            <a:noAutofit/>
          </a:bodyPr>
          <a:lstStyle/>
          <a:p>
            <a:pPr indent="0" lvl="0" marL="0" marR="0" rtl="0" algn="ctr">
              <a:spcBef>
                <a:spcPts val="0"/>
              </a:spcBef>
              <a:spcAft>
                <a:spcPts val="0"/>
              </a:spcAft>
              <a:buNone/>
            </a:pPr>
            <a:r>
              <a:rPr b="1" lang="it" sz="1300">
                <a:solidFill>
                  <a:srgbClr val="062B49"/>
                </a:solidFill>
              </a:rPr>
              <a:t>Socket fields and</a:t>
            </a:r>
            <a:endParaRPr b="1" sz="1300">
              <a:solidFill>
                <a:srgbClr val="062B49"/>
              </a:solidFill>
            </a:endParaRPr>
          </a:p>
          <a:p>
            <a:pPr indent="0" lvl="0" marL="0" marR="0" rtl="0" algn="ctr">
              <a:spcBef>
                <a:spcPts val="0"/>
              </a:spcBef>
              <a:spcAft>
                <a:spcPts val="0"/>
              </a:spcAft>
              <a:buNone/>
            </a:pPr>
            <a:r>
              <a:rPr b="1" lang="it" sz="1300">
                <a:solidFill>
                  <a:srgbClr val="062B49"/>
                </a:solidFill>
              </a:rPr>
              <a:t>protocol metadata</a:t>
            </a:r>
            <a:endParaRPr b="1" sz="1300">
              <a:solidFill>
                <a:srgbClr val="062B49"/>
              </a:solidFill>
            </a:endParaRPr>
          </a:p>
        </p:txBody>
      </p:sp>
      <p:sp>
        <p:nvSpPr>
          <p:cNvPr id="427" name="Google Shape;427;p33"/>
          <p:cNvSpPr/>
          <p:nvPr/>
        </p:nvSpPr>
        <p:spPr>
          <a:xfrm>
            <a:off x="257175" y="3977290"/>
            <a:ext cx="4200900" cy="541800"/>
          </a:xfrm>
          <a:prstGeom prst="rect">
            <a:avLst/>
          </a:prstGeom>
          <a:solidFill>
            <a:srgbClr val="FFF4D9"/>
          </a:solidFill>
          <a:ln>
            <a:noFill/>
          </a:ln>
        </p:spPr>
        <p:txBody>
          <a:bodyPr anchorCtr="0" anchor="ctr" bIns="72925" lIns="72925" spcFirstLastPara="1" rIns="72925" wrap="square" tIns="72925">
            <a:noAutofit/>
          </a:bodyPr>
          <a:lstStyle/>
          <a:p>
            <a:pPr indent="0" lvl="0" marL="0" rtl="0" algn="l">
              <a:spcBef>
                <a:spcPts val="0"/>
              </a:spcBef>
              <a:spcAft>
                <a:spcPts val="0"/>
              </a:spcAft>
              <a:buNone/>
            </a:pPr>
            <a:r>
              <a:t/>
            </a:r>
            <a:endParaRPr/>
          </a:p>
        </p:txBody>
      </p:sp>
      <p:sp>
        <p:nvSpPr>
          <p:cNvPr id="428" name="Google Shape;428;p33"/>
          <p:cNvSpPr/>
          <p:nvPr/>
        </p:nvSpPr>
        <p:spPr>
          <a:xfrm>
            <a:off x="454684" y="4121109"/>
            <a:ext cx="3798300" cy="262500"/>
          </a:xfrm>
          <a:prstGeom prst="rect">
            <a:avLst/>
          </a:prstGeom>
          <a:noFill/>
          <a:ln>
            <a:noFill/>
          </a:ln>
        </p:spPr>
        <p:txBody>
          <a:bodyPr anchorCtr="0" anchor="t" bIns="36450" lIns="72925" spcFirstLastPara="1" rIns="72925" wrap="square" tIns="36450">
            <a:noAutofit/>
          </a:bodyPr>
          <a:lstStyle/>
          <a:p>
            <a:pPr indent="0" lvl="0" marL="0" marR="0" rtl="0" algn="ctr">
              <a:spcBef>
                <a:spcPts val="0"/>
              </a:spcBef>
              <a:spcAft>
                <a:spcPts val="0"/>
              </a:spcAft>
              <a:buNone/>
            </a:pPr>
            <a:r>
              <a:rPr b="1" lang="it">
                <a:solidFill>
                  <a:srgbClr val="0A2E4F"/>
                </a:solidFill>
                <a:latin typeface="Arial"/>
                <a:ea typeface="Arial"/>
                <a:cs typeface="Arial"/>
                <a:sym typeface="Arial"/>
              </a:rPr>
              <a:t>Kernel space: observation and correlation</a:t>
            </a:r>
            <a:endParaRPr/>
          </a:p>
        </p:txBody>
      </p:sp>
      <p:sp>
        <p:nvSpPr>
          <p:cNvPr id="429" name="Google Shape;429;p33"/>
          <p:cNvSpPr/>
          <p:nvPr/>
        </p:nvSpPr>
        <p:spPr>
          <a:xfrm>
            <a:off x="4685930" y="3977290"/>
            <a:ext cx="4200900" cy="541800"/>
          </a:xfrm>
          <a:prstGeom prst="rect">
            <a:avLst/>
          </a:prstGeom>
          <a:solidFill>
            <a:srgbClr val="E5F5EC"/>
          </a:solidFill>
          <a:ln>
            <a:noFill/>
          </a:ln>
        </p:spPr>
        <p:txBody>
          <a:bodyPr anchorCtr="0" anchor="ctr" bIns="72925" lIns="72925" spcFirstLastPara="1" rIns="72925" wrap="square" tIns="72925">
            <a:noAutofit/>
          </a:bodyPr>
          <a:lstStyle/>
          <a:p>
            <a:pPr indent="0" lvl="0" marL="0" rtl="0" algn="l">
              <a:spcBef>
                <a:spcPts val="0"/>
              </a:spcBef>
              <a:spcAft>
                <a:spcPts val="0"/>
              </a:spcAft>
              <a:buNone/>
            </a:pPr>
            <a:r>
              <a:t/>
            </a:r>
            <a:endParaRPr/>
          </a:p>
        </p:txBody>
      </p:sp>
      <p:sp>
        <p:nvSpPr>
          <p:cNvPr id="430" name="Google Shape;430;p33"/>
          <p:cNvSpPr/>
          <p:nvPr/>
        </p:nvSpPr>
        <p:spPr>
          <a:xfrm>
            <a:off x="4883439" y="4121109"/>
            <a:ext cx="3798300" cy="262500"/>
          </a:xfrm>
          <a:prstGeom prst="rect">
            <a:avLst/>
          </a:prstGeom>
          <a:noFill/>
          <a:ln>
            <a:noFill/>
          </a:ln>
        </p:spPr>
        <p:txBody>
          <a:bodyPr anchorCtr="0" anchor="t" bIns="36450" lIns="72925" spcFirstLastPara="1" rIns="72925" wrap="square" tIns="36450">
            <a:noAutofit/>
          </a:bodyPr>
          <a:lstStyle/>
          <a:p>
            <a:pPr indent="0" lvl="0" marL="0" marR="0" rtl="0" algn="ctr">
              <a:spcBef>
                <a:spcPts val="0"/>
              </a:spcBef>
              <a:spcAft>
                <a:spcPts val="0"/>
              </a:spcAft>
              <a:buNone/>
            </a:pPr>
            <a:r>
              <a:rPr b="1" lang="it">
                <a:solidFill>
                  <a:srgbClr val="0A2E4F"/>
                </a:solidFill>
                <a:latin typeface="Arial"/>
                <a:ea typeface="Arial"/>
                <a:cs typeface="Arial"/>
                <a:sym typeface="Arial"/>
              </a:rPr>
              <a:t>User space: decoding and enrichment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p34"/>
          <p:cNvSpPr/>
          <p:nvPr/>
        </p:nvSpPr>
        <p:spPr>
          <a:xfrm>
            <a:off x="0" y="0"/>
            <a:ext cx="9144000" cy="700087"/>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7" name="Google Shape;437;p34"/>
          <p:cNvSpPr/>
          <p:nvPr/>
        </p:nvSpPr>
        <p:spPr>
          <a:xfrm>
            <a:off x="514350" y="128588"/>
            <a:ext cx="8115300" cy="4429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300">
                <a:solidFill>
                  <a:srgbClr val="FFFFFF"/>
                </a:solidFill>
                <a:latin typeface="Arial"/>
                <a:ea typeface="Arial"/>
                <a:cs typeface="Arial"/>
                <a:sym typeface="Arial"/>
              </a:rPr>
              <a:t>Network Observation Surfaces</a:t>
            </a:r>
            <a:endParaRPr sz="1100"/>
          </a:p>
        </p:txBody>
      </p:sp>
      <p:sp>
        <p:nvSpPr>
          <p:cNvPr id="438" name="Google Shape;438;p34"/>
          <p:cNvSpPr/>
          <p:nvPr/>
        </p:nvSpPr>
        <p:spPr>
          <a:xfrm>
            <a:off x="8001000" y="4872038"/>
            <a:ext cx="628650" cy="12858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r>
              <a:rPr b="0" lang="it" sz="700">
                <a:solidFill>
                  <a:srgbClr val="7898B1"/>
                </a:solidFill>
                <a:latin typeface="Arial"/>
                <a:ea typeface="Arial"/>
                <a:cs typeface="Arial"/>
                <a:sym typeface="Arial"/>
              </a:rPr>
              <a:t>20</a:t>
            </a:r>
            <a:endParaRPr sz="1100"/>
          </a:p>
        </p:txBody>
      </p:sp>
      <p:sp>
        <p:nvSpPr>
          <p:cNvPr id="439" name="Google Shape;439;p34"/>
          <p:cNvSpPr/>
          <p:nvPr/>
        </p:nvSpPr>
        <p:spPr>
          <a:xfrm>
            <a:off x="255750" y="878713"/>
            <a:ext cx="8632500" cy="257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500">
                <a:solidFill>
                  <a:srgbClr val="0A2E4F"/>
                </a:solidFill>
                <a:latin typeface="Arial"/>
                <a:ea typeface="Arial"/>
                <a:cs typeface="Arial"/>
                <a:sym typeface="Arial"/>
              </a:rPr>
              <a:t>Socket-level kprobes observe</a:t>
            </a:r>
            <a:r>
              <a:rPr b="1" lang="it" sz="1500">
                <a:solidFill>
                  <a:srgbClr val="0A2E4F"/>
                </a:solidFill>
              </a:rPr>
              <a:t> socket operations, </a:t>
            </a:r>
            <a:r>
              <a:rPr b="1" lang="it" sz="1500">
                <a:solidFill>
                  <a:srgbClr val="0A2E4F"/>
                </a:solidFill>
                <a:latin typeface="Arial"/>
                <a:ea typeface="Arial"/>
                <a:cs typeface="Arial"/>
                <a:sym typeface="Arial"/>
              </a:rPr>
              <a:t> cgroup_skb programs </a:t>
            </a:r>
            <a:r>
              <a:rPr b="1" lang="it" sz="1500">
                <a:solidFill>
                  <a:srgbClr val="0A2E4F"/>
                </a:solidFill>
              </a:rPr>
              <a:t>collect </a:t>
            </a:r>
            <a:r>
              <a:rPr b="1" lang="it" sz="1500">
                <a:solidFill>
                  <a:srgbClr val="0A2E4F"/>
                </a:solidFill>
                <a:latin typeface="Arial"/>
                <a:ea typeface="Arial"/>
                <a:cs typeface="Arial"/>
                <a:sym typeface="Arial"/>
              </a:rPr>
              <a:t>packet traffic.</a:t>
            </a:r>
            <a:endParaRPr sz="1300"/>
          </a:p>
        </p:txBody>
      </p:sp>
      <p:sp>
        <p:nvSpPr>
          <p:cNvPr id="440" name="Google Shape;440;p34"/>
          <p:cNvSpPr/>
          <p:nvPr/>
        </p:nvSpPr>
        <p:spPr>
          <a:xfrm>
            <a:off x="514350" y="1328738"/>
            <a:ext cx="3571875" cy="17145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2463C7"/>
                </a:solidFill>
              </a:rPr>
              <a:t>SOCKET OPERATIONS</a:t>
            </a:r>
            <a:endParaRPr sz="1700"/>
          </a:p>
        </p:txBody>
      </p:sp>
      <p:sp>
        <p:nvSpPr>
          <p:cNvPr id="441" name="Google Shape;441;p34"/>
          <p:cNvSpPr/>
          <p:nvPr/>
        </p:nvSpPr>
        <p:spPr>
          <a:xfrm>
            <a:off x="514350" y="1571625"/>
            <a:ext cx="3714750" cy="2714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600">
                <a:solidFill>
                  <a:srgbClr val="0A2E4F"/>
                </a:solidFill>
                <a:latin typeface="Arial"/>
                <a:ea typeface="Arial"/>
                <a:cs typeface="Arial"/>
                <a:sym typeface="Arial"/>
              </a:rPr>
              <a:t>LSM socket dispatch functions</a:t>
            </a:r>
            <a:endParaRPr sz="1200"/>
          </a:p>
        </p:txBody>
      </p:sp>
      <p:sp>
        <p:nvSpPr>
          <p:cNvPr id="442" name="Google Shape;442;p34"/>
          <p:cNvSpPr/>
          <p:nvPr/>
        </p:nvSpPr>
        <p:spPr>
          <a:xfrm>
            <a:off x="514350" y="1857375"/>
            <a:ext cx="3571875" cy="1857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52697A"/>
                </a:solidFill>
                <a:latin typeface="Arial"/>
                <a:ea typeface="Arial"/>
                <a:cs typeface="Arial"/>
                <a:sym typeface="Arial"/>
              </a:rPr>
              <a:t>kprobes on security_socket functions</a:t>
            </a:r>
            <a:endParaRPr/>
          </a:p>
        </p:txBody>
      </p:sp>
      <p:sp>
        <p:nvSpPr>
          <p:cNvPr id="443" name="Google Shape;443;p34"/>
          <p:cNvSpPr/>
          <p:nvPr/>
        </p:nvSpPr>
        <p:spPr>
          <a:xfrm>
            <a:off x="514350" y="2214563"/>
            <a:ext cx="42863" cy="385763"/>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34"/>
          <p:cNvSpPr/>
          <p:nvPr/>
        </p:nvSpPr>
        <p:spPr>
          <a:xfrm>
            <a:off x="671513" y="2193131"/>
            <a:ext cx="3414713" cy="1857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latin typeface="Arial"/>
                <a:ea typeface="Arial"/>
                <a:cs typeface="Arial"/>
                <a:sym typeface="Arial"/>
              </a:rPr>
              <a:t>Observation point</a:t>
            </a:r>
            <a:endParaRPr sz="1300">
              <a:solidFill>
                <a:srgbClr val="062B49"/>
              </a:solidFill>
            </a:endParaRPr>
          </a:p>
        </p:txBody>
      </p:sp>
      <p:sp>
        <p:nvSpPr>
          <p:cNvPr id="445" name="Google Shape;445;p34"/>
          <p:cNvSpPr/>
          <p:nvPr/>
        </p:nvSpPr>
        <p:spPr>
          <a:xfrm>
            <a:off x="671513" y="2400300"/>
            <a:ext cx="3414713" cy="24288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200">
                <a:solidFill>
                  <a:srgbClr val="062B49"/>
                </a:solidFill>
                <a:latin typeface="Arial"/>
                <a:ea typeface="Arial"/>
                <a:cs typeface="Arial"/>
                <a:sym typeface="Arial"/>
              </a:rPr>
              <a:t>entry of an LSM socket dispatch function</a:t>
            </a:r>
            <a:endParaRPr>
              <a:solidFill>
                <a:srgbClr val="062B49"/>
              </a:solidFill>
            </a:endParaRPr>
          </a:p>
        </p:txBody>
      </p:sp>
      <p:sp>
        <p:nvSpPr>
          <p:cNvPr id="446" name="Google Shape;446;p34"/>
          <p:cNvSpPr/>
          <p:nvPr/>
        </p:nvSpPr>
        <p:spPr>
          <a:xfrm>
            <a:off x="514350" y="2686050"/>
            <a:ext cx="42863" cy="385763"/>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34"/>
          <p:cNvSpPr/>
          <p:nvPr/>
        </p:nvSpPr>
        <p:spPr>
          <a:xfrm>
            <a:off x="671513" y="2664619"/>
            <a:ext cx="3414713" cy="1857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latin typeface="Arial"/>
                <a:ea typeface="Arial"/>
                <a:cs typeface="Arial"/>
                <a:sym typeface="Arial"/>
              </a:rPr>
              <a:t>Available context</a:t>
            </a:r>
            <a:endParaRPr sz="1300">
              <a:solidFill>
                <a:srgbClr val="062B49"/>
              </a:solidFill>
            </a:endParaRPr>
          </a:p>
        </p:txBody>
      </p:sp>
      <p:sp>
        <p:nvSpPr>
          <p:cNvPr id="448" name="Google Shape;448;p34"/>
          <p:cNvSpPr/>
          <p:nvPr/>
        </p:nvSpPr>
        <p:spPr>
          <a:xfrm>
            <a:off x="671513" y="2871788"/>
            <a:ext cx="3414713" cy="24288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200">
                <a:solidFill>
                  <a:srgbClr val="062B49"/>
                </a:solidFill>
                <a:latin typeface="Arial"/>
                <a:ea typeface="Arial"/>
                <a:cs typeface="Arial"/>
                <a:sym typeface="Arial"/>
              </a:rPr>
              <a:t>current task and native socket arguments</a:t>
            </a:r>
            <a:endParaRPr>
              <a:solidFill>
                <a:srgbClr val="062B49"/>
              </a:solidFill>
            </a:endParaRPr>
          </a:p>
        </p:txBody>
      </p:sp>
      <p:sp>
        <p:nvSpPr>
          <p:cNvPr id="449" name="Google Shape;449;p34"/>
          <p:cNvSpPr/>
          <p:nvPr/>
        </p:nvSpPr>
        <p:spPr>
          <a:xfrm>
            <a:off x="514350" y="3157538"/>
            <a:ext cx="42863" cy="385763"/>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0" name="Google Shape;450;p34"/>
          <p:cNvSpPr/>
          <p:nvPr/>
        </p:nvSpPr>
        <p:spPr>
          <a:xfrm>
            <a:off x="671513" y="3136106"/>
            <a:ext cx="3414713" cy="1857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latin typeface="Arial"/>
                <a:ea typeface="Arial"/>
                <a:cs typeface="Arial"/>
                <a:sym typeface="Arial"/>
              </a:rPr>
              <a:t>Collected state</a:t>
            </a:r>
            <a:endParaRPr sz="1300">
              <a:solidFill>
                <a:srgbClr val="062B49"/>
              </a:solidFill>
            </a:endParaRPr>
          </a:p>
        </p:txBody>
      </p:sp>
      <p:sp>
        <p:nvSpPr>
          <p:cNvPr id="451" name="Google Shape;451;p34"/>
          <p:cNvSpPr/>
          <p:nvPr/>
        </p:nvSpPr>
        <p:spPr>
          <a:xfrm>
            <a:off x="671526" y="3343275"/>
            <a:ext cx="36507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200">
                <a:solidFill>
                  <a:srgbClr val="062B49"/>
                </a:solidFill>
                <a:latin typeface="Arial"/>
                <a:ea typeface="Arial"/>
                <a:cs typeface="Arial"/>
                <a:sym typeface="Arial"/>
              </a:rPr>
              <a:t>public socket events and </a:t>
            </a:r>
            <a:r>
              <a:rPr lang="it" sz="1200">
                <a:solidFill>
                  <a:srgbClr val="062B49"/>
                </a:solidFill>
              </a:rPr>
              <a:t>process/workload context </a:t>
            </a:r>
            <a:endParaRPr>
              <a:solidFill>
                <a:srgbClr val="062B49"/>
              </a:solidFill>
            </a:endParaRPr>
          </a:p>
        </p:txBody>
      </p:sp>
      <p:sp>
        <p:nvSpPr>
          <p:cNvPr id="452" name="Google Shape;452;p34"/>
          <p:cNvSpPr/>
          <p:nvPr/>
        </p:nvSpPr>
        <p:spPr>
          <a:xfrm>
            <a:off x="514350" y="3629025"/>
            <a:ext cx="42863" cy="385763"/>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34"/>
          <p:cNvSpPr/>
          <p:nvPr/>
        </p:nvSpPr>
        <p:spPr>
          <a:xfrm>
            <a:off x="671513" y="3607594"/>
            <a:ext cx="3414713" cy="18573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latin typeface="Arial"/>
                <a:ea typeface="Arial"/>
                <a:cs typeface="Arial"/>
                <a:sym typeface="Arial"/>
              </a:rPr>
              <a:t>Platform constraint</a:t>
            </a:r>
            <a:endParaRPr sz="1300">
              <a:solidFill>
                <a:srgbClr val="062B49"/>
              </a:solidFill>
            </a:endParaRPr>
          </a:p>
        </p:txBody>
      </p:sp>
      <p:sp>
        <p:nvSpPr>
          <p:cNvPr id="454" name="Google Shape;454;p34"/>
          <p:cNvSpPr/>
          <p:nvPr/>
        </p:nvSpPr>
        <p:spPr>
          <a:xfrm>
            <a:off x="671513" y="3814763"/>
            <a:ext cx="3414713" cy="242888"/>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200">
                <a:solidFill>
                  <a:srgbClr val="062B49"/>
                </a:solidFill>
                <a:latin typeface="Arial"/>
                <a:ea typeface="Arial"/>
                <a:cs typeface="Arial"/>
                <a:sym typeface="Arial"/>
              </a:rPr>
              <a:t>kernel 4.18 lacks the BPF LSM program type</a:t>
            </a:r>
            <a:endParaRPr>
              <a:solidFill>
                <a:srgbClr val="062B49"/>
              </a:solidFill>
            </a:endParaRPr>
          </a:p>
        </p:txBody>
      </p:sp>
      <p:cxnSp>
        <p:nvCxnSpPr>
          <p:cNvPr id="455" name="Google Shape;455;p34"/>
          <p:cNvCxnSpPr/>
          <p:nvPr/>
        </p:nvCxnSpPr>
        <p:spPr>
          <a:xfrm>
            <a:off x="4471988" y="1314556"/>
            <a:ext cx="2400" cy="2874600"/>
          </a:xfrm>
          <a:prstGeom prst="straightConnector1">
            <a:avLst/>
          </a:prstGeom>
          <a:noFill/>
          <a:ln cap="flat" cmpd="sng" w="19050">
            <a:solidFill>
              <a:srgbClr val="C9D5DE"/>
            </a:solidFill>
            <a:prstDash val="solid"/>
            <a:round/>
            <a:headEnd len="sm" w="sm" type="none"/>
            <a:tailEnd len="sm" w="sm" type="none"/>
          </a:ln>
        </p:spPr>
      </p:cxnSp>
      <p:sp>
        <p:nvSpPr>
          <p:cNvPr id="456" name="Google Shape;456;p34"/>
          <p:cNvSpPr/>
          <p:nvPr/>
        </p:nvSpPr>
        <p:spPr>
          <a:xfrm>
            <a:off x="4857750" y="1328738"/>
            <a:ext cx="3571875" cy="17145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2FB477"/>
                </a:solidFill>
              </a:rPr>
              <a:t>PACKET TRAFFIC</a:t>
            </a:r>
            <a:endParaRPr sz="1700"/>
          </a:p>
        </p:txBody>
      </p:sp>
      <p:sp>
        <p:nvSpPr>
          <p:cNvPr id="457" name="Google Shape;457;p34"/>
          <p:cNvSpPr/>
          <p:nvPr/>
        </p:nvSpPr>
        <p:spPr>
          <a:xfrm>
            <a:off x="4857750" y="1571625"/>
            <a:ext cx="3714750" cy="27146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600">
                <a:solidFill>
                  <a:srgbClr val="0A2E4F"/>
                </a:solidFill>
                <a:latin typeface="Arial"/>
                <a:ea typeface="Arial"/>
                <a:cs typeface="Arial"/>
                <a:sym typeface="Arial"/>
              </a:rPr>
              <a:t>cgroup_skb packet programs</a:t>
            </a:r>
            <a:endParaRPr sz="1200"/>
          </a:p>
        </p:txBody>
      </p:sp>
      <p:sp>
        <p:nvSpPr>
          <p:cNvPr id="458" name="Google Shape;458;p34"/>
          <p:cNvSpPr/>
          <p:nvPr/>
        </p:nvSpPr>
        <p:spPr>
          <a:xfrm>
            <a:off x="4857750" y="1857375"/>
            <a:ext cx="4122000" cy="271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52697A"/>
                </a:solidFill>
                <a:latin typeface="Arial"/>
                <a:ea typeface="Arial"/>
                <a:cs typeface="Arial"/>
                <a:sym typeface="Arial"/>
              </a:rPr>
              <a:t>attached to a directory in the cgroup v2 hierarchy</a:t>
            </a:r>
            <a:endParaRPr/>
          </a:p>
        </p:txBody>
      </p:sp>
      <p:sp>
        <p:nvSpPr>
          <p:cNvPr id="459" name="Google Shape;459;p34"/>
          <p:cNvSpPr/>
          <p:nvPr/>
        </p:nvSpPr>
        <p:spPr>
          <a:xfrm>
            <a:off x="4857750" y="2272312"/>
            <a:ext cx="42900" cy="385800"/>
          </a:xfrm>
          <a:prstGeom prst="rect">
            <a:avLst/>
          </a:prstGeom>
          <a:solidFill>
            <a:srgbClr val="2FB4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0" name="Google Shape;460;p34"/>
          <p:cNvSpPr/>
          <p:nvPr/>
        </p:nvSpPr>
        <p:spPr>
          <a:xfrm>
            <a:off x="5014913" y="2202923"/>
            <a:ext cx="3414600" cy="185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latin typeface="Arial"/>
                <a:ea typeface="Arial"/>
                <a:cs typeface="Arial"/>
                <a:sym typeface="Arial"/>
              </a:rPr>
              <a:t>Attachment</a:t>
            </a:r>
            <a:endParaRPr sz="1300">
              <a:solidFill>
                <a:srgbClr val="062B49"/>
              </a:solidFill>
            </a:endParaRPr>
          </a:p>
        </p:txBody>
      </p:sp>
      <p:sp>
        <p:nvSpPr>
          <p:cNvPr id="461" name="Google Shape;461;p34"/>
          <p:cNvSpPr/>
          <p:nvPr/>
        </p:nvSpPr>
        <p:spPr>
          <a:xfrm>
            <a:off x="5014925" y="2410100"/>
            <a:ext cx="39648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200">
                <a:solidFill>
                  <a:srgbClr val="062B49"/>
                </a:solidFill>
                <a:latin typeface="Arial"/>
                <a:ea typeface="Arial"/>
                <a:cs typeface="Arial"/>
                <a:sym typeface="Arial"/>
              </a:rPr>
              <a:t>cgroup v2 directory with ingress and egress attach types</a:t>
            </a:r>
            <a:endParaRPr>
              <a:solidFill>
                <a:srgbClr val="062B49"/>
              </a:solidFill>
            </a:endParaRPr>
          </a:p>
        </p:txBody>
      </p:sp>
      <p:sp>
        <p:nvSpPr>
          <p:cNvPr id="462" name="Google Shape;462;p34"/>
          <p:cNvSpPr/>
          <p:nvPr/>
        </p:nvSpPr>
        <p:spPr>
          <a:xfrm>
            <a:off x="4860175" y="2909145"/>
            <a:ext cx="42900" cy="385800"/>
          </a:xfrm>
          <a:prstGeom prst="rect">
            <a:avLst/>
          </a:prstGeom>
          <a:solidFill>
            <a:srgbClr val="2FB4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3" name="Google Shape;463;p34"/>
          <p:cNvSpPr/>
          <p:nvPr/>
        </p:nvSpPr>
        <p:spPr>
          <a:xfrm>
            <a:off x="5007813" y="2837906"/>
            <a:ext cx="3414600" cy="185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rPr>
              <a:t>Available context</a:t>
            </a:r>
            <a:endParaRPr sz="1300">
              <a:solidFill>
                <a:srgbClr val="062B49"/>
              </a:solidFill>
            </a:endParaRPr>
          </a:p>
        </p:txBody>
      </p:sp>
      <p:sp>
        <p:nvSpPr>
          <p:cNvPr id="464" name="Google Shape;464;p34"/>
          <p:cNvSpPr/>
          <p:nvPr/>
        </p:nvSpPr>
        <p:spPr>
          <a:xfrm>
            <a:off x="5007825" y="3045075"/>
            <a:ext cx="38358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200">
                <a:solidFill>
                  <a:srgbClr val="062B49"/>
                </a:solidFill>
                <a:latin typeface="Arial"/>
                <a:ea typeface="Arial"/>
                <a:cs typeface="Arial"/>
                <a:sym typeface="Arial"/>
              </a:rPr>
              <a:t>packet available through the restricted BPF context: struct __sk_buff</a:t>
            </a:r>
            <a:endParaRPr>
              <a:solidFill>
                <a:srgbClr val="062B49"/>
              </a:solidFill>
            </a:endParaRPr>
          </a:p>
        </p:txBody>
      </p:sp>
      <p:sp>
        <p:nvSpPr>
          <p:cNvPr id="465" name="Google Shape;465;p34"/>
          <p:cNvSpPr/>
          <p:nvPr/>
        </p:nvSpPr>
        <p:spPr>
          <a:xfrm>
            <a:off x="4860175" y="3623520"/>
            <a:ext cx="42900" cy="385800"/>
          </a:xfrm>
          <a:prstGeom prst="rect">
            <a:avLst/>
          </a:prstGeom>
          <a:solidFill>
            <a:srgbClr val="2FB4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6" name="Google Shape;466;p34"/>
          <p:cNvSpPr/>
          <p:nvPr/>
        </p:nvSpPr>
        <p:spPr>
          <a:xfrm>
            <a:off x="5017338" y="3554131"/>
            <a:ext cx="3414600" cy="185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62B49"/>
                </a:solidFill>
                <a:latin typeface="Arial"/>
                <a:ea typeface="Arial"/>
                <a:cs typeface="Arial"/>
                <a:sym typeface="Arial"/>
              </a:rPr>
              <a:t>Collection </a:t>
            </a:r>
            <a:r>
              <a:rPr b="1" lang="it" sz="1300">
                <a:solidFill>
                  <a:srgbClr val="062B49"/>
                </a:solidFill>
              </a:rPr>
              <a:t>state</a:t>
            </a:r>
            <a:endParaRPr sz="1300">
              <a:solidFill>
                <a:srgbClr val="062B49"/>
              </a:solidFill>
            </a:endParaRPr>
          </a:p>
        </p:txBody>
      </p:sp>
      <p:sp>
        <p:nvSpPr>
          <p:cNvPr id="467" name="Google Shape;467;p34"/>
          <p:cNvSpPr/>
          <p:nvPr/>
        </p:nvSpPr>
        <p:spPr>
          <a:xfrm>
            <a:off x="5017350" y="3761300"/>
            <a:ext cx="3571800" cy="3429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it" sz="1100">
                <a:solidFill>
                  <a:srgbClr val="062B49"/>
                </a:solidFill>
              </a:rPr>
              <a:t>packet headers, payload bytes, lacks process identity </a:t>
            </a:r>
            <a:endParaRPr sz="1300">
              <a:solidFill>
                <a:srgbClr val="062B49"/>
              </a:solidFill>
            </a:endParaRPr>
          </a:p>
        </p:txBody>
      </p:sp>
      <p:sp>
        <p:nvSpPr>
          <p:cNvPr id="468" name="Google Shape;468;p34"/>
          <p:cNvSpPr/>
          <p:nvPr/>
        </p:nvSpPr>
        <p:spPr>
          <a:xfrm>
            <a:off x="514363" y="4371988"/>
            <a:ext cx="7915200" cy="342900"/>
          </a:xfrm>
          <a:prstGeom prst="rect">
            <a:avLst/>
          </a:prstGeom>
          <a:solidFill>
            <a:srgbClr val="C4E9FB">
              <a:alpha val="327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9" name="Google Shape;469;p34"/>
          <p:cNvSpPr/>
          <p:nvPr/>
        </p:nvSpPr>
        <p:spPr>
          <a:xfrm>
            <a:off x="557225" y="4432750"/>
            <a:ext cx="7865400" cy="1785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a:solidFill>
                  <a:srgbClr val="0A2E4F"/>
                </a:solidFill>
                <a:latin typeface="Arial"/>
                <a:ea typeface="Arial"/>
                <a:cs typeface="Arial"/>
                <a:sym typeface="Arial"/>
              </a:rPr>
              <a:t>Socket probes provide process identity. cgroup_skb programs provide packet visibility.</a:t>
            </a:r>
            <a:endParaRPr sz="1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3" name="Shape 473"/>
        <p:cNvGrpSpPr/>
        <p:nvPr/>
      </p:nvGrpSpPr>
      <p:grpSpPr>
        <a:xfrm>
          <a:off x="0" y="0"/>
          <a:ext cx="0" cy="0"/>
          <a:chOff x="0" y="0"/>
          <a:chExt cx="0" cy="0"/>
        </a:xfrm>
      </p:grpSpPr>
      <p:sp>
        <p:nvSpPr>
          <p:cNvPr id="474" name="Google Shape;474;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475" name="Google Shape;475;p35"/>
          <p:cNvSpPr txBox="1"/>
          <p:nvPr>
            <p:ph type="title"/>
          </p:nvPr>
        </p:nvSpPr>
        <p:spPr>
          <a:xfrm>
            <a:off x="0" y="0"/>
            <a:ext cx="9144000" cy="655500"/>
          </a:xfrm>
          <a:prstGeom prst="rect">
            <a:avLst/>
          </a:prstGeom>
          <a:solidFill>
            <a:srgbClr val="042543"/>
          </a:solidFill>
        </p:spPr>
        <p:txBody>
          <a:bodyPr anchorCtr="0" anchor="t" bIns="91425" lIns="91425" spcFirstLastPara="1" rIns="91425" wrap="square" tIns="91425">
            <a:normAutofit/>
          </a:bodyPr>
          <a:lstStyle/>
          <a:p>
            <a:pPr indent="0" lvl="0" marL="457200" rtl="0" algn="l">
              <a:spcBef>
                <a:spcPts val="0"/>
              </a:spcBef>
              <a:spcAft>
                <a:spcPts val="0"/>
              </a:spcAft>
              <a:buNone/>
            </a:pPr>
            <a:r>
              <a:rPr b="1" lang="it" sz="2600">
                <a:solidFill>
                  <a:schemeClr val="lt1"/>
                </a:solidFill>
              </a:rPr>
              <a:t>Packet tracing with cgroup v2</a:t>
            </a:r>
            <a:endParaRPr b="1" sz="2600">
              <a:solidFill>
                <a:schemeClr val="lt1"/>
              </a:solidFill>
            </a:endParaRPr>
          </a:p>
        </p:txBody>
      </p:sp>
      <p:sp>
        <p:nvSpPr>
          <p:cNvPr id="476" name="Google Shape;476;p35"/>
          <p:cNvSpPr txBox="1"/>
          <p:nvPr/>
        </p:nvSpPr>
        <p:spPr>
          <a:xfrm>
            <a:off x="1169975" y="983050"/>
            <a:ext cx="7488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600">
                <a:solidFill>
                  <a:srgbClr val="042543"/>
                </a:solidFill>
              </a:rPr>
              <a:t>Attach point</a:t>
            </a:r>
            <a:endParaRPr b="1" sz="1600">
              <a:solidFill>
                <a:srgbClr val="042543"/>
              </a:solidFill>
            </a:endParaRPr>
          </a:p>
          <a:p>
            <a:pPr indent="0" lvl="0" marL="0" rtl="0" algn="l">
              <a:spcBef>
                <a:spcPts val="0"/>
              </a:spcBef>
              <a:spcAft>
                <a:spcPts val="0"/>
              </a:spcAft>
              <a:buNone/>
            </a:pPr>
            <a:r>
              <a:rPr lang="it" sz="1200">
                <a:solidFill>
                  <a:srgbClr val="042543"/>
                </a:solidFill>
              </a:rPr>
              <a:t>Two eBPF programs are attached to a cgroup, one for ingress and one for egress. The kernel runs them for the socket traffic associated with that cgroup and its descendants. </a:t>
            </a:r>
            <a:endParaRPr sz="1200">
              <a:solidFill>
                <a:srgbClr val="042543"/>
              </a:solidFill>
            </a:endParaRPr>
          </a:p>
        </p:txBody>
      </p:sp>
      <p:sp>
        <p:nvSpPr>
          <p:cNvPr id="477" name="Google Shape;477;p35"/>
          <p:cNvSpPr txBox="1"/>
          <p:nvPr/>
        </p:nvSpPr>
        <p:spPr>
          <a:xfrm>
            <a:off x="1169975" y="1873325"/>
            <a:ext cx="7488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600">
                <a:solidFill>
                  <a:srgbClr val="042543"/>
                </a:solidFill>
              </a:rPr>
              <a:t>Why cgroup v2</a:t>
            </a:r>
            <a:endParaRPr b="1" sz="1600">
              <a:solidFill>
                <a:srgbClr val="042543"/>
              </a:solidFill>
            </a:endParaRPr>
          </a:p>
          <a:p>
            <a:pPr indent="0" lvl="0" marL="0" rtl="0" algn="l">
              <a:spcBef>
                <a:spcPts val="0"/>
              </a:spcBef>
              <a:spcAft>
                <a:spcPts val="0"/>
              </a:spcAft>
              <a:buNone/>
            </a:pPr>
            <a:r>
              <a:rPr lang="it" sz="1200">
                <a:solidFill>
                  <a:srgbClr val="042543"/>
                </a:solidFill>
              </a:rPr>
              <a:t>Cgroup v2 provides one unified process hierarchy for all processes. Attaching at the root covers the whole visible cgroup hierarchy.  </a:t>
            </a:r>
            <a:endParaRPr sz="1200">
              <a:solidFill>
                <a:srgbClr val="042543"/>
              </a:solidFill>
            </a:endParaRPr>
          </a:p>
        </p:txBody>
      </p:sp>
      <p:sp>
        <p:nvSpPr>
          <p:cNvPr id="478" name="Google Shape;478;p35"/>
          <p:cNvSpPr txBox="1"/>
          <p:nvPr/>
        </p:nvSpPr>
        <p:spPr>
          <a:xfrm>
            <a:off x="1169975" y="2852407"/>
            <a:ext cx="7488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600">
                <a:solidFill>
                  <a:srgbClr val="042543"/>
                </a:solidFill>
              </a:rPr>
              <a:t>Cgroup2 mountpoint</a:t>
            </a:r>
            <a:endParaRPr b="1" sz="1600">
              <a:solidFill>
                <a:srgbClr val="042543"/>
              </a:solidFill>
            </a:endParaRPr>
          </a:p>
          <a:p>
            <a:pPr indent="0" lvl="0" marL="0" rtl="0" algn="l">
              <a:spcBef>
                <a:spcPts val="0"/>
              </a:spcBef>
              <a:spcAft>
                <a:spcPts val="0"/>
              </a:spcAft>
              <a:buNone/>
            </a:pPr>
            <a:r>
              <a:rPr lang="it" sz="1200">
                <a:solidFill>
                  <a:srgbClr val="042543"/>
                </a:solidFill>
              </a:rPr>
              <a:t>The attach operation requires a filesystem path representing the target cgroup. Rocky Linux 8 normally uses cgroup v1, so the runtime creates a temporary cgroup2 mount when none is available. </a:t>
            </a:r>
            <a:endParaRPr sz="1200">
              <a:solidFill>
                <a:srgbClr val="042543"/>
              </a:solidFill>
            </a:endParaRPr>
          </a:p>
        </p:txBody>
      </p:sp>
      <p:sp>
        <p:nvSpPr>
          <p:cNvPr id="479" name="Google Shape;479;p35"/>
          <p:cNvSpPr txBox="1"/>
          <p:nvPr/>
        </p:nvSpPr>
        <p:spPr>
          <a:xfrm>
            <a:off x="1169975" y="3802218"/>
            <a:ext cx="74889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600">
                <a:solidFill>
                  <a:srgbClr val="042543"/>
                </a:solidFill>
              </a:rPr>
              <a:t>Packet interception</a:t>
            </a:r>
            <a:endParaRPr b="1" sz="1600">
              <a:solidFill>
                <a:srgbClr val="042543"/>
              </a:solidFill>
            </a:endParaRPr>
          </a:p>
          <a:p>
            <a:pPr indent="0" lvl="0" marL="0" rtl="0" algn="l">
              <a:spcBef>
                <a:spcPts val="0"/>
              </a:spcBef>
              <a:spcAft>
                <a:spcPts val="0"/>
              </a:spcAft>
              <a:buNone/>
            </a:pPr>
            <a:r>
              <a:rPr lang="it" sz="1200">
                <a:solidFill>
                  <a:srgbClr val="042543"/>
                </a:solidFill>
              </a:rPr>
              <a:t>When eligible socket traffic crosses the ingress or egress path, the kernel invokes the corresponding program and provides a struct </a:t>
            </a:r>
            <a:r>
              <a:rPr i="1" lang="it" sz="1200">
                <a:solidFill>
                  <a:srgbClr val="042543"/>
                </a:solidFill>
              </a:rPr>
              <a:t>__sk_buff</a:t>
            </a:r>
            <a:r>
              <a:rPr lang="it" sz="1200">
                <a:solidFill>
                  <a:srgbClr val="042543"/>
                </a:solidFill>
              </a:rPr>
              <a:t> packet context. </a:t>
            </a:r>
            <a:endParaRPr sz="1300">
              <a:solidFill>
                <a:srgbClr val="042543"/>
              </a:solidFill>
            </a:endParaRPr>
          </a:p>
        </p:txBody>
      </p:sp>
      <p:cxnSp>
        <p:nvCxnSpPr>
          <p:cNvPr id="480" name="Google Shape;480;p35"/>
          <p:cNvCxnSpPr/>
          <p:nvPr/>
        </p:nvCxnSpPr>
        <p:spPr>
          <a:xfrm>
            <a:off x="297750" y="1783448"/>
            <a:ext cx="8548500" cy="0"/>
          </a:xfrm>
          <a:prstGeom prst="straightConnector1">
            <a:avLst/>
          </a:prstGeom>
          <a:noFill/>
          <a:ln cap="flat" cmpd="sng" w="9525">
            <a:solidFill>
              <a:schemeClr val="dk2"/>
            </a:solidFill>
            <a:prstDash val="solid"/>
            <a:round/>
            <a:headEnd len="med" w="med" type="none"/>
            <a:tailEnd len="med" w="med" type="none"/>
          </a:ln>
        </p:spPr>
      </p:cxnSp>
      <p:cxnSp>
        <p:nvCxnSpPr>
          <p:cNvPr id="481" name="Google Shape;481;p35"/>
          <p:cNvCxnSpPr/>
          <p:nvPr/>
        </p:nvCxnSpPr>
        <p:spPr>
          <a:xfrm>
            <a:off x="297750" y="2763609"/>
            <a:ext cx="8548500" cy="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35"/>
          <p:cNvCxnSpPr/>
          <p:nvPr/>
        </p:nvCxnSpPr>
        <p:spPr>
          <a:xfrm>
            <a:off x="297750" y="3741619"/>
            <a:ext cx="8548500" cy="0"/>
          </a:xfrm>
          <a:prstGeom prst="straightConnector1">
            <a:avLst/>
          </a:prstGeom>
          <a:noFill/>
          <a:ln cap="flat" cmpd="sng" w="9525">
            <a:solidFill>
              <a:schemeClr val="dk2"/>
            </a:solidFill>
            <a:prstDash val="solid"/>
            <a:round/>
            <a:headEnd len="med" w="med" type="none"/>
            <a:tailEnd len="med" w="med" type="none"/>
          </a:ln>
        </p:spPr>
      </p:cxnSp>
      <p:sp>
        <p:nvSpPr>
          <p:cNvPr id="483" name="Google Shape;483;p35"/>
          <p:cNvSpPr/>
          <p:nvPr/>
        </p:nvSpPr>
        <p:spPr>
          <a:xfrm>
            <a:off x="569850" y="1252300"/>
            <a:ext cx="253500" cy="261900"/>
          </a:xfrm>
          <a:prstGeom prst="ellipse">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35"/>
          <p:cNvSpPr/>
          <p:nvPr/>
        </p:nvSpPr>
        <p:spPr>
          <a:xfrm>
            <a:off x="569850" y="2142575"/>
            <a:ext cx="253500" cy="261900"/>
          </a:xfrm>
          <a:prstGeom prst="ellipse">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5" name="Google Shape;485;p35"/>
          <p:cNvSpPr/>
          <p:nvPr/>
        </p:nvSpPr>
        <p:spPr>
          <a:xfrm>
            <a:off x="569850" y="3121663"/>
            <a:ext cx="253500" cy="261900"/>
          </a:xfrm>
          <a:prstGeom prst="ellipse">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35"/>
          <p:cNvSpPr/>
          <p:nvPr/>
        </p:nvSpPr>
        <p:spPr>
          <a:xfrm>
            <a:off x="569850" y="4099675"/>
            <a:ext cx="253500" cy="261900"/>
          </a:xfrm>
          <a:prstGeom prst="ellipse">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1" name="Shape 491"/>
        <p:cNvGrpSpPr/>
        <p:nvPr/>
      </p:nvGrpSpPr>
      <p:grpSpPr>
        <a:xfrm>
          <a:off x="0" y="0"/>
          <a:ext cx="0" cy="0"/>
          <a:chOff x="0" y="0"/>
          <a:chExt cx="0" cy="0"/>
        </a:xfrm>
      </p:grpSpPr>
      <p:sp>
        <p:nvSpPr>
          <p:cNvPr id="492" name="Google Shape;492;p36"/>
          <p:cNvSpPr/>
          <p:nvPr/>
        </p:nvSpPr>
        <p:spPr>
          <a:xfrm>
            <a:off x="0" y="0"/>
            <a:ext cx="9144000" cy="700087"/>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3" name="Google Shape;493;p36"/>
          <p:cNvSpPr/>
          <p:nvPr/>
        </p:nvSpPr>
        <p:spPr>
          <a:xfrm>
            <a:off x="514350" y="128588"/>
            <a:ext cx="8115300" cy="4429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300">
                <a:solidFill>
                  <a:srgbClr val="FFFFFF"/>
                </a:solidFill>
                <a:latin typeface="Arial"/>
                <a:ea typeface="Arial"/>
                <a:cs typeface="Arial"/>
                <a:sym typeface="Arial"/>
              </a:rPr>
              <a:t>Process-Packet Correlation</a:t>
            </a:r>
            <a:endParaRPr sz="1100"/>
          </a:p>
        </p:txBody>
      </p:sp>
      <p:sp>
        <p:nvSpPr>
          <p:cNvPr id="494" name="Google Shape;494;p36"/>
          <p:cNvSpPr/>
          <p:nvPr/>
        </p:nvSpPr>
        <p:spPr>
          <a:xfrm>
            <a:off x="514350" y="747286"/>
            <a:ext cx="8115300" cy="257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0A2E4F"/>
                </a:solidFill>
                <a:latin typeface="Arial"/>
                <a:ea typeface="Arial"/>
                <a:cs typeface="Arial"/>
                <a:sym typeface="Arial"/>
              </a:rPr>
              <a:t>Socket-associated task context reaches the packet program through a short-lived handoff.</a:t>
            </a:r>
            <a:endParaRPr sz="1300"/>
          </a:p>
        </p:txBody>
      </p:sp>
      <p:sp>
        <p:nvSpPr>
          <p:cNvPr id="495" name="Google Shape;495;p36"/>
          <p:cNvSpPr/>
          <p:nvPr/>
        </p:nvSpPr>
        <p:spPr>
          <a:xfrm>
            <a:off x="242900" y="1089225"/>
            <a:ext cx="1965300" cy="2054100"/>
          </a:xfrm>
          <a:prstGeom prst="rect">
            <a:avLst/>
          </a:prstGeom>
          <a:solidFill>
            <a:srgbClr val="EEF4FB"/>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6" name="Google Shape;496;p36"/>
          <p:cNvSpPr/>
          <p:nvPr/>
        </p:nvSpPr>
        <p:spPr>
          <a:xfrm>
            <a:off x="242900" y="1089225"/>
            <a:ext cx="1965300" cy="60600"/>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7" name="Google Shape;497;p36"/>
          <p:cNvSpPr/>
          <p:nvPr/>
        </p:nvSpPr>
        <p:spPr>
          <a:xfrm>
            <a:off x="378971" y="1153363"/>
            <a:ext cx="1693200" cy="432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62B49"/>
                </a:solidFill>
              </a:rPr>
              <a:t>Store socket context</a:t>
            </a:r>
            <a:endParaRPr/>
          </a:p>
        </p:txBody>
      </p:sp>
      <p:sp>
        <p:nvSpPr>
          <p:cNvPr id="498" name="Google Shape;498;p36"/>
          <p:cNvSpPr/>
          <p:nvPr/>
        </p:nvSpPr>
        <p:spPr>
          <a:xfrm>
            <a:off x="348733" y="1684720"/>
            <a:ext cx="1753800" cy="276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200">
                <a:solidFill>
                  <a:srgbClr val="2463C7"/>
                </a:solidFill>
                <a:latin typeface="Arial"/>
                <a:ea typeface="Arial"/>
                <a:cs typeface="Arial"/>
                <a:sym typeface="Arial"/>
              </a:rPr>
              <a:t>sock_alloc_file</a:t>
            </a:r>
            <a:endParaRPr sz="1600"/>
          </a:p>
        </p:txBody>
      </p:sp>
      <p:sp>
        <p:nvSpPr>
          <p:cNvPr id="499" name="Google Shape;499;p36"/>
          <p:cNvSpPr/>
          <p:nvPr/>
        </p:nvSpPr>
        <p:spPr>
          <a:xfrm>
            <a:off x="276075" y="1978150"/>
            <a:ext cx="1883100" cy="39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100">
                <a:solidFill>
                  <a:srgbClr val="52697A"/>
                </a:solidFill>
                <a:latin typeface="Arial"/>
                <a:ea typeface="Arial"/>
                <a:cs typeface="Arial"/>
                <a:sym typeface="Arial"/>
              </a:rPr>
              <a:t>Creates the struct file that backs the socket descriptor</a:t>
            </a:r>
            <a:endParaRPr/>
          </a:p>
        </p:txBody>
      </p:sp>
      <p:cxnSp>
        <p:nvCxnSpPr>
          <p:cNvPr id="500" name="Google Shape;500;p36"/>
          <p:cNvCxnSpPr/>
          <p:nvPr/>
        </p:nvCxnSpPr>
        <p:spPr>
          <a:xfrm>
            <a:off x="469685" y="2557579"/>
            <a:ext cx="1511700" cy="0"/>
          </a:xfrm>
          <a:prstGeom prst="straightConnector1">
            <a:avLst/>
          </a:prstGeom>
          <a:noFill/>
          <a:ln cap="flat" cmpd="sng" w="9525">
            <a:solidFill>
              <a:srgbClr val="B9C9D6"/>
            </a:solidFill>
            <a:prstDash val="solid"/>
            <a:round/>
            <a:headEnd len="sm" w="sm" type="none"/>
            <a:tailEnd len="sm" w="sm" type="none"/>
          </a:ln>
        </p:spPr>
      </p:cxnSp>
      <p:sp>
        <p:nvSpPr>
          <p:cNvPr id="501" name="Google Shape;501;p36"/>
          <p:cNvSpPr/>
          <p:nvPr/>
        </p:nvSpPr>
        <p:spPr>
          <a:xfrm>
            <a:off x="276075" y="2575501"/>
            <a:ext cx="1883100" cy="5010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100">
                <a:solidFill>
                  <a:srgbClr val="0A2E4F"/>
                </a:solidFill>
                <a:latin typeface="Arial"/>
                <a:ea typeface="Arial"/>
                <a:cs typeface="Arial"/>
                <a:sym typeface="Arial"/>
              </a:rPr>
              <a:t>entry: track by host TID</a:t>
            </a:r>
            <a:endParaRPr/>
          </a:p>
          <a:p>
            <a:pPr indent="0" lvl="0" marL="0" marR="0" rtl="0" algn="ctr">
              <a:spcBef>
                <a:spcPts val="0"/>
              </a:spcBef>
              <a:spcAft>
                <a:spcPts val="0"/>
              </a:spcAft>
              <a:buNone/>
            </a:pPr>
            <a:r>
              <a:rPr b="1" lang="it" sz="1100">
                <a:solidFill>
                  <a:srgbClr val="0A2E4F"/>
                </a:solidFill>
                <a:latin typeface="Arial"/>
                <a:ea typeface="Arial"/>
                <a:cs typeface="Arial"/>
                <a:sym typeface="Arial"/>
              </a:rPr>
              <a:t>return: inode → task context</a:t>
            </a:r>
            <a:endParaRPr/>
          </a:p>
        </p:txBody>
      </p:sp>
      <p:sp>
        <p:nvSpPr>
          <p:cNvPr id="502" name="Google Shape;502;p36"/>
          <p:cNvSpPr/>
          <p:nvPr/>
        </p:nvSpPr>
        <p:spPr>
          <a:xfrm>
            <a:off x="2386025" y="1089225"/>
            <a:ext cx="2226600" cy="2054100"/>
          </a:xfrm>
          <a:prstGeom prst="rect">
            <a:avLst/>
          </a:prstGeom>
          <a:solidFill>
            <a:srgbClr val="EEF4FB"/>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3" name="Google Shape;503;p36"/>
          <p:cNvSpPr/>
          <p:nvPr/>
        </p:nvSpPr>
        <p:spPr>
          <a:xfrm>
            <a:off x="2386025" y="1089225"/>
            <a:ext cx="2186100" cy="60600"/>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4" name="Google Shape;504;p36"/>
          <p:cNvSpPr/>
          <p:nvPr/>
        </p:nvSpPr>
        <p:spPr>
          <a:xfrm>
            <a:off x="2537374" y="1164411"/>
            <a:ext cx="1883100" cy="432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62B49"/>
                </a:solidFill>
                <a:latin typeface="Arial"/>
                <a:ea typeface="Arial"/>
                <a:cs typeface="Arial"/>
                <a:sym typeface="Arial"/>
              </a:rPr>
              <a:t>Recover task context</a:t>
            </a:r>
            <a:endParaRPr/>
          </a:p>
        </p:txBody>
      </p:sp>
      <p:sp>
        <p:nvSpPr>
          <p:cNvPr id="505" name="Google Shape;505;p36"/>
          <p:cNvSpPr/>
          <p:nvPr/>
        </p:nvSpPr>
        <p:spPr>
          <a:xfrm>
            <a:off x="2364924" y="1684700"/>
            <a:ext cx="2296800" cy="276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200">
                <a:solidFill>
                  <a:srgbClr val="2463C7"/>
                </a:solidFill>
                <a:latin typeface="Arial"/>
                <a:ea typeface="Arial"/>
                <a:cs typeface="Arial"/>
                <a:sym typeface="Arial"/>
              </a:rPr>
              <a:t>__cgroup_bpf_run_filter_skb</a:t>
            </a:r>
            <a:endParaRPr sz="1600"/>
          </a:p>
        </p:txBody>
      </p:sp>
      <p:sp>
        <p:nvSpPr>
          <p:cNvPr id="506" name="Google Shape;506;p36"/>
          <p:cNvSpPr/>
          <p:nvPr/>
        </p:nvSpPr>
        <p:spPr>
          <a:xfrm>
            <a:off x="2389550" y="1978150"/>
            <a:ext cx="2226600" cy="39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100">
                <a:solidFill>
                  <a:srgbClr val="52697A"/>
                </a:solidFill>
                <a:latin typeface="Arial"/>
                <a:ea typeface="Arial"/>
                <a:cs typeface="Arial"/>
                <a:sym typeface="Arial"/>
              </a:rPr>
              <a:t>Kernel dispatcher that invokes</a:t>
            </a:r>
            <a:r>
              <a:rPr lang="it" sz="1100">
                <a:solidFill>
                  <a:srgbClr val="52697A"/>
                </a:solidFill>
              </a:rPr>
              <a:t> </a:t>
            </a:r>
            <a:r>
              <a:rPr b="0" lang="it" sz="1100">
                <a:solidFill>
                  <a:srgbClr val="52697A"/>
                </a:solidFill>
                <a:latin typeface="Arial"/>
                <a:ea typeface="Arial"/>
                <a:cs typeface="Arial"/>
                <a:sym typeface="Arial"/>
              </a:rPr>
              <a:t>the applicable cgroup_skb programs</a:t>
            </a:r>
            <a:endParaRPr/>
          </a:p>
        </p:txBody>
      </p:sp>
      <p:cxnSp>
        <p:nvCxnSpPr>
          <p:cNvPr id="507" name="Google Shape;507;p36"/>
          <p:cNvCxnSpPr/>
          <p:nvPr/>
        </p:nvCxnSpPr>
        <p:spPr>
          <a:xfrm>
            <a:off x="2638274" y="2568054"/>
            <a:ext cx="1681500" cy="0"/>
          </a:xfrm>
          <a:prstGeom prst="straightConnector1">
            <a:avLst/>
          </a:prstGeom>
          <a:noFill/>
          <a:ln cap="flat" cmpd="sng" w="9525">
            <a:solidFill>
              <a:srgbClr val="B9C9D6"/>
            </a:solidFill>
            <a:prstDash val="solid"/>
            <a:round/>
            <a:headEnd len="sm" w="sm" type="none"/>
            <a:tailEnd len="sm" w="sm" type="none"/>
          </a:ln>
        </p:spPr>
      </p:cxnSp>
      <p:sp>
        <p:nvSpPr>
          <p:cNvPr id="508" name="Google Shape;508;p36"/>
          <p:cNvSpPr/>
          <p:nvPr/>
        </p:nvSpPr>
        <p:spPr>
          <a:xfrm>
            <a:off x="2537374" y="2575494"/>
            <a:ext cx="1883100" cy="5010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100">
                <a:solidFill>
                  <a:srgbClr val="0A2E4F"/>
                </a:solidFill>
                <a:latin typeface="Arial"/>
                <a:ea typeface="Arial"/>
                <a:cs typeface="Arial"/>
                <a:sym typeface="Arial"/>
              </a:rPr>
              <a:t>struct sock: inode lookup</a:t>
            </a:r>
            <a:endParaRPr/>
          </a:p>
          <a:p>
            <a:pPr indent="0" lvl="0" marL="0" marR="0" rtl="0" algn="ctr">
              <a:spcBef>
                <a:spcPts val="0"/>
              </a:spcBef>
              <a:spcAft>
                <a:spcPts val="0"/>
              </a:spcAft>
              <a:buNone/>
            </a:pPr>
            <a:r>
              <a:rPr b="1" lang="it" sz="1100">
                <a:solidFill>
                  <a:srgbClr val="0A2E4F"/>
                </a:solidFill>
                <a:latin typeface="Arial"/>
                <a:ea typeface="Arial"/>
                <a:cs typeface="Arial"/>
                <a:sym typeface="Arial"/>
              </a:rPr>
              <a:t>struct sk_buff: packet key</a:t>
            </a:r>
            <a:endParaRPr/>
          </a:p>
        </p:txBody>
      </p:sp>
      <p:sp>
        <p:nvSpPr>
          <p:cNvPr id="509" name="Google Shape;509;p36"/>
          <p:cNvSpPr/>
          <p:nvPr/>
        </p:nvSpPr>
        <p:spPr>
          <a:xfrm>
            <a:off x="4780970" y="1089225"/>
            <a:ext cx="1965300" cy="2054100"/>
          </a:xfrm>
          <a:prstGeom prst="rect">
            <a:avLst/>
          </a:prstGeom>
          <a:solidFill>
            <a:srgbClr val="FFF7E7"/>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0" name="Google Shape;510;p36"/>
          <p:cNvSpPr/>
          <p:nvPr/>
        </p:nvSpPr>
        <p:spPr>
          <a:xfrm>
            <a:off x="4780970" y="1089225"/>
            <a:ext cx="1965300" cy="60600"/>
          </a:xfrm>
          <a:prstGeom prst="rect">
            <a:avLst/>
          </a:prstGeom>
          <a:solidFill>
            <a:srgbClr val="F0A60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1" name="Google Shape;511;p36"/>
          <p:cNvSpPr/>
          <p:nvPr/>
        </p:nvSpPr>
        <p:spPr>
          <a:xfrm>
            <a:off x="4917041" y="1164411"/>
            <a:ext cx="1693200" cy="432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62B49"/>
                </a:solidFill>
              </a:rPr>
              <a:t>Store per-packet context</a:t>
            </a:r>
            <a:endParaRPr/>
          </a:p>
        </p:txBody>
      </p:sp>
      <p:sp>
        <p:nvSpPr>
          <p:cNvPr id="512" name="Google Shape;512;p36"/>
          <p:cNvSpPr/>
          <p:nvPr/>
        </p:nvSpPr>
        <p:spPr>
          <a:xfrm>
            <a:off x="4780903" y="1684725"/>
            <a:ext cx="1965300" cy="276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200">
                <a:solidFill>
                  <a:srgbClr val="F0A600"/>
                </a:solidFill>
                <a:latin typeface="Arial"/>
                <a:ea typeface="Arial"/>
                <a:cs typeface="Arial"/>
                <a:sym typeface="Arial"/>
              </a:rPr>
              <a:t>ingress  / egress map</a:t>
            </a:r>
            <a:endParaRPr sz="1600"/>
          </a:p>
        </p:txBody>
      </p:sp>
      <p:sp>
        <p:nvSpPr>
          <p:cNvPr id="513" name="Google Shape;513;p36"/>
          <p:cNvSpPr/>
          <p:nvPr/>
        </p:nvSpPr>
        <p:spPr>
          <a:xfrm>
            <a:off x="4814150" y="1978150"/>
            <a:ext cx="1883100" cy="39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100">
                <a:solidFill>
                  <a:srgbClr val="52697A"/>
                </a:solidFill>
                <a:latin typeface="Arial"/>
                <a:ea typeface="Arial"/>
                <a:cs typeface="Arial"/>
                <a:sym typeface="Arial"/>
              </a:rPr>
              <a:t>The packet direction selects one short-lived map</a:t>
            </a:r>
            <a:endParaRPr/>
          </a:p>
        </p:txBody>
      </p:sp>
      <p:cxnSp>
        <p:nvCxnSpPr>
          <p:cNvPr id="514" name="Google Shape;514;p36"/>
          <p:cNvCxnSpPr/>
          <p:nvPr/>
        </p:nvCxnSpPr>
        <p:spPr>
          <a:xfrm>
            <a:off x="5007755" y="2557579"/>
            <a:ext cx="1511700" cy="0"/>
          </a:xfrm>
          <a:prstGeom prst="straightConnector1">
            <a:avLst/>
          </a:prstGeom>
          <a:noFill/>
          <a:ln cap="flat" cmpd="sng" w="9525">
            <a:solidFill>
              <a:srgbClr val="B9C9D6"/>
            </a:solidFill>
            <a:prstDash val="solid"/>
            <a:round/>
            <a:headEnd len="sm" w="sm" type="none"/>
            <a:tailEnd len="sm" w="sm" type="none"/>
          </a:ln>
        </p:spPr>
      </p:cxnSp>
      <p:sp>
        <p:nvSpPr>
          <p:cNvPr id="515" name="Google Shape;515;p36"/>
          <p:cNvSpPr/>
          <p:nvPr/>
        </p:nvSpPr>
        <p:spPr>
          <a:xfrm>
            <a:off x="4761772" y="2575501"/>
            <a:ext cx="2084700" cy="501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100">
                <a:solidFill>
                  <a:srgbClr val="0A2E4F"/>
                </a:solidFill>
                <a:latin typeface="Arial"/>
                <a:ea typeface="Arial"/>
                <a:cs typeface="Arial"/>
                <a:sym typeface="Arial"/>
              </a:rPr>
              <a:t>key: shared packet</a:t>
            </a:r>
            <a:r>
              <a:rPr b="1" lang="it" sz="1100">
                <a:solidFill>
                  <a:srgbClr val="0A2E4F"/>
                </a:solidFill>
              </a:rPr>
              <a:t> </a:t>
            </a:r>
            <a:r>
              <a:rPr b="1" lang="it" sz="1100">
                <a:solidFill>
                  <a:srgbClr val="0A2E4F"/>
                </a:solidFill>
                <a:latin typeface="Arial"/>
                <a:ea typeface="Arial"/>
                <a:cs typeface="Arial"/>
                <a:sym typeface="Arial"/>
              </a:rPr>
              <a:t>identifier</a:t>
            </a:r>
            <a:endParaRPr/>
          </a:p>
          <a:p>
            <a:pPr indent="0" lvl="0" marL="0" marR="0" rtl="0" algn="l">
              <a:spcBef>
                <a:spcPts val="0"/>
              </a:spcBef>
              <a:spcAft>
                <a:spcPts val="0"/>
              </a:spcAft>
              <a:buNone/>
            </a:pPr>
            <a:r>
              <a:rPr b="1" lang="it" sz="1100">
                <a:solidFill>
                  <a:srgbClr val="0A2E4F"/>
                </a:solidFill>
                <a:latin typeface="Arial"/>
                <a:ea typeface="Arial"/>
                <a:cs typeface="Arial"/>
                <a:sym typeface="Arial"/>
              </a:rPr>
              <a:t>value: attributed event context</a:t>
            </a:r>
            <a:endParaRPr/>
          </a:p>
        </p:txBody>
      </p:sp>
      <p:sp>
        <p:nvSpPr>
          <p:cNvPr id="516" name="Google Shape;516;p36"/>
          <p:cNvSpPr/>
          <p:nvPr/>
        </p:nvSpPr>
        <p:spPr>
          <a:xfrm>
            <a:off x="6926450" y="1089225"/>
            <a:ext cx="2084700" cy="2054100"/>
          </a:xfrm>
          <a:prstGeom prst="rect">
            <a:avLst/>
          </a:prstGeom>
          <a:solidFill>
            <a:srgbClr val="EEF8F3"/>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7" name="Google Shape;517;p36"/>
          <p:cNvSpPr/>
          <p:nvPr/>
        </p:nvSpPr>
        <p:spPr>
          <a:xfrm>
            <a:off x="6926450" y="1089225"/>
            <a:ext cx="2084700" cy="60600"/>
          </a:xfrm>
          <a:prstGeom prst="rect">
            <a:avLst/>
          </a:prstGeom>
          <a:solidFill>
            <a:srgbClr val="2FB4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8" name="Google Shape;518;p36"/>
          <p:cNvSpPr/>
          <p:nvPr/>
        </p:nvSpPr>
        <p:spPr>
          <a:xfrm>
            <a:off x="7070782" y="1164411"/>
            <a:ext cx="1796100" cy="432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062B49"/>
                </a:solidFill>
                <a:latin typeface="Arial"/>
                <a:ea typeface="Arial"/>
                <a:cs typeface="Arial"/>
                <a:sym typeface="Arial"/>
              </a:rPr>
              <a:t>Co</a:t>
            </a:r>
            <a:r>
              <a:rPr b="1" lang="it" sz="1500">
                <a:solidFill>
                  <a:srgbClr val="062B49"/>
                </a:solidFill>
              </a:rPr>
              <a:t>rrelate</a:t>
            </a:r>
            <a:r>
              <a:rPr b="1" lang="it" sz="1500">
                <a:solidFill>
                  <a:srgbClr val="062B49"/>
                </a:solidFill>
                <a:latin typeface="Arial"/>
                <a:ea typeface="Arial"/>
                <a:cs typeface="Arial"/>
                <a:sym typeface="Arial"/>
              </a:rPr>
              <a:t> and emit</a:t>
            </a:r>
            <a:endParaRPr sz="1500"/>
          </a:p>
        </p:txBody>
      </p:sp>
      <p:sp>
        <p:nvSpPr>
          <p:cNvPr id="519" name="Google Shape;519;p36"/>
          <p:cNvSpPr/>
          <p:nvPr/>
        </p:nvSpPr>
        <p:spPr>
          <a:xfrm>
            <a:off x="6847250" y="1684700"/>
            <a:ext cx="2296800" cy="2763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200">
                <a:solidFill>
                  <a:srgbClr val="2FB477"/>
                </a:solidFill>
                <a:latin typeface="Arial"/>
                <a:ea typeface="Arial"/>
                <a:cs typeface="Arial"/>
                <a:sym typeface="Arial"/>
              </a:rPr>
              <a:t>cgroup_skb ingress/egress</a:t>
            </a:r>
            <a:endParaRPr sz="1200"/>
          </a:p>
        </p:txBody>
      </p:sp>
      <p:sp>
        <p:nvSpPr>
          <p:cNvPr id="520" name="Google Shape;520;p36"/>
          <p:cNvSpPr/>
          <p:nvPr/>
        </p:nvSpPr>
        <p:spPr>
          <a:xfrm>
            <a:off x="6983775" y="1978150"/>
            <a:ext cx="1965300" cy="396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100">
                <a:solidFill>
                  <a:srgbClr val="52697A"/>
                </a:solidFill>
                <a:latin typeface="Arial"/>
                <a:ea typeface="Arial"/>
                <a:cs typeface="Arial"/>
                <a:sym typeface="Arial"/>
              </a:rPr>
              <a:t>The packet program receives only struct __sk_buff</a:t>
            </a:r>
            <a:endParaRPr/>
          </a:p>
        </p:txBody>
      </p:sp>
      <p:cxnSp>
        <p:nvCxnSpPr>
          <p:cNvPr id="521" name="Google Shape;521;p36"/>
          <p:cNvCxnSpPr/>
          <p:nvPr/>
        </p:nvCxnSpPr>
        <p:spPr>
          <a:xfrm>
            <a:off x="7167004" y="2536628"/>
            <a:ext cx="1603500" cy="0"/>
          </a:xfrm>
          <a:prstGeom prst="straightConnector1">
            <a:avLst/>
          </a:prstGeom>
          <a:noFill/>
          <a:ln cap="flat" cmpd="sng" w="9525">
            <a:solidFill>
              <a:srgbClr val="B9C9D6"/>
            </a:solidFill>
            <a:prstDash val="solid"/>
            <a:round/>
            <a:headEnd len="sm" w="sm" type="none"/>
            <a:tailEnd len="sm" w="sm" type="none"/>
          </a:ln>
        </p:spPr>
      </p:cxnSp>
      <p:sp>
        <p:nvSpPr>
          <p:cNvPr id="522" name="Google Shape;522;p36"/>
          <p:cNvSpPr/>
          <p:nvPr/>
        </p:nvSpPr>
        <p:spPr>
          <a:xfrm>
            <a:off x="7070782" y="2575494"/>
            <a:ext cx="1796100" cy="5010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100">
                <a:solidFill>
                  <a:srgbClr val="0A2E4F"/>
                </a:solidFill>
                <a:latin typeface="Arial"/>
                <a:ea typeface="Arial"/>
                <a:cs typeface="Arial"/>
                <a:sym typeface="Arial"/>
              </a:rPr>
              <a:t>rebuild key, parse packet</a:t>
            </a:r>
            <a:endParaRPr/>
          </a:p>
          <a:p>
            <a:pPr indent="0" lvl="0" marL="0" marR="0" rtl="0" algn="ctr">
              <a:spcBef>
                <a:spcPts val="0"/>
              </a:spcBef>
              <a:spcAft>
                <a:spcPts val="0"/>
              </a:spcAft>
              <a:buNone/>
            </a:pPr>
            <a:r>
              <a:rPr b="1" lang="it" sz="1100">
                <a:solidFill>
                  <a:srgbClr val="0A2E4F"/>
                </a:solidFill>
                <a:latin typeface="Arial"/>
                <a:ea typeface="Arial"/>
                <a:cs typeface="Arial"/>
                <a:sym typeface="Arial"/>
              </a:rPr>
              <a:t>submit event</a:t>
            </a:r>
            <a:endParaRPr/>
          </a:p>
        </p:txBody>
      </p:sp>
      <p:sp>
        <p:nvSpPr>
          <p:cNvPr id="523" name="Google Shape;523;p36"/>
          <p:cNvSpPr/>
          <p:nvPr/>
        </p:nvSpPr>
        <p:spPr>
          <a:xfrm>
            <a:off x="276075" y="3386150"/>
            <a:ext cx="8673000" cy="585900"/>
          </a:xfrm>
          <a:prstGeom prst="rect">
            <a:avLst/>
          </a:prstGeom>
          <a:solidFill>
            <a:srgbClr val="F3F6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4" name="Google Shape;524;p36"/>
          <p:cNvSpPr/>
          <p:nvPr/>
        </p:nvSpPr>
        <p:spPr>
          <a:xfrm>
            <a:off x="319168" y="3493307"/>
            <a:ext cx="1571700" cy="331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2463C7"/>
                </a:solidFill>
                <a:latin typeface="Arial"/>
                <a:ea typeface="Arial"/>
                <a:cs typeface="Arial"/>
                <a:sym typeface="Arial"/>
              </a:rPr>
              <a:t>SHARED HANDOFF KEY</a:t>
            </a:r>
            <a:endParaRPr sz="1500"/>
          </a:p>
        </p:txBody>
      </p:sp>
      <p:sp>
        <p:nvSpPr>
          <p:cNvPr id="525" name="Google Shape;525;p36"/>
          <p:cNvSpPr/>
          <p:nvPr/>
        </p:nvSpPr>
        <p:spPr>
          <a:xfrm>
            <a:off x="1970903" y="3471875"/>
            <a:ext cx="6721500" cy="2142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062B49"/>
                </a:solidFill>
                <a:latin typeface="Arial"/>
                <a:ea typeface="Arial"/>
                <a:cs typeface="Arial"/>
                <a:sym typeface="Arial"/>
              </a:rPr>
              <a:t>timestamp + IP packet length + L4 protocol + source IP + destination IP + checksum</a:t>
            </a:r>
            <a:endParaRPr sz="1300"/>
          </a:p>
        </p:txBody>
      </p:sp>
      <p:sp>
        <p:nvSpPr>
          <p:cNvPr id="526" name="Google Shape;526;p36"/>
          <p:cNvSpPr/>
          <p:nvPr/>
        </p:nvSpPr>
        <p:spPr>
          <a:xfrm>
            <a:off x="1890875" y="3729050"/>
            <a:ext cx="7058100" cy="164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100">
                <a:solidFill>
                  <a:srgbClr val="062B49"/>
                </a:solidFill>
                <a:latin typeface="Arial"/>
                <a:ea typeface="Arial"/>
                <a:cs typeface="Arial"/>
                <a:sym typeface="Arial"/>
              </a:rPr>
              <a:t>The same helper builds the key before insertion and before lookup. The checksum field remains zero for IPv6.</a:t>
            </a:r>
            <a:endParaRPr>
              <a:solidFill>
                <a:srgbClr val="062B49"/>
              </a:solidFill>
            </a:endParaRPr>
          </a:p>
        </p:txBody>
      </p:sp>
      <p:sp>
        <p:nvSpPr>
          <p:cNvPr id="527" name="Google Shape;527;p36"/>
          <p:cNvSpPr/>
          <p:nvPr/>
        </p:nvSpPr>
        <p:spPr>
          <a:xfrm>
            <a:off x="276075" y="4135700"/>
            <a:ext cx="8673000" cy="396900"/>
          </a:xfrm>
          <a:prstGeom prst="rect">
            <a:avLst/>
          </a:prstGeom>
          <a:solidFill>
            <a:srgbClr val="EEF4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8" name="Google Shape;528;p36"/>
          <p:cNvSpPr/>
          <p:nvPr/>
        </p:nvSpPr>
        <p:spPr>
          <a:xfrm>
            <a:off x="350575" y="4212925"/>
            <a:ext cx="1883100" cy="276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2463C7"/>
                </a:solidFill>
                <a:latin typeface="Arial"/>
                <a:ea typeface="Arial"/>
                <a:cs typeface="Arial"/>
                <a:sym typeface="Arial"/>
              </a:rPr>
              <a:t>No current-task fallback</a:t>
            </a:r>
            <a:endParaRPr sz="1300"/>
          </a:p>
        </p:txBody>
      </p:sp>
      <p:sp>
        <p:nvSpPr>
          <p:cNvPr id="529" name="Google Shape;529;p36"/>
          <p:cNvSpPr/>
          <p:nvPr/>
        </p:nvSpPr>
        <p:spPr>
          <a:xfrm>
            <a:off x="2500326" y="4223397"/>
            <a:ext cx="6366600" cy="200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lang="it" sz="1200">
                <a:solidFill>
                  <a:srgbClr val="062B49"/>
                </a:solidFill>
                <a:latin typeface="Arial"/>
                <a:ea typeface="Arial"/>
                <a:cs typeface="Arial"/>
                <a:sym typeface="Arial"/>
              </a:rPr>
              <a:t>If attribution fails, the monitor emits no event and lets the packet continue unchanged.</a:t>
            </a:r>
            <a:endParaRPr sz="1300">
              <a:solidFill>
                <a:srgbClr val="062B49"/>
              </a:solidFill>
            </a:endParaRPr>
          </a:p>
        </p:txBody>
      </p:sp>
      <p:sp>
        <p:nvSpPr>
          <p:cNvPr id="530" name="Google Shape;530;p36"/>
          <p:cNvSpPr/>
          <p:nvPr/>
        </p:nvSpPr>
        <p:spPr>
          <a:xfrm>
            <a:off x="8001000" y="4872038"/>
            <a:ext cx="628650" cy="12858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r>
              <a:rPr b="0" lang="it" sz="700">
                <a:solidFill>
                  <a:srgbClr val="7898B1"/>
                </a:solidFill>
                <a:latin typeface="Arial"/>
                <a:ea typeface="Arial"/>
                <a:cs typeface="Arial"/>
                <a:sym typeface="Arial"/>
              </a:rPr>
              <a:t>26</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4" name="Shape 534"/>
        <p:cNvGrpSpPr/>
        <p:nvPr/>
      </p:nvGrpSpPr>
      <p:grpSpPr>
        <a:xfrm>
          <a:off x="0" y="0"/>
          <a:ext cx="0" cy="0"/>
          <a:chOff x="0" y="0"/>
          <a:chExt cx="0" cy="0"/>
        </a:xfrm>
      </p:grpSpPr>
      <p:sp>
        <p:nvSpPr>
          <p:cNvPr id="535" name="Google Shape;53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36" name="Google Shape;536;p37"/>
          <p:cNvSpPr txBox="1"/>
          <p:nvPr>
            <p:ph type="title"/>
          </p:nvPr>
        </p:nvSpPr>
        <p:spPr>
          <a:xfrm>
            <a:off x="0" y="0"/>
            <a:ext cx="9144000" cy="655500"/>
          </a:xfrm>
          <a:prstGeom prst="rect">
            <a:avLst/>
          </a:prstGeom>
          <a:solidFill>
            <a:srgbClr val="042543"/>
          </a:solidFill>
        </p:spPr>
        <p:txBody>
          <a:bodyPr anchorCtr="0" anchor="t" bIns="91425" lIns="91425" spcFirstLastPara="1" rIns="91425" wrap="square" tIns="91425">
            <a:normAutofit/>
          </a:bodyPr>
          <a:lstStyle/>
          <a:p>
            <a:pPr indent="0" lvl="0" marL="457200" rtl="0" algn="l">
              <a:spcBef>
                <a:spcPts val="0"/>
              </a:spcBef>
              <a:spcAft>
                <a:spcPts val="0"/>
              </a:spcAft>
              <a:buNone/>
            </a:pPr>
            <a:r>
              <a:rPr b="1" lang="it" sz="2600">
                <a:solidFill>
                  <a:schemeClr val="lt1"/>
                </a:solidFill>
              </a:rPr>
              <a:t>Process     Packet correlation </a:t>
            </a:r>
            <a:endParaRPr b="1" sz="2600">
              <a:solidFill>
                <a:schemeClr val="lt1"/>
              </a:solidFill>
            </a:endParaRPr>
          </a:p>
        </p:txBody>
      </p:sp>
      <p:sp>
        <p:nvSpPr>
          <p:cNvPr id="537" name="Google Shape;537;p37"/>
          <p:cNvSpPr/>
          <p:nvPr/>
        </p:nvSpPr>
        <p:spPr>
          <a:xfrm>
            <a:off x="1879425" y="277950"/>
            <a:ext cx="325500" cy="99600"/>
          </a:xfrm>
          <a:prstGeom prst="leftRightArrow">
            <a:avLst>
              <a:gd fmla="val 50000" name="adj1"/>
              <a:gd fmla="val 50000" name="adj2"/>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37"/>
          <p:cNvSpPr/>
          <p:nvPr/>
        </p:nvSpPr>
        <p:spPr>
          <a:xfrm>
            <a:off x="83197" y="1002650"/>
            <a:ext cx="2596800" cy="549900"/>
          </a:xfrm>
          <a:prstGeom prst="round2SameRect">
            <a:avLst>
              <a:gd fmla="val 16667" name="adj1"/>
              <a:gd fmla="val 0" name="adj2"/>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ctr">
              <a:spcBef>
                <a:spcPts val="0"/>
              </a:spcBef>
              <a:spcAft>
                <a:spcPts val="0"/>
              </a:spcAft>
              <a:buClr>
                <a:schemeClr val="lt1"/>
              </a:buClr>
              <a:buSzPts val="1400"/>
              <a:buAutoNum type="arabicPeriod"/>
            </a:pPr>
            <a:r>
              <a:rPr b="1" lang="it">
                <a:solidFill>
                  <a:schemeClr val="lt1"/>
                </a:solidFill>
              </a:rPr>
              <a:t>Socket hook		</a:t>
            </a:r>
            <a:endParaRPr b="1">
              <a:solidFill>
                <a:schemeClr val="lt1"/>
              </a:solidFill>
            </a:endParaRPr>
          </a:p>
        </p:txBody>
      </p:sp>
      <p:sp>
        <p:nvSpPr>
          <p:cNvPr id="539" name="Google Shape;539;p37"/>
          <p:cNvSpPr/>
          <p:nvPr/>
        </p:nvSpPr>
        <p:spPr>
          <a:xfrm>
            <a:off x="77850" y="1552478"/>
            <a:ext cx="2596800" cy="2581500"/>
          </a:xfrm>
          <a:prstGeom prst="roundRect">
            <a:avLst>
              <a:gd fmla="val 243" name="adj"/>
            </a:avLst>
          </a:prstGeom>
          <a:solidFill>
            <a:srgbClr val="C4E9FB">
              <a:alpha val="32700"/>
            </a:srgbClr>
          </a:solidFill>
          <a:ln cap="flat" cmpd="sng" w="9525">
            <a:solidFill>
              <a:srgbClr val="C4E9FB"/>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it" sz="1300"/>
              <a:t>The socket operation runs in process context, so the identity of the caller is directly available.</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it" sz="1300"/>
              <a:t>Stored in </a:t>
            </a:r>
            <a:r>
              <a:rPr i="1" lang="it" sz="1300"/>
              <a:t>inodemap </a:t>
            </a:r>
            <a:r>
              <a:rPr lang="it" sz="1300"/>
              <a:t>using </a:t>
            </a:r>
            <a:r>
              <a:rPr i="1" lang="it" sz="1300"/>
              <a:t>the socket inode as key</a:t>
            </a:r>
            <a:endParaRPr i="1" sz="1300"/>
          </a:p>
          <a:p>
            <a:pPr indent="0" lvl="0" marL="0" rtl="0" algn="l">
              <a:lnSpc>
                <a:spcPct val="100000"/>
              </a:lnSpc>
              <a:spcBef>
                <a:spcPts val="0"/>
              </a:spcBef>
              <a:spcAft>
                <a:spcPts val="0"/>
              </a:spcAft>
              <a:buNone/>
            </a:pPr>
            <a:r>
              <a:t/>
            </a:r>
            <a:endParaRPr/>
          </a:p>
        </p:txBody>
      </p:sp>
      <p:sp>
        <p:nvSpPr>
          <p:cNvPr id="540" name="Google Shape;540;p37"/>
          <p:cNvSpPr/>
          <p:nvPr/>
        </p:nvSpPr>
        <p:spPr>
          <a:xfrm>
            <a:off x="167080" y="2339990"/>
            <a:ext cx="2354700" cy="463500"/>
          </a:xfrm>
          <a:prstGeom prst="roundRect">
            <a:avLst>
              <a:gd fmla="val 16667" name="adj"/>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it">
                <a:solidFill>
                  <a:schemeClr val="lt1"/>
                </a:solidFill>
              </a:rPr>
              <a:t>pid, tid,uid, cgroup id</a:t>
            </a:r>
            <a:endParaRPr>
              <a:solidFill>
                <a:schemeClr val="lt1"/>
              </a:solidFill>
            </a:endParaRPr>
          </a:p>
        </p:txBody>
      </p:sp>
      <p:sp>
        <p:nvSpPr>
          <p:cNvPr id="541" name="Google Shape;541;p37"/>
          <p:cNvSpPr/>
          <p:nvPr/>
        </p:nvSpPr>
        <p:spPr>
          <a:xfrm>
            <a:off x="2962293" y="1002650"/>
            <a:ext cx="2856600" cy="549900"/>
          </a:xfrm>
          <a:prstGeom prst="round2SameRect">
            <a:avLst>
              <a:gd fmla="val 16667" name="adj1"/>
              <a:gd fmla="val 0" name="adj2"/>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solidFill>
                  <a:schemeClr val="lt1"/>
                </a:solidFill>
              </a:rPr>
              <a:t> 2.  </a:t>
            </a:r>
            <a:r>
              <a:rPr b="1" lang="it">
                <a:solidFill>
                  <a:schemeClr val="lt1"/>
                </a:solidFill>
              </a:rPr>
              <a:t>Kernel correlation state	</a:t>
            </a:r>
            <a:endParaRPr b="1">
              <a:solidFill>
                <a:schemeClr val="lt1"/>
              </a:solidFill>
            </a:endParaRPr>
          </a:p>
        </p:txBody>
      </p:sp>
      <p:sp>
        <p:nvSpPr>
          <p:cNvPr id="542" name="Google Shape;542;p37"/>
          <p:cNvSpPr/>
          <p:nvPr/>
        </p:nvSpPr>
        <p:spPr>
          <a:xfrm>
            <a:off x="2956412" y="1552451"/>
            <a:ext cx="2850600" cy="2581500"/>
          </a:xfrm>
          <a:prstGeom prst="roundRect">
            <a:avLst>
              <a:gd fmla="val 243" name="adj"/>
            </a:avLst>
          </a:prstGeom>
          <a:solidFill>
            <a:srgbClr val="C4E9FB">
              <a:alpha val="32700"/>
            </a:srgbClr>
          </a:solidFill>
          <a:ln cap="flat" cmpd="sng" w="9525">
            <a:solidFill>
              <a:srgbClr val="C4E9FB"/>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it" sz="1300"/>
              <a:t>A kprobe on  </a:t>
            </a:r>
            <a:r>
              <a:rPr lang="it" sz="1300"/>
              <a:t>__</a:t>
            </a:r>
            <a:r>
              <a:rPr lang="it" sz="1300"/>
              <a:t>cgroup_bpf_run_filter_skb reads the socket inode and recovers the saved context.</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it" sz="1300"/>
              <a:t>It then builds a packet indexer and stores the prepared network event context.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a:p>
        </p:txBody>
      </p:sp>
      <p:sp>
        <p:nvSpPr>
          <p:cNvPr id="543" name="Google Shape;543;p37"/>
          <p:cNvSpPr/>
          <p:nvPr/>
        </p:nvSpPr>
        <p:spPr>
          <a:xfrm>
            <a:off x="6247138" y="1002650"/>
            <a:ext cx="2677800" cy="466800"/>
          </a:xfrm>
          <a:prstGeom prst="round2SameRect">
            <a:avLst>
              <a:gd fmla="val 16667" name="adj1"/>
              <a:gd fmla="val 0" name="adj2"/>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solidFill>
                  <a:schemeClr val="lt1"/>
                </a:solidFill>
              </a:rPr>
              <a:t> 3.	cgroup / skb hook	</a:t>
            </a:r>
            <a:endParaRPr b="1">
              <a:solidFill>
                <a:schemeClr val="lt1"/>
              </a:solidFill>
            </a:endParaRPr>
          </a:p>
        </p:txBody>
      </p:sp>
      <p:sp>
        <p:nvSpPr>
          <p:cNvPr id="544" name="Google Shape;544;p37"/>
          <p:cNvSpPr/>
          <p:nvPr/>
        </p:nvSpPr>
        <p:spPr>
          <a:xfrm>
            <a:off x="6241625" y="1469450"/>
            <a:ext cx="2672400" cy="2664600"/>
          </a:xfrm>
          <a:prstGeom prst="roundRect">
            <a:avLst>
              <a:gd fmla="val 243" name="adj"/>
            </a:avLst>
          </a:prstGeom>
          <a:solidFill>
            <a:srgbClr val="C4E9FB">
              <a:alpha val="32700"/>
            </a:srgbClr>
          </a:solidFill>
          <a:ln cap="flat" cmpd="sng" w="9525">
            <a:solidFill>
              <a:srgbClr val="C4E9FB"/>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it" sz="1300"/>
              <a:t>The packet program rebuilds the same indexer and retrieves the same event context.</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rPr lang="it" sz="1300"/>
              <a:t>It adds addresses, ports, protocol and payload metadata.</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sz="1300"/>
          </a:p>
          <a:p>
            <a:pPr indent="0" lvl="0" marL="0" rtl="0" algn="l">
              <a:lnSpc>
                <a:spcPct val="100000"/>
              </a:lnSpc>
              <a:spcBef>
                <a:spcPts val="0"/>
              </a:spcBef>
              <a:spcAft>
                <a:spcPts val="0"/>
              </a:spcAft>
              <a:buNone/>
            </a:pPr>
            <a:r>
              <a:t/>
            </a:r>
            <a:endParaRPr/>
          </a:p>
        </p:txBody>
      </p:sp>
      <p:sp>
        <p:nvSpPr>
          <p:cNvPr id="545" name="Google Shape;545;p37"/>
          <p:cNvSpPr/>
          <p:nvPr/>
        </p:nvSpPr>
        <p:spPr>
          <a:xfrm>
            <a:off x="6279425" y="3172525"/>
            <a:ext cx="2596800" cy="599700"/>
          </a:xfrm>
          <a:prstGeom prst="roundRect">
            <a:avLst>
              <a:gd fmla="val 16667" name="adj"/>
            </a:avLst>
          </a:prstGeom>
          <a:solidFill>
            <a:srgbClr val="A4DEB6"/>
          </a:solidFill>
          <a:ln cap="flat" cmpd="sng" w="9525">
            <a:solidFill>
              <a:srgbClr val="A4DEB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sz="1100"/>
              <a:t>process context + packet metadata </a:t>
            </a:r>
            <a:endParaRPr sz="1100"/>
          </a:p>
          <a:p>
            <a:pPr indent="0" lvl="0" marL="0" rtl="0" algn="ctr">
              <a:spcBef>
                <a:spcPts val="0"/>
              </a:spcBef>
              <a:spcAft>
                <a:spcPts val="0"/>
              </a:spcAft>
              <a:buNone/>
            </a:pPr>
            <a:r>
              <a:rPr lang="it" sz="1100"/>
              <a:t>||</a:t>
            </a:r>
            <a:endParaRPr sz="1100"/>
          </a:p>
          <a:p>
            <a:pPr indent="0" lvl="0" marL="0" rtl="0" algn="ctr">
              <a:spcBef>
                <a:spcPts val="0"/>
              </a:spcBef>
              <a:spcAft>
                <a:spcPts val="0"/>
              </a:spcAft>
              <a:buNone/>
            </a:pPr>
            <a:r>
              <a:rPr lang="it" sz="1100"/>
              <a:t>   userspace</a:t>
            </a:r>
            <a:endParaRPr sz="1100"/>
          </a:p>
        </p:txBody>
      </p:sp>
      <p:sp>
        <p:nvSpPr>
          <p:cNvPr id="546" name="Google Shape;546;p37"/>
          <p:cNvSpPr/>
          <p:nvPr/>
        </p:nvSpPr>
        <p:spPr>
          <a:xfrm>
            <a:off x="821850" y="4218625"/>
            <a:ext cx="7500300" cy="7242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a:t>The socket inode recovers the process context, while the packet indexer carries that context into packet processing. </a:t>
            </a:r>
            <a:endParaRPr b="1"/>
          </a:p>
        </p:txBody>
      </p:sp>
      <p:sp>
        <p:nvSpPr>
          <p:cNvPr id="547" name="Google Shape;547;p37"/>
          <p:cNvSpPr/>
          <p:nvPr/>
        </p:nvSpPr>
        <p:spPr>
          <a:xfrm>
            <a:off x="2965300" y="3308725"/>
            <a:ext cx="2850600" cy="463500"/>
          </a:xfrm>
          <a:prstGeom prst="roundRect">
            <a:avLst>
              <a:gd fmla="val 16667" name="adj"/>
            </a:avLst>
          </a:prstGeom>
          <a:solidFill>
            <a:srgbClr val="04254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it" sz="1100">
                <a:solidFill>
                  <a:schemeClr val="lt1"/>
                </a:solidFill>
              </a:rPr>
              <a:t>cgrpctxmap[indexer] = net_event_context</a:t>
            </a:r>
            <a:endParaRPr sz="11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553" name="Google Shape;553;p38"/>
          <p:cNvSpPr txBox="1"/>
          <p:nvPr>
            <p:ph type="title"/>
          </p:nvPr>
        </p:nvSpPr>
        <p:spPr>
          <a:xfrm>
            <a:off x="0" y="0"/>
            <a:ext cx="9144000" cy="655500"/>
          </a:xfrm>
          <a:prstGeom prst="rect">
            <a:avLst/>
          </a:prstGeom>
          <a:solidFill>
            <a:srgbClr val="042543"/>
          </a:solidFill>
        </p:spPr>
        <p:txBody>
          <a:bodyPr anchorCtr="0" anchor="t" bIns="91425" lIns="91425" spcFirstLastPara="1" rIns="91425" wrap="square" tIns="91425">
            <a:normAutofit/>
          </a:bodyPr>
          <a:lstStyle/>
          <a:p>
            <a:pPr indent="0" lvl="0" marL="457200" rtl="0" algn="l">
              <a:spcBef>
                <a:spcPts val="0"/>
              </a:spcBef>
              <a:spcAft>
                <a:spcPts val="0"/>
              </a:spcAft>
              <a:buNone/>
            </a:pPr>
            <a:r>
              <a:rPr b="1" lang="it" sz="2400">
                <a:solidFill>
                  <a:schemeClr val="lt1"/>
                </a:solidFill>
              </a:rPr>
              <a:t>Kernel-side Packet Parsing and Event Fan-out</a:t>
            </a:r>
            <a:endParaRPr b="1" sz="2400">
              <a:solidFill>
                <a:schemeClr val="lt1"/>
              </a:solidFill>
            </a:endParaRPr>
          </a:p>
        </p:txBody>
      </p:sp>
      <p:sp>
        <p:nvSpPr>
          <p:cNvPr id="554" name="Google Shape;554;p38"/>
          <p:cNvSpPr/>
          <p:nvPr/>
        </p:nvSpPr>
        <p:spPr>
          <a:xfrm>
            <a:off x="167250" y="872925"/>
            <a:ext cx="1435800" cy="889800"/>
          </a:xfrm>
          <a:prstGeom prst="roundRect">
            <a:avLst>
              <a:gd fmla="val 16667" name="adj"/>
            </a:avLst>
          </a:prstGeom>
          <a:solidFill>
            <a:srgbClr val="1C45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lt1"/>
                </a:solidFill>
              </a:rPr>
              <a:t>Packet</a:t>
            </a:r>
            <a:endParaRPr b="1" sz="1500">
              <a:solidFill>
                <a:schemeClr val="lt1"/>
              </a:solidFill>
            </a:endParaRPr>
          </a:p>
          <a:p>
            <a:pPr indent="0" lvl="0" marL="0" rtl="0" algn="ctr">
              <a:spcBef>
                <a:spcPts val="0"/>
              </a:spcBef>
              <a:spcAft>
                <a:spcPts val="0"/>
              </a:spcAft>
              <a:buNone/>
            </a:pPr>
            <a:r>
              <a:rPr b="1" lang="it" sz="1500">
                <a:solidFill>
                  <a:schemeClr val="lt1"/>
                </a:solidFill>
              </a:rPr>
              <a:t>sk_buff</a:t>
            </a:r>
            <a:endParaRPr b="1" sz="1500">
              <a:solidFill>
                <a:schemeClr val="lt1"/>
              </a:solidFill>
            </a:endParaRPr>
          </a:p>
        </p:txBody>
      </p:sp>
      <p:sp>
        <p:nvSpPr>
          <p:cNvPr id="555" name="Google Shape;555;p38"/>
          <p:cNvSpPr/>
          <p:nvPr/>
        </p:nvSpPr>
        <p:spPr>
          <a:xfrm>
            <a:off x="2049476" y="870525"/>
            <a:ext cx="1358100" cy="889800"/>
          </a:xfrm>
          <a:prstGeom prst="roundRect">
            <a:avLst>
              <a:gd fmla="val 16667" name="adj"/>
            </a:avLst>
          </a:prstGeom>
          <a:solidFill>
            <a:srgbClr val="1155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lt1"/>
                </a:solidFill>
              </a:rPr>
              <a:t>IPv4/IPv6</a:t>
            </a:r>
            <a:endParaRPr b="1" sz="1500">
              <a:solidFill>
                <a:schemeClr val="lt1"/>
              </a:solidFill>
            </a:endParaRPr>
          </a:p>
        </p:txBody>
      </p:sp>
      <p:sp>
        <p:nvSpPr>
          <p:cNvPr id="556" name="Google Shape;556;p38"/>
          <p:cNvSpPr/>
          <p:nvPr/>
        </p:nvSpPr>
        <p:spPr>
          <a:xfrm>
            <a:off x="3854096" y="872925"/>
            <a:ext cx="1435800" cy="889800"/>
          </a:xfrm>
          <a:prstGeom prst="roundRect">
            <a:avLst>
              <a:gd fmla="val 16667" name="adj"/>
            </a:avLst>
          </a:prstGeom>
          <a:solidFill>
            <a:srgbClr val="366EC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chemeClr val="lt1"/>
                </a:solidFill>
              </a:rPr>
              <a:t>TCP/UDP/</a:t>
            </a:r>
            <a:endParaRPr b="1" sz="1500">
              <a:solidFill>
                <a:schemeClr val="lt1"/>
              </a:solidFill>
            </a:endParaRPr>
          </a:p>
          <a:p>
            <a:pPr indent="0" lvl="0" marL="0" rtl="0" algn="ctr">
              <a:spcBef>
                <a:spcPts val="0"/>
              </a:spcBef>
              <a:spcAft>
                <a:spcPts val="0"/>
              </a:spcAft>
              <a:buNone/>
            </a:pPr>
            <a:r>
              <a:rPr b="1" lang="it" sz="1500">
                <a:solidFill>
                  <a:schemeClr val="lt1"/>
                </a:solidFill>
              </a:rPr>
              <a:t>ICMP</a:t>
            </a:r>
            <a:endParaRPr b="1" sz="1500">
              <a:solidFill>
                <a:schemeClr val="lt1"/>
              </a:solidFill>
            </a:endParaRPr>
          </a:p>
        </p:txBody>
      </p:sp>
      <p:sp>
        <p:nvSpPr>
          <p:cNvPr id="557" name="Google Shape;557;p38"/>
          <p:cNvSpPr/>
          <p:nvPr/>
        </p:nvSpPr>
        <p:spPr>
          <a:xfrm>
            <a:off x="5736406" y="870527"/>
            <a:ext cx="1435800" cy="8898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rgbClr val="062B49"/>
                </a:solidFill>
              </a:rPr>
              <a:t>DNS/TLS/</a:t>
            </a:r>
            <a:endParaRPr b="1" sz="1500">
              <a:solidFill>
                <a:srgbClr val="062B49"/>
              </a:solidFill>
            </a:endParaRPr>
          </a:p>
          <a:p>
            <a:pPr indent="0" lvl="0" marL="0" rtl="0" algn="ctr">
              <a:spcBef>
                <a:spcPts val="0"/>
              </a:spcBef>
              <a:spcAft>
                <a:spcPts val="0"/>
              </a:spcAft>
              <a:buNone/>
            </a:pPr>
            <a:r>
              <a:rPr b="1" lang="it" sz="1500">
                <a:solidFill>
                  <a:srgbClr val="062B49"/>
                </a:solidFill>
              </a:rPr>
              <a:t>HTTP</a:t>
            </a:r>
            <a:endParaRPr b="1" sz="1500">
              <a:solidFill>
                <a:srgbClr val="062B49"/>
              </a:solidFill>
            </a:endParaRPr>
          </a:p>
        </p:txBody>
      </p:sp>
      <p:sp>
        <p:nvSpPr>
          <p:cNvPr id="558" name="Google Shape;558;p38"/>
          <p:cNvSpPr/>
          <p:nvPr/>
        </p:nvSpPr>
        <p:spPr>
          <a:xfrm>
            <a:off x="7536550" y="872926"/>
            <a:ext cx="1518000" cy="889800"/>
          </a:xfrm>
          <a:prstGeom prst="roundRect">
            <a:avLst>
              <a:gd fmla="val 16667" name="adj"/>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 sz="1500">
                <a:solidFill>
                  <a:srgbClr val="062B49"/>
                </a:solidFill>
              </a:rPr>
              <a:t>net_packet_*</a:t>
            </a:r>
            <a:endParaRPr b="1" sz="1500">
              <a:solidFill>
                <a:srgbClr val="062B49"/>
              </a:solidFill>
            </a:endParaRPr>
          </a:p>
          <a:p>
            <a:pPr indent="0" lvl="0" marL="0" rtl="0" algn="ctr">
              <a:spcBef>
                <a:spcPts val="0"/>
              </a:spcBef>
              <a:spcAft>
                <a:spcPts val="0"/>
              </a:spcAft>
              <a:buNone/>
            </a:pPr>
            <a:r>
              <a:rPr b="1" lang="it" sz="1500">
                <a:solidFill>
                  <a:srgbClr val="062B49"/>
                </a:solidFill>
              </a:rPr>
              <a:t>submission</a:t>
            </a:r>
            <a:endParaRPr b="1" sz="1500">
              <a:solidFill>
                <a:srgbClr val="062B49"/>
              </a:solidFill>
            </a:endParaRPr>
          </a:p>
        </p:txBody>
      </p:sp>
      <p:sp>
        <p:nvSpPr>
          <p:cNvPr id="559" name="Google Shape;559;p38"/>
          <p:cNvSpPr/>
          <p:nvPr/>
        </p:nvSpPr>
        <p:spPr>
          <a:xfrm>
            <a:off x="167250" y="4458025"/>
            <a:ext cx="7667100" cy="470100"/>
          </a:xfrm>
          <a:prstGeom prst="roundRect">
            <a:avLst>
              <a:gd fmla="val 16667" name="adj"/>
            </a:avLst>
          </a:prstGeom>
          <a:solidFill>
            <a:srgbClr val="A4DEB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a:t>Benefit</a:t>
            </a:r>
            <a:r>
              <a:rPr lang="it"/>
              <a:t>: </a:t>
            </a:r>
            <a:r>
              <a:rPr lang="it"/>
              <a:t>layer-specific events </a:t>
            </a:r>
            <a:r>
              <a:rPr lang="it"/>
              <a:t>simplify </a:t>
            </a:r>
            <a:r>
              <a:rPr lang="it"/>
              <a:t>filtering, protocol decoding and detector rules. </a:t>
            </a:r>
            <a:endParaRPr/>
          </a:p>
        </p:txBody>
      </p:sp>
      <p:sp>
        <p:nvSpPr>
          <p:cNvPr id="560" name="Google Shape;560;p38"/>
          <p:cNvSpPr/>
          <p:nvPr/>
        </p:nvSpPr>
        <p:spPr>
          <a:xfrm>
            <a:off x="145050" y="1874833"/>
            <a:ext cx="8853900" cy="10371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it">
                <a:solidFill>
                  <a:srgbClr val="042543"/>
                </a:solidFill>
              </a:rPr>
              <a:t>How each layer is identified</a:t>
            </a:r>
            <a:r>
              <a:rPr lang="it">
                <a:solidFill>
                  <a:srgbClr val="042543"/>
                </a:solidFill>
              </a:rPr>
              <a:t>      </a:t>
            </a:r>
            <a:r>
              <a:rPr lang="it">
                <a:solidFill>
                  <a:srgbClr val="062B49"/>
                </a:solidFill>
              </a:rPr>
              <a:t>L3: </a:t>
            </a:r>
            <a:r>
              <a:rPr lang="it">
                <a:solidFill>
                  <a:srgbClr val="062B49"/>
                </a:solidFill>
              </a:rPr>
              <a:t>Socket family and IP version (IPv4/IPv6 headers) </a:t>
            </a:r>
            <a:endParaRPr>
              <a:solidFill>
                <a:srgbClr val="062B49"/>
              </a:solidFill>
            </a:endParaRPr>
          </a:p>
          <a:p>
            <a:pPr indent="0" lvl="0" marL="2286000" rtl="0" algn="l">
              <a:spcBef>
                <a:spcPts val="0"/>
              </a:spcBef>
              <a:spcAft>
                <a:spcPts val="0"/>
              </a:spcAft>
              <a:buNone/>
            </a:pPr>
            <a:r>
              <a:rPr lang="it">
                <a:solidFill>
                  <a:srgbClr val="062B49"/>
                </a:solidFill>
              </a:rPr>
              <a:t>       IP protocol dispatch: IP protocol fields (TCP, UDP or ICMP) </a:t>
            </a:r>
            <a:endParaRPr sz="1700">
              <a:solidFill>
                <a:srgbClr val="062B49"/>
              </a:solidFill>
            </a:endParaRPr>
          </a:p>
          <a:p>
            <a:pPr indent="457200" lvl="0" marL="1828800" rtl="0" algn="l">
              <a:spcBef>
                <a:spcPts val="0"/>
              </a:spcBef>
              <a:spcAft>
                <a:spcPts val="0"/>
              </a:spcAft>
              <a:buNone/>
            </a:pPr>
            <a:r>
              <a:rPr lang="it">
                <a:solidFill>
                  <a:srgbClr val="062B49"/>
                </a:solidFill>
              </a:rPr>
              <a:t>       L7: Port numbers + payload signatures (e.g., TLS record, HTTP method)</a:t>
            </a:r>
            <a:endParaRPr>
              <a:solidFill>
                <a:srgbClr val="062B49"/>
              </a:solidFill>
            </a:endParaRPr>
          </a:p>
        </p:txBody>
      </p:sp>
      <p:cxnSp>
        <p:nvCxnSpPr>
          <p:cNvPr id="561" name="Google Shape;561;p38"/>
          <p:cNvCxnSpPr>
            <a:stCxn id="554" idx="3"/>
            <a:endCxn id="555" idx="1"/>
          </p:cNvCxnSpPr>
          <p:nvPr/>
        </p:nvCxnSpPr>
        <p:spPr>
          <a:xfrm flipH="1" rot="10800000">
            <a:off x="1603050" y="1315425"/>
            <a:ext cx="446400" cy="2400"/>
          </a:xfrm>
          <a:prstGeom prst="straightConnector1">
            <a:avLst/>
          </a:prstGeom>
          <a:noFill/>
          <a:ln cap="flat" cmpd="sng" w="28575">
            <a:solidFill>
              <a:srgbClr val="062B49"/>
            </a:solidFill>
            <a:prstDash val="solid"/>
            <a:round/>
            <a:headEnd len="med" w="med" type="none"/>
            <a:tailEnd len="med" w="med" type="triangle"/>
          </a:ln>
        </p:spPr>
      </p:cxnSp>
      <p:cxnSp>
        <p:nvCxnSpPr>
          <p:cNvPr id="562" name="Google Shape;562;p38"/>
          <p:cNvCxnSpPr>
            <a:endCxn id="556" idx="1"/>
          </p:cNvCxnSpPr>
          <p:nvPr/>
        </p:nvCxnSpPr>
        <p:spPr>
          <a:xfrm>
            <a:off x="3407696" y="1315425"/>
            <a:ext cx="446400" cy="2400"/>
          </a:xfrm>
          <a:prstGeom prst="straightConnector1">
            <a:avLst/>
          </a:prstGeom>
          <a:noFill/>
          <a:ln cap="flat" cmpd="sng" w="28575">
            <a:solidFill>
              <a:srgbClr val="062B49"/>
            </a:solidFill>
            <a:prstDash val="solid"/>
            <a:round/>
            <a:headEnd len="med" w="med" type="none"/>
            <a:tailEnd len="med" w="med" type="triangle"/>
          </a:ln>
        </p:spPr>
      </p:cxnSp>
      <p:cxnSp>
        <p:nvCxnSpPr>
          <p:cNvPr id="563" name="Google Shape;563;p38"/>
          <p:cNvCxnSpPr>
            <a:stCxn id="556" idx="3"/>
            <a:endCxn id="557" idx="1"/>
          </p:cNvCxnSpPr>
          <p:nvPr/>
        </p:nvCxnSpPr>
        <p:spPr>
          <a:xfrm flipH="1" rot="10800000">
            <a:off x="5289896" y="1315425"/>
            <a:ext cx="446400" cy="2400"/>
          </a:xfrm>
          <a:prstGeom prst="straightConnector1">
            <a:avLst/>
          </a:prstGeom>
          <a:noFill/>
          <a:ln cap="flat" cmpd="sng" w="28575">
            <a:solidFill>
              <a:srgbClr val="062B49"/>
            </a:solidFill>
            <a:prstDash val="solid"/>
            <a:round/>
            <a:headEnd len="med" w="med" type="none"/>
            <a:tailEnd len="med" w="med" type="triangle"/>
          </a:ln>
        </p:spPr>
      </p:cxnSp>
      <p:cxnSp>
        <p:nvCxnSpPr>
          <p:cNvPr id="564" name="Google Shape;564;p38"/>
          <p:cNvCxnSpPr>
            <a:stCxn id="557" idx="3"/>
            <a:endCxn id="558" idx="1"/>
          </p:cNvCxnSpPr>
          <p:nvPr/>
        </p:nvCxnSpPr>
        <p:spPr>
          <a:xfrm>
            <a:off x="7172206" y="1315427"/>
            <a:ext cx="364200" cy="2400"/>
          </a:xfrm>
          <a:prstGeom prst="straightConnector1">
            <a:avLst/>
          </a:prstGeom>
          <a:noFill/>
          <a:ln cap="flat" cmpd="sng" w="28575">
            <a:solidFill>
              <a:srgbClr val="062B49"/>
            </a:solidFill>
            <a:prstDash val="solid"/>
            <a:round/>
            <a:headEnd len="med" w="med" type="none"/>
            <a:tailEnd len="med" w="med" type="triangle"/>
          </a:ln>
        </p:spPr>
      </p:cxnSp>
      <p:sp>
        <p:nvSpPr>
          <p:cNvPr id="565" name="Google Shape;565;p38"/>
          <p:cNvSpPr txBox="1"/>
          <p:nvPr/>
        </p:nvSpPr>
        <p:spPr>
          <a:xfrm>
            <a:off x="167250" y="2939013"/>
            <a:ext cx="7251000" cy="47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500">
                <a:solidFill>
                  <a:srgbClr val="042543"/>
                </a:solidFill>
              </a:rPr>
              <a:t>One packet may generate multiple layer-specific events</a:t>
            </a:r>
            <a:endParaRPr b="1" sz="1500">
              <a:solidFill>
                <a:srgbClr val="042543"/>
              </a:solidFill>
            </a:endParaRPr>
          </a:p>
        </p:txBody>
      </p:sp>
      <p:sp>
        <p:nvSpPr>
          <p:cNvPr id="566" name="Google Shape;566;p38"/>
          <p:cNvSpPr/>
          <p:nvPr/>
        </p:nvSpPr>
        <p:spPr>
          <a:xfrm>
            <a:off x="245025" y="3345363"/>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net_packet_raw</a:t>
            </a:r>
            <a:endParaRPr>
              <a:solidFill>
                <a:srgbClr val="042543"/>
              </a:solidFill>
            </a:endParaRPr>
          </a:p>
        </p:txBody>
      </p:sp>
      <p:sp>
        <p:nvSpPr>
          <p:cNvPr id="567" name="Google Shape;567;p38"/>
          <p:cNvSpPr/>
          <p:nvPr/>
        </p:nvSpPr>
        <p:spPr>
          <a:xfrm>
            <a:off x="2518150" y="3364013"/>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net_packet_ip</a:t>
            </a:r>
            <a:endParaRPr>
              <a:solidFill>
                <a:srgbClr val="042543"/>
              </a:solidFill>
            </a:endParaRPr>
          </a:p>
        </p:txBody>
      </p:sp>
      <p:sp>
        <p:nvSpPr>
          <p:cNvPr id="568" name="Google Shape;568;p38"/>
          <p:cNvSpPr/>
          <p:nvPr/>
        </p:nvSpPr>
        <p:spPr>
          <a:xfrm>
            <a:off x="4791275" y="3389688"/>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net_packet_tcp</a:t>
            </a:r>
            <a:endParaRPr>
              <a:solidFill>
                <a:srgbClr val="042543"/>
              </a:solidFill>
            </a:endParaRPr>
          </a:p>
        </p:txBody>
      </p:sp>
      <p:sp>
        <p:nvSpPr>
          <p:cNvPr id="569" name="Google Shape;569;p38"/>
          <p:cNvSpPr/>
          <p:nvPr/>
        </p:nvSpPr>
        <p:spPr>
          <a:xfrm>
            <a:off x="7008075" y="3389688"/>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net_packet_udp</a:t>
            </a:r>
            <a:endParaRPr>
              <a:solidFill>
                <a:srgbClr val="042543"/>
              </a:solidFill>
            </a:endParaRPr>
          </a:p>
        </p:txBody>
      </p:sp>
      <p:sp>
        <p:nvSpPr>
          <p:cNvPr id="570" name="Google Shape;570;p38"/>
          <p:cNvSpPr/>
          <p:nvPr/>
        </p:nvSpPr>
        <p:spPr>
          <a:xfrm>
            <a:off x="245025" y="3922088"/>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net_packet_icmp</a:t>
            </a:r>
            <a:endParaRPr>
              <a:solidFill>
                <a:srgbClr val="042543"/>
              </a:solidFill>
            </a:endParaRPr>
          </a:p>
        </p:txBody>
      </p:sp>
      <p:sp>
        <p:nvSpPr>
          <p:cNvPr id="571" name="Google Shape;571;p38"/>
          <p:cNvSpPr/>
          <p:nvPr/>
        </p:nvSpPr>
        <p:spPr>
          <a:xfrm>
            <a:off x="2518150" y="3922088"/>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net_packet_dns</a:t>
            </a:r>
            <a:endParaRPr>
              <a:solidFill>
                <a:srgbClr val="042543"/>
              </a:solidFill>
            </a:endParaRPr>
          </a:p>
        </p:txBody>
      </p:sp>
      <p:sp>
        <p:nvSpPr>
          <p:cNvPr id="572" name="Google Shape;572;p38"/>
          <p:cNvSpPr/>
          <p:nvPr/>
        </p:nvSpPr>
        <p:spPr>
          <a:xfrm>
            <a:off x="4766863" y="3922088"/>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net_packet_http</a:t>
            </a:r>
            <a:endParaRPr>
              <a:solidFill>
                <a:srgbClr val="042543"/>
              </a:solidFill>
            </a:endParaRPr>
          </a:p>
        </p:txBody>
      </p:sp>
      <p:sp>
        <p:nvSpPr>
          <p:cNvPr id="573" name="Google Shape;573;p38"/>
          <p:cNvSpPr/>
          <p:nvPr/>
        </p:nvSpPr>
        <p:spPr>
          <a:xfrm>
            <a:off x="7015600" y="3894050"/>
            <a:ext cx="2112900" cy="393600"/>
          </a:xfrm>
          <a:prstGeom prst="roundRect">
            <a:avLst>
              <a:gd fmla="val 16667" name="adj"/>
            </a:avLst>
          </a:prstGeom>
          <a:solidFill>
            <a:srgbClr val="C4E9FB">
              <a:alpha val="327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solidFill>
                  <a:srgbClr val="042543"/>
                </a:solidFill>
              </a:rPr>
              <a:t>net_packet_tls</a:t>
            </a:r>
            <a:endParaRPr>
              <a:solidFill>
                <a:srgbClr val="042543"/>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8" name="Shape 578"/>
        <p:cNvGrpSpPr/>
        <p:nvPr/>
      </p:nvGrpSpPr>
      <p:grpSpPr>
        <a:xfrm>
          <a:off x="0" y="0"/>
          <a:ext cx="0" cy="0"/>
          <a:chOff x="0" y="0"/>
          <a:chExt cx="0" cy="0"/>
        </a:xfrm>
      </p:grpSpPr>
      <p:sp>
        <p:nvSpPr>
          <p:cNvPr id="579" name="Google Shape;579;p39"/>
          <p:cNvSpPr/>
          <p:nvPr/>
        </p:nvSpPr>
        <p:spPr>
          <a:xfrm>
            <a:off x="0" y="0"/>
            <a:ext cx="9144000" cy="700087"/>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0" name="Google Shape;580;p39"/>
          <p:cNvSpPr/>
          <p:nvPr/>
        </p:nvSpPr>
        <p:spPr>
          <a:xfrm>
            <a:off x="514350" y="128588"/>
            <a:ext cx="8115300" cy="4429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300">
                <a:solidFill>
                  <a:srgbClr val="FFFFFF"/>
                </a:solidFill>
                <a:latin typeface="Arial"/>
                <a:ea typeface="Arial"/>
                <a:cs typeface="Arial"/>
                <a:sym typeface="Arial"/>
              </a:rPr>
              <a:t>User-Space Protocol Decoding and Enrichment</a:t>
            </a:r>
            <a:endParaRPr sz="1100"/>
          </a:p>
        </p:txBody>
      </p:sp>
      <p:sp>
        <p:nvSpPr>
          <p:cNvPr id="581" name="Google Shape;581;p39"/>
          <p:cNvSpPr/>
          <p:nvPr/>
        </p:nvSpPr>
        <p:spPr>
          <a:xfrm>
            <a:off x="514350" y="804550"/>
            <a:ext cx="8115300" cy="271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0A2E4F"/>
                </a:solidFill>
                <a:latin typeface="Arial"/>
                <a:ea typeface="Arial"/>
                <a:cs typeface="Arial"/>
                <a:sym typeface="Arial"/>
              </a:rPr>
              <a:t>Selected packet bytes become structured arguments for policies, detectors and output components.</a:t>
            </a:r>
            <a:endParaRPr sz="1200"/>
          </a:p>
        </p:txBody>
      </p:sp>
      <p:sp>
        <p:nvSpPr>
          <p:cNvPr id="582" name="Google Shape;582;p39"/>
          <p:cNvSpPr/>
          <p:nvPr/>
        </p:nvSpPr>
        <p:spPr>
          <a:xfrm>
            <a:off x="514350" y="1200113"/>
            <a:ext cx="2428800" cy="1628700"/>
          </a:xfrm>
          <a:prstGeom prst="rect">
            <a:avLst/>
          </a:prstGeom>
          <a:solidFill>
            <a:srgbClr val="EEF4FB"/>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3" name="Google Shape;583;p39"/>
          <p:cNvSpPr/>
          <p:nvPr/>
        </p:nvSpPr>
        <p:spPr>
          <a:xfrm>
            <a:off x="514350" y="1200113"/>
            <a:ext cx="2428800" cy="57600"/>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4" name="Google Shape;584;p39"/>
          <p:cNvSpPr/>
          <p:nvPr/>
        </p:nvSpPr>
        <p:spPr>
          <a:xfrm>
            <a:off x="618813" y="1317014"/>
            <a:ext cx="2114700" cy="230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600">
                <a:solidFill>
                  <a:srgbClr val="2463C7"/>
                </a:solidFill>
                <a:latin typeface="Arial"/>
                <a:ea typeface="Arial"/>
                <a:cs typeface="Arial"/>
                <a:sym typeface="Arial"/>
              </a:rPr>
              <a:t>DNS</a:t>
            </a:r>
            <a:endParaRPr sz="1600"/>
          </a:p>
        </p:txBody>
      </p:sp>
      <p:sp>
        <p:nvSpPr>
          <p:cNvPr id="585" name="Google Shape;585;p39"/>
          <p:cNvSpPr/>
          <p:nvPr/>
        </p:nvSpPr>
        <p:spPr>
          <a:xfrm>
            <a:off x="618825" y="1595635"/>
            <a:ext cx="2167200" cy="482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062B49"/>
                </a:solidFill>
                <a:latin typeface="Arial"/>
                <a:ea typeface="Arial"/>
                <a:cs typeface="Arial"/>
                <a:sym typeface="Arial"/>
              </a:rPr>
              <a:t>Decode questions, record types</a:t>
            </a:r>
            <a:r>
              <a:rPr lang="it"/>
              <a:t> </a:t>
            </a:r>
            <a:r>
              <a:rPr b="1" lang="it" sz="1200">
                <a:solidFill>
                  <a:srgbClr val="062B49"/>
                </a:solidFill>
                <a:latin typeface="Arial"/>
                <a:ea typeface="Arial"/>
                <a:cs typeface="Arial"/>
                <a:sym typeface="Arial"/>
              </a:rPr>
              <a:t>and answer records</a:t>
            </a:r>
            <a:endParaRPr/>
          </a:p>
        </p:txBody>
      </p:sp>
      <p:sp>
        <p:nvSpPr>
          <p:cNvPr id="586" name="Google Shape;586;p39"/>
          <p:cNvSpPr/>
          <p:nvPr/>
        </p:nvSpPr>
        <p:spPr>
          <a:xfrm>
            <a:off x="618750" y="2154630"/>
            <a:ext cx="2114700" cy="243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2463C7"/>
                </a:solidFill>
                <a:latin typeface="Arial"/>
                <a:ea typeface="Arial"/>
                <a:cs typeface="Arial"/>
                <a:sym typeface="Arial"/>
              </a:rPr>
              <a:t>EXTRACTED FIELDS</a:t>
            </a:r>
            <a:endParaRPr sz="1600">
              <a:solidFill>
                <a:srgbClr val="2463C7"/>
              </a:solidFill>
            </a:endParaRPr>
          </a:p>
        </p:txBody>
      </p:sp>
      <p:sp>
        <p:nvSpPr>
          <p:cNvPr id="587" name="Google Shape;587;p39"/>
          <p:cNvSpPr/>
          <p:nvPr/>
        </p:nvSpPr>
        <p:spPr>
          <a:xfrm>
            <a:off x="618825" y="2379592"/>
            <a:ext cx="2114400" cy="357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062B49"/>
                </a:solidFill>
                <a:latin typeface="Arial"/>
                <a:ea typeface="Arial"/>
                <a:cs typeface="Arial"/>
                <a:sym typeface="Arial"/>
              </a:rPr>
              <a:t>dns_query  ·  dns_qtype</a:t>
            </a:r>
            <a:endParaRPr/>
          </a:p>
          <a:p>
            <a:pPr indent="0" lvl="0" marL="0" marR="0" rtl="0" algn="l">
              <a:spcBef>
                <a:spcPts val="0"/>
              </a:spcBef>
              <a:spcAft>
                <a:spcPts val="0"/>
              </a:spcAft>
              <a:buNone/>
            </a:pPr>
            <a:r>
              <a:rPr b="1" lang="it" sz="1200">
                <a:solidFill>
                  <a:srgbClr val="062B49"/>
                </a:solidFill>
                <a:latin typeface="Arial"/>
                <a:ea typeface="Arial"/>
                <a:cs typeface="Arial"/>
                <a:sym typeface="Arial"/>
              </a:rPr>
              <a:t>dns_answer</a:t>
            </a:r>
            <a:endParaRPr/>
          </a:p>
        </p:txBody>
      </p:sp>
      <p:sp>
        <p:nvSpPr>
          <p:cNvPr id="588" name="Google Shape;588;p39"/>
          <p:cNvSpPr/>
          <p:nvPr/>
        </p:nvSpPr>
        <p:spPr>
          <a:xfrm>
            <a:off x="3357563" y="1200113"/>
            <a:ext cx="2428800" cy="1628700"/>
          </a:xfrm>
          <a:prstGeom prst="rect">
            <a:avLst/>
          </a:prstGeom>
          <a:solidFill>
            <a:srgbClr val="EEF8F3"/>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9" name="Google Shape;589;p39"/>
          <p:cNvSpPr/>
          <p:nvPr/>
        </p:nvSpPr>
        <p:spPr>
          <a:xfrm>
            <a:off x="3357563" y="1200113"/>
            <a:ext cx="2428800" cy="57600"/>
          </a:xfrm>
          <a:prstGeom prst="rect">
            <a:avLst/>
          </a:prstGeom>
          <a:solidFill>
            <a:srgbClr val="2FB4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0" name="Google Shape;590;p39"/>
          <p:cNvSpPr/>
          <p:nvPr/>
        </p:nvSpPr>
        <p:spPr>
          <a:xfrm>
            <a:off x="3462025" y="1317014"/>
            <a:ext cx="2114700" cy="230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500">
                <a:solidFill>
                  <a:srgbClr val="2FB477"/>
                </a:solidFill>
                <a:latin typeface="Arial"/>
                <a:ea typeface="Arial"/>
                <a:cs typeface="Arial"/>
                <a:sym typeface="Arial"/>
              </a:rPr>
              <a:t>HTTP</a:t>
            </a:r>
            <a:endParaRPr sz="1500"/>
          </a:p>
        </p:txBody>
      </p:sp>
      <p:sp>
        <p:nvSpPr>
          <p:cNvPr id="591" name="Google Shape;591;p39"/>
          <p:cNvSpPr/>
          <p:nvPr/>
        </p:nvSpPr>
        <p:spPr>
          <a:xfrm>
            <a:off x="3451485" y="1585084"/>
            <a:ext cx="2114700" cy="42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062B49"/>
                </a:solidFill>
                <a:latin typeface="Arial"/>
                <a:ea typeface="Arial"/>
                <a:cs typeface="Arial"/>
                <a:sym typeface="Arial"/>
              </a:rPr>
              <a:t>Parse the request or status line</a:t>
            </a:r>
            <a:r>
              <a:rPr lang="it"/>
              <a:t> </a:t>
            </a:r>
            <a:r>
              <a:rPr b="1" lang="it" sz="1200">
                <a:solidFill>
                  <a:srgbClr val="062B49"/>
                </a:solidFill>
                <a:latin typeface="Arial"/>
                <a:ea typeface="Arial"/>
                <a:cs typeface="Arial"/>
                <a:sym typeface="Arial"/>
              </a:rPr>
              <a:t>and the Host header</a:t>
            </a:r>
            <a:endParaRPr/>
          </a:p>
        </p:txBody>
      </p:sp>
      <p:sp>
        <p:nvSpPr>
          <p:cNvPr id="592" name="Google Shape;592;p39"/>
          <p:cNvSpPr/>
          <p:nvPr/>
        </p:nvSpPr>
        <p:spPr>
          <a:xfrm>
            <a:off x="3462025" y="2160584"/>
            <a:ext cx="2114700" cy="230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2FB477"/>
                </a:solidFill>
                <a:latin typeface="Arial"/>
                <a:ea typeface="Arial"/>
                <a:cs typeface="Arial"/>
                <a:sym typeface="Arial"/>
              </a:rPr>
              <a:t>EXTRACTED FIELDS</a:t>
            </a:r>
            <a:endParaRPr sz="1200">
              <a:solidFill>
                <a:srgbClr val="2FB477"/>
              </a:solidFill>
            </a:endParaRPr>
          </a:p>
        </p:txBody>
      </p:sp>
      <p:sp>
        <p:nvSpPr>
          <p:cNvPr id="593" name="Google Shape;593;p39"/>
          <p:cNvSpPr/>
          <p:nvPr/>
        </p:nvSpPr>
        <p:spPr>
          <a:xfrm>
            <a:off x="3462025" y="2370437"/>
            <a:ext cx="2114700" cy="271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062B49"/>
                </a:solidFill>
                <a:latin typeface="Arial"/>
                <a:ea typeface="Arial"/>
                <a:cs typeface="Arial"/>
                <a:sym typeface="Arial"/>
              </a:rPr>
              <a:t>http_method  ·  http_path</a:t>
            </a:r>
            <a:endParaRPr/>
          </a:p>
          <a:p>
            <a:pPr indent="0" lvl="0" marL="0" marR="0" rtl="0" algn="l">
              <a:spcBef>
                <a:spcPts val="0"/>
              </a:spcBef>
              <a:spcAft>
                <a:spcPts val="0"/>
              </a:spcAft>
              <a:buNone/>
            </a:pPr>
            <a:r>
              <a:rPr b="1" lang="it" sz="1200">
                <a:solidFill>
                  <a:srgbClr val="062B49"/>
                </a:solidFill>
                <a:latin typeface="Arial"/>
                <a:ea typeface="Arial"/>
                <a:cs typeface="Arial"/>
                <a:sym typeface="Arial"/>
              </a:rPr>
              <a:t>http_host  ·  http_status</a:t>
            </a:r>
            <a:endParaRPr/>
          </a:p>
        </p:txBody>
      </p:sp>
      <p:sp>
        <p:nvSpPr>
          <p:cNvPr id="594" name="Google Shape;594;p39"/>
          <p:cNvSpPr/>
          <p:nvPr/>
        </p:nvSpPr>
        <p:spPr>
          <a:xfrm>
            <a:off x="6200775" y="1200113"/>
            <a:ext cx="2428800" cy="1628700"/>
          </a:xfrm>
          <a:prstGeom prst="rect">
            <a:avLst/>
          </a:prstGeom>
          <a:solidFill>
            <a:srgbClr val="FFF7E7"/>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5" name="Google Shape;595;p39"/>
          <p:cNvSpPr/>
          <p:nvPr/>
        </p:nvSpPr>
        <p:spPr>
          <a:xfrm>
            <a:off x="6200775" y="1200113"/>
            <a:ext cx="2428800" cy="57600"/>
          </a:xfrm>
          <a:prstGeom prst="rect">
            <a:avLst/>
          </a:prstGeom>
          <a:solidFill>
            <a:srgbClr val="F0A60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6" name="Google Shape;596;p39"/>
          <p:cNvSpPr/>
          <p:nvPr/>
        </p:nvSpPr>
        <p:spPr>
          <a:xfrm>
            <a:off x="6305238" y="1317014"/>
            <a:ext cx="2114700" cy="230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500">
                <a:solidFill>
                  <a:srgbClr val="F0A600"/>
                </a:solidFill>
                <a:latin typeface="Arial"/>
                <a:ea typeface="Arial"/>
                <a:cs typeface="Arial"/>
                <a:sym typeface="Arial"/>
              </a:rPr>
              <a:t>TLS</a:t>
            </a:r>
            <a:endParaRPr sz="1500"/>
          </a:p>
        </p:txBody>
      </p:sp>
      <p:sp>
        <p:nvSpPr>
          <p:cNvPr id="597" name="Google Shape;597;p39"/>
          <p:cNvSpPr/>
          <p:nvPr/>
        </p:nvSpPr>
        <p:spPr>
          <a:xfrm>
            <a:off x="6305250" y="1574550"/>
            <a:ext cx="2223600" cy="7431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062B49"/>
                </a:solidFill>
              </a:rPr>
              <a:t>Inspect unencrypted ClientHello </a:t>
            </a:r>
            <a:endParaRPr sz="1200"/>
          </a:p>
        </p:txBody>
      </p:sp>
      <p:sp>
        <p:nvSpPr>
          <p:cNvPr id="598" name="Google Shape;598;p39"/>
          <p:cNvSpPr/>
          <p:nvPr/>
        </p:nvSpPr>
        <p:spPr>
          <a:xfrm>
            <a:off x="6305250" y="2171124"/>
            <a:ext cx="2114700" cy="2304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F4AD00"/>
                </a:solidFill>
                <a:latin typeface="Arial"/>
                <a:ea typeface="Arial"/>
                <a:cs typeface="Arial"/>
                <a:sym typeface="Arial"/>
              </a:rPr>
              <a:t>EXTRACTED FIELDS</a:t>
            </a:r>
            <a:endParaRPr sz="1200">
              <a:solidFill>
                <a:srgbClr val="F4AD00"/>
              </a:solidFill>
            </a:endParaRPr>
          </a:p>
        </p:txBody>
      </p:sp>
      <p:sp>
        <p:nvSpPr>
          <p:cNvPr id="599" name="Google Shape;599;p39"/>
          <p:cNvSpPr/>
          <p:nvPr/>
        </p:nvSpPr>
        <p:spPr>
          <a:xfrm>
            <a:off x="6305313" y="2382874"/>
            <a:ext cx="2114700" cy="2715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200">
                <a:solidFill>
                  <a:srgbClr val="062B49"/>
                </a:solidFill>
                <a:latin typeface="Arial"/>
                <a:ea typeface="Arial"/>
                <a:cs typeface="Arial"/>
                <a:sym typeface="Arial"/>
              </a:rPr>
              <a:t>tls_sni</a:t>
            </a:r>
            <a:r>
              <a:rPr lang="it" sz="1200"/>
              <a:t> </a:t>
            </a:r>
            <a:r>
              <a:rPr b="1" lang="it" sz="1200">
                <a:solidFill>
                  <a:srgbClr val="062B49"/>
                </a:solidFill>
                <a:latin typeface="Arial"/>
                <a:ea typeface="Arial"/>
                <a:cs typeface="Arial"/>
                <a:sym typeface="Arial"/>
              </a:rPr>
              <a:t>when the extension is available</a:t>
            </a:r>
            <a:endParaRPr sz="1200"/>
          </a:p>
        </p:txBody>
      </p:sp>
      <p:sp>
        <p:nvSpPr>
          <p:cNvPr id="600" name="Google Shape;600;p39"/>
          <p:cNvSpPr/>
          <p:nvPr/>
        </p:nvSpPr>
        <p:spPr>
          <a:xfrm>
            <a:off x="451110" y="2978950"/>
            <a:ext cx="32715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1300">
                <a:solidFill>
                  <a:srgbClr val="2FB477"/>
                </a:solidFill>
                <a:latin typeface="Arial"/>
                <a:ea typeface="Arial"/>
                <a:cs typeface="Arial"/>
                <a:sym typeface="Arial"/>
              </a:rPr>
              <a:t>DNS CONTEXT FOR LATER EVENTS</a:t>
            </a:r>
            <a:endParaRPr sz="1600"/>
          </a:p>
        </p:txBody>
      </p:sp>
      <p:sp>
        <p:nvSpPr>
          <p:cNvPr id="601" name="Google Shape;601;p39"/>
          <p:cNvSpPr/>
          <p:nvPr/>
        </p:nvSpPr>
        <p:spPr>
          <a:xfrm>
            <a:off x="2235994" y="3521869"/>
            <a:ext cx="300038" cy="178594"/>
          </a:xfrm>
          <a:prstGeom prst="rightArrow">
            <a:avLst>
              <a:gd fmla="val 50000" name="adj1"/>
              <a:gd fmla="val 50000" name="adj2"/>
            </a:avLst>
          </a:prstGeom>
          <a:solidFill>
            <a:srgbClr val="B9C9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2" name="Google Shape;602;p39"/>
          <p:cNvSpPr/>
          <p:nvPr/>
        </p:nvSpPr>
        <p:spPr>
          <a:xfrm>
            <a:off x="4221956" y="3521869"/>
            <a:ext cx="300038" cy="178594"/>
          </a:xfrm>
          <a:prstGeom prst="rightArrow">
            <a:avLst>
              <a:gd fmla="val 50000" name="adj1"/>
              <a:gd fmla="val 50000" name="adj2"/>
            </a:avLst>
          </a:prstGeom>
          <a:solidFill>
            <a:srgbClr val="B9C9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3" name="Google Shape;603;p39"/>
          <p:cNvSpPr/>
          <p:nvPr/>
        </p:nvSpPr>
        <p:spPr>
          <a:xfrm>
            <a:off x="6207919" y="3521869"/>
            <a:ext cx="300038" cy="178594"/>
          </a:xfrm>
          <a:prstGeom prst="rightArrow">
            <a:avLst>
              <a:gd fmla="val 50000" name="adj1"/>
              <a:gd fmla="val 50000" name="adj2"/>
            </a:avLst>
          </a:prstGeom>
          <a:solidFill>
            <a:srgbClr val="B9C9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4" name="Google Shape;604;p39"/>
          <p:cNvSpPr/>
          <p:nvPr/>
        </p:nvSpPr>
        <p:spPr>
          <a:xfrm>
            <a:off x="514350" y="3243263"/>
            <a:ext cx="1721644" cy="742950"/>
          </a:xfrm>
          <a:prstGeom prst="rect">
            <a:avLst/>
          </a:prstGeom>
          <a:solidFill>
            <a:srgbClr val="EEF4FB"/>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5" name="Google Shape;605;p39"/>
          <p:cNvSpPr/>
          <p:nvPr/>
        </p:nvSpPr>
        <p:spPr>
          <a:xfrm>
            <a:off x="514350" y="3243263"/>
            <a:ext cx="50006" cy="742950"/>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6" name="Google Shape;606;p39"/>
          <p:cNvSpPr/>
          <p:nvPr/>
        </p:nvSpPr>
        <p:spPr>
          <a:xfrm>
            <a:off x="642938" y="3340581"/>
            <a:ext cx="1464600" cy="192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300">
                <a:solidFill>
                  <a:srgbClr val="062B49"/>
                </a:solidFill>
                <a:latin typeface="Arial"/>
                <a:ea typeface="Arial"/>
                <a:cs typeface="Arial"/>
                <a:sym typeface="Arial"/>
              </a:rPr>
              <a:t>DNS response</a:t>
            </a:r>
            <a:endParaRPr/>
          </a:p>
        </p:txBody>
      </p:sp>
      <p:sp>
        <p:nvSpPr>
          <p:cNvPr id="607" name="Google Shape;607;p39"/>
          <p:cNvSpPr/>
          <p:nvPr/>
        </p:nvSpPr>
        <p:spPr>
          <a:xfrm>
            <a:off x="560725" y="3650450"/>
            <a:ext cx="1675200" cy="2430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100">
                <a:solidFill>
                  <a:srgbClr val="062B49"/>
                </a:solidFill>
                <a:latin typeface="Arial"/>
                <a:ea typeface="Arial"/>
                <a:cs typeface="Arial"/>
                <a:sym typeface="Arial"/>
              </a:rPr>
              <a:t>dns_query · dns_answer</a:t>
            </a:r>
            <a:endParaRPr>
              <a:solidFill>
                <a:srgbClr val="062B49"/>
              </a:solidFill>
            </a:endParaRPr>
          </a:p>
        </p:txBody>
      </p:sp>
      <p:sp>
        <p:nvSpPr>
          <p:cNvPr id="608" name="Google Shape;608;p39"/>
          <p:cNvSpPr/>
          <p:nvPr/>
        </p:nvSpPr>
        <p:spPr>
          <a:xfrm>
            <a:off x="2536031" y="3243263"/>
            <a:ext cx="1685925" cy="742950"/>
          </a:xfrm>
          <a:prstGeom prst="rect">
            <a:avLst/>
          </a:prstGeom>
          <a:solidFill>
            <a:srgbClr val="FFF7E7"/>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9" name="Google Shape;609;p39"/>
          <p:cNvSpPr/>
          <p:nvPr/>
        </p:nvSpPr>
        <p:spPr>
          <a:xfrm>
            <a:off x="2536031" y="3243263"/>
            <a:ext cx="50006" cy="742950"/>
          </a:xfrm>
          <a:prstGeom prst="rect">
            <a:avLst/>
          </a:prstGeom>
          <a:solidFill>
            <a:srgbClr val="F0A60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0" name="Google Shape;610;p39"/>
          <p:cNvSpPr/>
          <p:nvPr/>
        </p:nvSpPr>
        <p:spPr>
          <a:xfrm>
            <a:off x="2586025" y="3340575"/>
            <a:ext cx="1635900" cy="192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300">
                <a:solidFill>
                  <a:srgbClr val="062B49"/>
                </a:solidFill>
                <a:latin typeface="Arial"/>
                <a:ea typeface="Arial"/>
                <a:cs typeface="Arial"/>
                <a:sym typeface="Arial"/>
              </a:rPr>
              <a:t>Bounded cache</a:t>
            </a:r>
            <a:endParaRPr/>
          </a:p>
        </p:txBody>
      </p:sp>
      <p:sp>
        <p:nvSpPr>
          <p:cNvPr id="611" name="Google Shape;611;p39"/>
          <p:cNvSpPr/>
          <p:nvPr/>
        </p:nvSpPr>
        <p:spPr>
          <a:xfrm>
            <a:off x="2586050" y="3650450"/>
            <a:ext cx="1635900" cy="2430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lang="it" sz="1100">
                <a:solidFill>
                  <a:srgbClr val="062B49"/>
                </a:solidFill>
              </a:rPr>
              <a:t>Up to 8 </a:t>
            </a:r>
            <a:r>
              <a:rPr lang="it" sz="1100">
                <a:solidFill>
                  <a:srgbClr val="062B49"/>
                </a:solidFill>
              </a:rPr>
              <a:t>entries per IP</a:t>
            </a:r>
            <a:endParaRPr sz="1100">
              <a:solidFill>
                <a:srgbClr val="062B49"/>
              </a:solidFill>
            </a:endParaRPr>
          </a:p>
        </p:txBody>
      </p:sp>
      <p:sp>
        <p:nvSpPr>
          <p:cNvPr id="612" name="Google Shape;612;p39"/>
          <p:cNvSpPr/>
          <p:nvPr/>
        </p:nvSpPr>
        <p:spPr>
          <a:xfrm>
            <a:off x="4521994" y="3243263"/>
            <a:ext cx="1685925" cy="742950"/>
          </a:xfrm>
          <a:prstGeom prst="rect">
            <a:avLst/>
          </a:prstGeom>
          <a:solidFill>
            <a:srgbClr val="EEF4FB"/>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3" name="Google Shape;613;p39"/>
          <p:cNvSpPr/>
          <p:nvPr/>
        </p:nvSpPr>
        <p:spPr>
          <a:xfrm>
            <a:off x="4521994" y="3243263"/>
            <a:ext cx="50006" cy="742950"/>
          </a:xfrm>
          <a:prstGeom prst="rect">
            <a:avLst/>
          </a:prstGeom>
          <a:solidFill>
            <a:srgbClr val="2463C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4" name="Google Shape;614;p39"/>
          <p:cNvSpPr/>
          <p:nvPr/>
        </p:nvSpPr>
        <p:spPr>
          <a:xfrm>
            <a:off x="4650581" y="3340581"/>
            <a:ext cx="1428900" cy="192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300">
                <a:solidFill>
                  <a:srgbClr val="062B49"/>
                </a:solidFill>
                <a:latin typeface="Arial"/>
                <a:ea typeface="Arial"/>
                <a:cs typeface="Arial"/>
                <a:sym typeface="Arial"/>
              </a:rPr>
              <a:t>Later packet</a:t>
            </a:r>
            <a:endParaRPr/>
          </a:p>
        </p:txBody>
      </p:sp>
      <p:sp>
        <p:nvSpPr>
          <p:cNvPr id="615" name="Google Shape;615;p39"/>
          <p:cNvSpPr/>
          <p:nvPr/>
        </p:nvSpPr>
        <p:spPr>
          <a:xfrm>
            <a:off x="4650581" y="3650456"/>
            <a:ext cx="1428750" cy="242888"/>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100">
                <a:solidFill>
                  <a:srgbClr val="062B49"/>
                </a:solidFill>
                <a:latin typeface="Arial"/>
                <a:ea typeface="Arial"/>
                <a:cs typeface="Arial"/>
                <a:sym typeface="Arial"/>
              </a:rPr>
              <a:t>destination IP</a:t>
            </a:r>
            <a:endParaRPr sz="1100">
              <a:solidFill>
                <a:srgbClr val="062B49"/>
              </a:solidFill>
            </a:endParaRPr>
          </a:p>
        </p:txBody>
      </p:sp>
      <p:sp>
        <p:nvSpPr>
          <p:cNvPr id="616" name="Google Shape;616;p39"/>
          <p:cNvSpPr/>
          <p:nvPr/>
        </p:nvSpPr>
        <p:spPr>
          <a:xfrm>
            <a:off x="6507956" y="3243263"/>
            <a:ext cx="2121694" cy="742950"/>
          </a:xfrm>
          <a:prstGeom prst="rect">
            <a:avLst/>
          </a:prstGeom>
          <a:solidFill>
            <a:srgbClr val="EEF8F3"/>
          </a:solidFill>
          <a:ln cap="flat" cmpd="sng" w="9525">
            <a:solidFill>
              <a:srgbClr val="B9C9D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7" name="Google Shape;617;p39"/>
          <p:cNvSpPr/>
          <p:nvPr/>
        </p:nvSpPr>
        <p:spPr>
          <a:xfrm>
            <a:off x="6507956" y="3243263"/>
            <a:ext cx="50006" cy="742950"/>
          </a:xfrm>
          <a:prstGeom prst="rect">
            <a:avLst/>
          </a:prstGeom>
          <a:solidFill>
            <a:srgbClr val="2FB4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8" name="Google Shape;618;p39"/>
          <p:cNvSpPr/>
          <p:nvPr/>
        </p:nvSpPr>
        <p:spPr>
          <a:xfrm>
            <a:off x="6636544" y="3340581"/>
            <a:ext cx="1864500" cy="1929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300">
                <a:solidFill>
                  <a:srgbClr val="062B49"/>
                </a:solidFill>
                <a:latin typeface="Arial"/>
                <a:ea typeface="Arial"/>
                <a:cs typeface="Arial"/>
                <a:sym typeface="Arial"/>
              </a:rPr>
              <a:t>Enriched event</a:t>
            </a:r>
            <a:endParaRPr/>
          </a:p>
        </p:txBody>
      </p:sp>
      <p:sp>
        <p:nvSpPr>
          <p:cNvPr id="619" name="Google Shape;619;p39"/>
          <p:cNvSpPr/>
          <p:nvPr/>
        </p:nvSpPr>
        <p:spPr>
          <a:xfrm>
            <a:off x="6636544" y="3650456"/>
            <a:ext cx="1864519" cy="242888"/>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0" lang="it" sz="1100">
                <a:solidFill>
                  <a:srgbClr val="062B49"/>
                </a:solidFill>
                <a:latin typeface="Arial"/>
                <a:ea typeface="Arial"/>
                <a:cs typeface="Arial"/>
                <a:sym typeface="Arial"/>
              </a:rPr>
              <a:t>dst_hostname</a:t>
            </a:r>
            <a:endParaRPr sz="1100">
              <a:solidFill>
                <a:srgbClr val="062B49"/>
              </a:solidFill>
            </a:endParaRPr>
          </a:p>
        </p:txBody>
      </p:sp>
      <p:sp>
        <p:nvSpPr>
          <p:cNvPr id="620" name="Google Shape;620;p39"/>
          <p:cNvSpPr/>
          <p:nvPr/>
        </p:nvSpPr>
        <p:spPr>
          <a:xfrm>
            <a:off x="514350" y="4243403"/>
            <a:ext cx="8115300" cy="577500"/>
          </a:xfrm>
          <a:prstGeom prst="rect">
            <a:avLst/>
          </a:prstGeom>
          <a:solidFill>
            <a:srgbClr val="EEF4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1" name="Google Shape;621;p39"/>
          <p:cNvSpPr/>
          <p:nvPr/>
        </p:nvSpPr>
        <p:spPr>
          <a:xfrm>
            <a:off x="560724" y="4293350"/>
            <a:ext cx="2114400" cy="357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a:solidFill>
                  <a:srgbClr val="2463C7"/>
                </a:solidFill>
                <a:latin typeface="Arial"/>
                <a:ea typeface="Arial"/>
                <a:cs typeface="Arial"/>
                <a:sym typeface="Arial"/>
              </a:rPr>
              <a:t>Context, not attribution</a:t>
            </a:r>
            <a:endParaRPr/>
          </a:p>
        </p:txBody>
      </p:sp>
      <p:sp>
        <p:nvSpPr>
          <p:cNvPr id="622" name="Google Shape;622;p39"/>
          <p:cNvSpPr/>
          <p:nvPr/>
        </p:nvSpPr>
        <p:spPr>
          <a:xfrm>
            <a:off x="2733225" y="4265100"/>
            <a:ext cx="5896500" cy="429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it" sz="1300">
                <a:solidFill>
                  <a:srgbClr val="062B49"/>
                </a:solidFill>
              </a:rPr>
              <a:t>The cached hostname provides context for the destination IP, but does not prove that the same process performed the DNS lookup. </a:t>
            </a:r>
            <a:endParaRPr sz="1500">
              <a:solidFill>
                <a:srgbClr val="062B49"/>
              </a:solidFill>
            </a:endParaRPr>
          </a:p>
        </p:txBody>
      </p:sp>
      <p:sp>
        <p:nvSpPr>
          <p:cNvPr id="623" name="Google Shape;623;p39"/>
          <p:cNvSpPr/>
          <p:nvPr/>
        </p:nvSpPr>
        <p:spPr>
          <a:xfrm>
            <a:off x="8001000" y="4872038"/>
            <a:ext cx="628650" cy="12858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r>
              <a:rPr b="0" lang="it" sz="700">
                <a:solidFill>
                  <a:srgbClr val="7898B1"/>
                </a:solidFill>
                <a:latin typeface="Arial"/>
                <a:ea typeface="Arial"/>
                <a:cs typeface="Arial"/>
                <a:sym typeface="Arial"/>
              </a:rPr>
              <a:t>28</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8" name="Shape 628"/>
        <p:cNvGrpSpPr/>
        <p:nvPr/>
      </p:nvGrpSpPr>
      <p:grpSpPr>
        <a:xfrm>
          <a:off x="0" y="0"/>
          <a:ext cx="0" cy="0"/>
          <a:chOff x="0" y="0"/>
          <a:chExt cx="0" cy="0"/>
        </a:xfrm>
      </p:grpSpPr>
      <p:sp>
        <p:nvSpPr>
          <p:cNvPr id="629" name="Google Shape;629;p40"/>
          <p:cNvSpPr/>
          <p:nvPr/>
        </p:nvSpPr>
        <p:spPr>
          <a:xfrm>
            <a:off x="0" y="0"/>
            <a:ext cx="9144000" cy="700200"/>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0" name="Google Shape;630;p40"/>
          <p:cNvSpPr/>
          <p:nvPr/>
        </p:nvSpPr>
        <p:spPr>
          <a:xfrm>
            <a:off x="514350" y="121444"/>
            <a:ext cx="8001000" cy="44291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1" lang="it" sz="2200">
                <a:solidFill>
                  <a:srgbClr val="FFFFFF"/>
                </a:solidFill>
                <a:latin typeface="Arial"/>
                <a:ea typeface="Arial"/>
                <a:cs typeface="Arial"/>
                <a:sym typeface="Arial"/>
              </a:rPr>
              <a:t>Functional Evaluation</a:t>
            </a:r>
            <a:endParaRPr sz="1100"/>
          </a:p>
        </p:txBody>
      </p:sp>
      <p:sp>
        <p:nvSpPr>
          <p:cNvPr id="631" name="Google Shape;631;p40"/>
          <p:cNvSpPr/>
          <p:nvPr/>
        </p:nvSpPr>
        <p:spPr>
          <a:xfrm>
            <a:off x="208450" y="777263"/>
            <a:ext cx="2399400" cy="1902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a:solidFill>
                  <a:srgbClr val="1E5FD0"/>
                </a:solidFill>
                <a:latin typeface="Arial"/>
                <a:ea typeface="Arial"/>
                <a:cs typeface="Arial"/>
                <a:sym typeface="Arial"/>
              </a:rPr>
              <a:t>EXPERIMENTAL SETUP</a:t>
            </a:r>
            <a:endParaRPr/>
          </a:p>
        </p:txBody>
      </p:sp>
      <p:sp>
        <p:nvSpPr>
          <p:cNvPr id="632" name="Google Shape;632;p40"/>
          <p:cNvSpPr/>
          <p:nvPr/>
        </p:nvSpPr>
        <p:spPr>
          <a:xfrm>
            <a:off x="227800" y="1095581"/>
            <a:ext cx="3129300" cy="3360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648">
                <a:solidFill>
                  <a:srgbClr val="0A2E4F"/>
                </a:solidFill>
                <a:latin typeface="Arial"/>
                <a:ea typeface="Arial"/>
                <a:cs typeface="Arial"/>
                <a:sym typeface="Arial"/>
              </a:rPr>
              <a:t>Single-node Minikube cluster</a:t>
            </a:r>
            <a:endParaRPr sz="1544"/>
          </a:p>
        </p:txBody>
      </p:sp>
      <p:cxnSp>
        <p:nvCxnSpPr>
          <p:cNvPr id="633" name="Google Shape;633;p40"/>
          <p:cNvCxnSpPr/>
          <p:nvPr/>
        </p:nvCxnSpPr>
        <p:spPr>
          <a:xfrm>
            <a:off x="5687813" y="857940"/>
            <a:ext cx="9600" cy="573600"/>
          </a:xfrm>
          <a:prstGeom prst="straightConnector1">
            <a:avLst/>
          </a:prstGeom>
          <a:noFill/>
          <a:ln cap="flat" cmpd="sng" w="19825">
            <a:solidFill>
              <a:srgbClr val="CCD9E3"/>
            </a:solidFill>
            <a:prstDash val="solid"/>
            <a:round/>
            <a:headEnd len="sm" w="sm" type="none"/>
            <a:tailEnd len="sm" w="sm" type="none"/>
          </a:ln>
        </p:spPr>
      </p:cxnSp>
      <p:sp>
        <p:nvSpPr>
          <p:cNvPr id="634" name="Google Shape;634;p40"/>
          <p:cNvSpPr/>
          <p:nvPr/>
        </p:nvSpPr>
        <p:spPr>
          <a:xfrm>
            <a:off x="5916656" y="768540"/>
            <a:ext cx="2670300" cy="1902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a:solidFill>
                  <a:srgbClr val="1E5FD0"/>
                </a:solidFill>
                <a:latin typeface="Arial"/>
                <a:ea typeface="Arial"/>
                <a:cs typeface="Arial"/>
                <a:sym typeface="Arial"/>
              </a:rPr>
              <a:t>CROSS-POD VISIBILITY</a:t>
            </a:r>
            <a:endParaRPr>
              <a:solidFill>
                <a:srgbClr val="1E5FD0"/>
              </a:solidFill>
            </a:endParaRPr>
          </a:p>
        </p:txBody>
      </p:sp>
      <p:sp>
        <p:nvSpPr>
          <p:cNvPr id="635" name="Google Shape;635;p40"/>
          <p:cNvSpPr/>
          <p:nvPr/>
        </p:nvSpPr>
        <p:spPr>
          <a:xfrm>
            <a:off x="5916650" y="1019575"/>
            <a:ext cx="3064800" cy="525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lang="it" sz="1444">
                <a:solidFill>
                  <a:srgbClr val="0A2E4F"/>
                </a:solidFill>
              </a:rPr>
              <a:t>Events retained their originating workload and process context.</a:t>
            </a:r>
            <a:endParaRPr sz="1444"/>
          </a:p>
        </p:txBody>
      </p:sp>
      <p:cxnSp>
        <p:nvCxnSpPr>
          <p:cNvPr id="636" name="Google Shape;636;p40"/>
          <p:cNvCxnSpPr/>
          <p:nvPr/>
        </p:nvCxnSpPr>
        <p:spPr>
          <a:xfrm>
            <a:off x="227800" y="1611011"/>
            <a:ext cx="8792400" cy="0"/>
          </a:xfrm>
          <a:prstGeom prst="straightConnector1">
            <a:avLst/>
          </a:prstGeom>
          <a:noFill/>
          <a:ln cap="flat" cmpd="sng" w="9900">
            <a:solidFill>
              <a:srgbClr val="CCD9E3"/>
            </a:solidFill>
            <a:prstDash val="solid"/>
            <a:round/>
            <a:headEnd len="sm" w="sm" type="none"/>
            <a:tailEnd len="sm" w="sm" type="none"/>
          </a:ln>
        </p:spPr>
      </p:cxnSp>
      <p:sp>
        <p:nvSpPr>
          <p:cNvPr id="637" name="Google Shape;637;p40"/>
          <p:cNvSpPr/>
          <p:nvPr/>
        </p:nvSpPr>
        <p:spPr>
          <a:xfrm>
            <a:off x="189100" y="1711449"/>
            <a:ext cx="2322000" cy="1977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a:solidFill>
                  <a:srgbClr val="F45F57"/>
                </a:solidFill>
                <a:latin typeface="Arial"/>
                <a:ea typeface="Arial"/>
                <a:cs typeface="Arial"/>
                <a:sym typeface="Arial"/>
              </a:rPr>
              <a:t>ATTACK SCENARIO</a:t>
            </a:r>
            <a:endParaRPr/>
          </a:p>
        </p:txBody>
      </p:sp>
      <p:sp>
        <p:nvSpPr>
          <p:cNvPr id="638" name="Google Shape;638;p40"/>
          <p:cNvSpPr/>
          <p:nvPr/>
        </p:nvSpPr>
        <p:spPr>
          <a:xfrm>
            <a:off x="189100" y="2040131"/>
            <a:ext cx="371700" cy="2130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00">
                <a:solidFill>
                  <a:srgbClr val="F45F57"/>
                </a:solidFill>
                <a:latin typeface="Arial"/>
                <a:ea typeface="Arial"/>
                <a:cs typeface="Arial"/>
                <a:sym typeface="Arial"/>
              </a:rPr>
              <a:t>01</a:t>
            </a:r>
            <a:endParaRPr sz="1500"/>
          </a:p>
        </p:txBody>
      </p:sp>
      <p:sp>
        <p:nvSpPr>
          <p:cNvPr id="639" name="Google Shape;639;p40"/>
          <p:cNvSpPr/>
          <p:nvPr/>
        </p:nvSpPr>
        <p:spPr>
          <a:xfrm>
            <a:off x="629517" y="2032524"/>
            <a:ext cx="1896300" cy="228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44">
                <a:solidFill>
                  <a:srgbClr val="0A2E4F"/>
                </a:solidFill>
                <a:latin typeface="Arial"/>
                <a:ea typeface="Arial"/>
                <a:cs typeface="Arial"/>
                <a:sym typeface="Arial"/>
              </a:rPr>
              <a:t>SSRF</a:t>
            </a:r>
            <a:endParaRPr sz="1544"/>
          </a:p>
        </p:txBody>
      </p:sp>
      <p:sp>
        <p:nvSpPr>
          <p:cNvPr id="640" name="Google Shape;640;p40"/>
          <p:cNvSpPr/>
          <p:nvPr/>
        </p:nvSpPr>
        <p:spPr>
          <a:xfrm>
            <a:off x="2634538" y="2084150"/>
            <a:ext cx="2941200" cy="228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lang="it" sz="1436">
                <a:solidFill>
                  <a:srgbClr val="0A2E4F"/>
                </a:solidFill>
              </a:rPr>
              <a:t>HTTP request to port 9000</a:t>
            </a:r>
            <a:endParaRPr sz="1644">
              <a:solidFill>
                <a:srgbClr val="0A2E4F"/>
              </a:solidFill>
            </a:endParaRPr>
          </a:p>
        </p:txBody>
      </p:sp>
      <p:cxnSp>
        <p:nvCxnSpPr>
          <p:cNvPr id="641" name="Google Shape;641;p40"/>
          <p:cNvCxnSpPr/>
          <p:nvPr/>
        </p:nvCxnSpPr>
        <p:spPr>
          <a:xfrm>
            <a:off x="653496" y="2329204"/>
            <a:ext cx="4721400" cy="0"/>
          </a:xfrm>
          <a:prstGeom prst="straightConnector1">
            <a:avLst/>
          </a:prstGeom>
          <a:noFill/>
          <a:ln cap="flat" cmpd="sng" w="9900">
            <a:solidFill>
              <a:srgbClr val="CCD9E3"/>
            </a:solidFill>
            <a:prstDash val="solid"/>
            <a:round/>
            <a:headEnd len="sm" w="sm" type="none"/>
            <a:tailEnd len="sm" w="sm" type="none"/>
          </a:ln>
        </p:spPr>
      </p:cxnSp>
      <p:sp>
        <p:nvSpPr>
          <p:cNvPr id="642" name="Google Shape;642;p40"/>
          <p:cNvSpPr/>
          <p:nvPr/>
        </p:nvSpPr>
        <p:spPr>
          <a:xfrm>
            <a:off x="189100" y="2496562"/>
            <a:ext cx="371700" cy="2130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00">
                <a:solidFill>
                  <a:srgbClr val="F45F57"/>
                </a:solidFill>
                <a:latin typeface="Arial"/>
                <a:ea typeface="Arial"/>
                <a:cs typeface="Arial"/>
                <a:sym typeface="Arial"/>
              </a:rPr>
              <a:t>02</a:t>
            </a:r>
            <a:endParaRPr sz="1500"/>
          </a:p>
        </p:txBody>
      </p:sp>
      <p:sp>
        <p:nvSpPr>
          <p:cNvPr id="643" name="Google Shape;643;p40"/>
          <p:cNvSpPr/>
          <p:nvPr/>
        </p:nvSpPr>
        <p:spPr>
          <a:xfrm>
            <a:off x="629521" y="2488950"/>
            <a:ext cx="2010600" cy="228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44">
                <a:solidFill>
                  <a:srgbClr val="0A2E4F"/>
                </a:solidFill>
              </a:rPr>
              <a:t>Command Injection</a:t>
            </a:r>
            <a:endParaRPr sz="1544"/>
          </a:p>
        </p:txBody>
      </p:sp>
      <p:cxnSp>
        <p:nvCxnSpPr>
          <p:cNvPr id="644" name="Google Shape;644;p40"/>
          <p:cNvCxnSpPr/>
          <p:nvPr/>
        </p:nvCxnSpPr>
        <p:spPr>
          <a:xfrm>
            <a:off x="653496" y="2785635"/>
            <a:ext cx="4721400" cy="0"/>
          </a:xfrm>
          <a:prstGeom prst="straightConnector1">
            <a:avLst/>
          </a:prstGeom>
          <a:noFill/>
          <a:ln cap="flat" cmpd="sng" w="9900">
            <a:solidFill>
              <a:srgbClr val="CCD9E3"/>
            </a:solidFill>
            <a:prstDash val="solid"/>
            <a:round/>
            <a:headEnd len="sm" w="sm" type="none"/>
            <a:tailEnd len="sm" w="sm" type="none"/>
          </a:ln>
        </p:spPr>
      </p:cxnSp>
      <p:sp>
        <p:nvSpPr>
          <p:cNvPr id="645" name="Google Shape;645;p40"/>
          <p:cNvSpPr/>
          <p:nvPr/>
        </p:nvSpPr>
        <p:spPr>
          <a:xfrm>
            <a:off x="189100" y="2952993"/>
            <a:ext cx="371700" cy="2130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00">
                <a:solidFill>
                  <a:srgbClr val="F45F57"/>
                </a:solidFill>
                <a:latin typeface="Arial"/>
                <a:ea typeface="Arial"/>
                <a:cs typeface="Arial"/>
                <a:sym typeface="Arial"/>
              </a:rPr>
              <a:t>03</a:t>
            </a:r>
            <a:endParaRPr sz="1500"/>
          </a:p>
        </p:txBody>
      </p:sp>
      <p:sp>
        <p:nvSpPr>
          <p:cNvPr id="646" name="Google Shape;646;p40"/>
          <p:cNvSpPr/>
          <p:nvPr/>
        </p:nvSpPr>
        <p:spPr>
          <a:xfrm>
            <a:off x="629517" y="2945386"/>
            <a:ext cx="1896300" cy="228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44">
                <a:solidFill>
                  <a:srgbClr val="0A2E4F"/>
                </a:solidFill>
                <a:latin typeface="Arial"/>
                <a:ea typeface="Arial"/>
                <a:cs typeface="Arial"/>
                <a:sym typeface="Arial"/>
              </a:rPr>
              <a:t>Data exfiltration</a:t>
            </a:r>
            <a:endParaRPr sz="1544"/>
          </a:p>
        </p:txBody>
      </p:sp>
      <p:cxnSp>
        <p:nvCxnSpPr>
          <p:cNvPr id="647" name="Google Shape;647;p40"/>
          <p:cNvCxnSpPr/>
          <p:nvPr/>
        </p:nvCxnSpPr>
        <p:spPr>
          <a:xfrm>
            <a:off x="653496" y="3255416"/>
            <a:ext cx="4721400" cy="0"/>
          </a:xfrm>
          <a:prstGeom prst="straightConnector1">
            <a:avLst/>
          </a:prstGeom>
          <a:noFill/>
          <a:ln cap="flat" cmpd="sng" w="9900">
            <a:solidFill>
              <a:srgbClr val="CCD9E3"/>
            </a:solidFill>
            <a:prstDash val="solid"/>
            <a:round/>
            <a:headEnd len="sm" w="sm" type="none"/>
            <a:tailEnd len="sm" w="sm" type="none"/>
          </a:ln>
        </p:spPr>
      </p:cxnSp>
      <p:sp>
        <p:nvSpPr>
          <p:cNvPr id="648" name="Google Shape;648;p40"/>
          <p:cNvSpPr/>
          <p:nvPr/>
        </p:nvSpPr>
        <p:spPr>
          <a:xfrm>
            <a:off x="208450" y="3378775"/>
            <a:ext cx="3129300" cy="1902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a:solidFill>
                  <a:srgbClr val="1E5FD0"/>
                </a:solidFill>
                <a:latin typeface="Arial"/>
                <a:ea typeface="Arial"/>
                <a:cs typeface="Arial"/>
                <a:sym typeface="Arial"/>
              </a:rPr>
              <a:t>BEHAVIOR-BASED DETECTORS</a:t>
            </a:r>
            <a:endParaRPr/>
          </a:p>
        </p:txBody>
      </p:sp>
      <p:sp>
        <p:nvSpPr>
          <p:cNvPr id="649" name="Google Shape;649;p40"/>
          <p:cNvSpPr/>
          <p:nvPr/>
        </p:nvSpPr>
        <p:spPr>
          <a:xfrm>
            <a:off x="189100" y="3843225"/>
            <a:ext cx="2670300" cy="228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00">
                <a:solidFill>
                  <a:srgbClr val="F1C232"/>
                </a:solidFill>
              </a:rPr>
              <a:t>D1</a:t>
            </a:r>
            <a:r>
              <a:rPr b="1" lang="it" sz="1500">
                <a:solidFill>
                  <a:srgbClr val="0A2E4F"/>
                </a:solidFill>
              </a:rPr>
              <a:t>  </a:t>
            </a:r>
            <a:r>
              <a:rPr b="1" lang="it" sz="1500">
                <a:solidFill>
                  <a:srgbClr val="0A2E4F"/>
                </a:solidFill>
                <a:latin typeface="Arial"/>
                <a:ea typeface="Arial"/>
                <a:cs typeface="Arial"/>
                <a:sym typeface="Arial"/>
              </a:rPr>
              <a:t>Unexpected egress port</a:t>
            </a:r>
            <a:endParaRPr sz="1500"/>
          </a:p>
        </p:txBody>
      </p:sp>
      <p:sp>
        <p:nvSpPr>
          <p:cNvPr id="650" name="Google Shape;650;p40"/>
          <p:cNvSpPr/>
          <p:nvPr/>
        </p:nvSpPr>
        <p:spPr>
          <a:xfrm>
            <a:off x="2895100" y="3837550"/>
            <a:ext cx="2786400" cy="2586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a:solidFill>
                  <a:srgbClr val="0A2E4F"/>
                </a:solidFill>
              </a:rPr>
              <a:t>3 alerts</a:t>
            </a:r>
            <a:r>
              <a:rPr b="1" lang="it">
                <a:solidFill>
                  <a:srgbClr val="0A2E4F"/>
                </a:solidFill>
              </a:rPr>
              <a:t>: </a:t>
            </a:r>
            <a:r>
              <a:rPr b="1" lang="it">
                <a:solidFill>
                  <a:srgbClr val="0A2E4F"/>
                </a:solidFill>
              </a:rPr>
              <a:t>9000, 4444</a:t>
            </a:r>
            <a:r>
              <a:rPr b="1" lang="it">
                <a:solidFill>
                  <a:srgbClr val="0A2E4F"/>
                </a:solidFill>
              </a:rPr>
              <a:t>, </a:t>
            </a:r>
            <a:r>
              <a:rPr b="1" lang="it">
                <a:solidFill>
                  <a:srgbClr val="0A2E4F"/>
                </a:solidFill>
              </a:rPr>
              <a:t>9001</a:t>
            </a:r>
            <a:endParaRPr b="1">
              <a:solidFill>
                <a:srgbClr val="0A2E4F"/>
              </a:solidFill>
            </a:endParaRPr>
          </a:p>
        </p:txBody>
      </p:sp>
      <p:sp>
        <p:nvSpPr>
          <p:cNvPr id="651" name="Google Shape;651;p40"/>
          <p:cNvSpPr/>
          <p:nvPr/>
        </p:nvSpPr>
        <p:spPr>
          <a:xfrm>
            <a:off x="208450" y="4261922"/>
            <a:ext cx="2786400" cy="2586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00">
                <a:solidFill>
                  <a:srgbClr val="F2B632"/>
                </a:solidFill>
                <a:latin typeface="Arial"/>
                <a:ea typeface="Arial"/>
                <a:cs typeface="Arial"/>
                <a:sym typeface="Arial"/>
              </a:rPr>
              <a:t>D2  </a:t>
            </a:r>
            <a:r>
              <a:rPr b="1" lang="it" sz="1500">
                <a:solidFill>
                  <a:srgbClr val="0A2E4F"/>
                </a:solidFill>
              </a:rPr>
              <a:t>Outbound HTTP upload</a:t>
            </a:r>
            <a:endParaRPr sz="1500"/>
          </a:p>
        </p:txBody>
      </p:sp>
      <p:cxnSp>
        <p:nvCxnSpPr>
          <p:cNvPr id="652" name="Google Shape;652;p40"/>
          <p:cNvCxnSpPr/>
          <p:nvPr/>
        </p:nvCxnSpPr>
        <p:spPr>
          <a:xfrm>
            <a:off x="5684457" y="1818331"/>
            <a:ext cx="0" cy="2776800"/>
          </a:xfrm>
          <a:prstGeom prst="straightConnector1">
            <a:avLst/>
          </a:prstGeom>
          <a:noFill/>
          <a:ln cap="flat" cmpd="sng" w="19825">
            <a:solidFill>
              <a:srgbClr val="CCD9E3"/>
            </a:solidFill>
            <a:prstDash val="solid"/>
            <a:round/>
            <a:headEnd len="sm" w="sm" type="none"/>
            <a:tailEnd len="sm" w="sm" type="none"/>
          </a:ln>
        </p:spPr>
      </p:cxnSp>
      <p:sp>
        <p:nvSpPr>
          <p:cNvPr id="653" name="Google Shape;653;p40"/>
          <p:cNvSpPr/>
          <p:nvPr/>
        </p:nvSpPr>
        <p:spPr>
          <a:xfrm>
            <a:off x="6171960" y="1732637"/>
            <a:ext cx="2554200" cy="1977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00">
                <a:solidFill>
                  <a:srgbClr val="1E5FD0"/>
                </a:solidFill>
                <a:latin typeface="Arial"/>
                <a:ea typeface="Arial"/>
                <a:cs typeface="Arial"/>
                <a:sym typeface="Arial"/>
              </a:rPr>
              <a:t>DETECTION RESULTS</a:t>
            </a:r>
            <a:endParaRPr sz="1500"/>
          </a:p>
        </p:txBody>
      </p:sp>
      <p:sp>
        <p:nvSpPr>
          <p:cNvPr id="654" name="Google Shape;654;p40"/>
          <p:cNvSpPr/>
          <p:nvPr/>
        </p:nvSpPr>
        <p:spPr>
          <a:xfrm>
            <a:off x="6288060" y="2217368"/>
            <a:ext cx="2322000" cy="182400"/>
          </a:xfrm>
          <a:prstGeom prst="rect">
            <a:avLst/>
          </a:prstGeom>
          <a:noFill/>
          <a:ln>
            <a:noFill/>
          </a:ln>
        </p:spPr>
        <p:txBody>
          <a:bodyPr anchorCtr="0" anchor="t" bIns="35650" lIns="71325" spcFirstLastPara="1" rIns="71325" wrap="square" tIns="35650">
            <a:noAutofit/>
          </a:bodyPr>
          <a:lstStyle/>
          <a:p>
            <a:pPr indent="0" lvl="0" marL="0" marR="0" rtl="0" algn="ctr">
              <a:spcBef>
                <a:spcPts val="0"/>
              </a:spcBef>
              <a:spcAft>
                <a:spcPts val="0"/>
              </a:spcAft>
              <a:buNone/>
            </a:pPr>
            <a:r>
              <a:rPr b="1" lang="it" sz="1500">
                <a:solidFill>
                  <a:srgbClr val="39B97C"/>
                </a:solidFill>
                <a:latin typeface="Arial"/>
                <a:ea typeface="Arial"/>
                <a:cs typeface="Arial"/>
                <a:sym typeface="Arial"/>
              </a:rPr>
              <a:t>BENIGN TRACE</a:t>
            </a:r>
            <a:endParaRPr sz="1500"/>
          </a:p>
        </p:txBody>
      </p:sp>
      <p:sp>
        <p:nvSpPr>
          <p:cNvPr id="655" name="Google Shape;655;p40"/>
          <p:cNvSpPr/>
          <p:nvPr/>
        </p:nvSpPr>
        <p:spPr>
          <a:xfrm>
            <a:off x="6590103" y="2445988"/>
            <a:ext cx="542100" cy="5706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3536">
                <a:solidFill>
                  <a:srgbClr val="39B97C"/>
                </a:solidFill>
                <a:latin typeface="Arial"/>
                <a:ea typeface="Arial"/>
                <a:cs typeface="Arial"/>
                <a:sym typeface="Arial"/>
              </a:rPr>
              <a:t>0</a:t>
            </a:r>
            <a:endParaRPr sz="1144"/>
          </a:p>
        </p:txBody>
      </p:sp>
      <p:sp>
        <p:nvSpPr>
          <p:cNvPr id="656" name="Google Shape;656;p40"/>
          <p:cNvSpPr/>
          <p:nvPr/>
        </p:nvSpPr>
        <p:spPr>
          <a:xfrm>
            <a:off x="7147575" y="2606399"/>
            <a:ext cx="1238400" cy="2586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00">
                <a:solidFill>
                  <a:srgbClr val="0A2E4F"/>
                </a:solidFill>
                <a:latin typeface="Arial"/>
                <a:ea typeface="Arial"/>
                <a:cs typeface="Arial"/>
                <a:sym typeface="Arial"/>
              </a:rPr>
              <a:t>alerts</a:t>
            </a:r>
            <a:endParaRPr sz="1500"/>
          </a:p>
        </p:txBody>
      </p:sp>
      <p:sp>
        <p:nvSpPr>
          <p:cNvPr id="657" name="Google Shape;657;p40"/>
          <p:cNvSpPr/>
          <p:nvPr/>
        </p:nvSpPr>
        <p:spPr>
          <a:xfrm>
            <a:off x="6288060" y="3451832"/>
            <a:ext cx="2322000" cy="182400"/>
          </a:xfrm>
          <a:prstGeom prst="rect">
            <a:avLst/>
          </a:prstGeom>
          <a:noFill/>
          <a:ln>
            <a:noFill/>
          </a:ln>
        </p:spPr>
        <p:txBody>
          <a:bodyPr anchorCtr="0" anchor="t" bIns="35650" lIns="71325" spcFirstLastPara="1" rIns="71325" wrap="square" tIns="35650">
            <a:noAutofit/>
          </a:bodyPr>
          <a:lstStyle/>
          <a:p>
            <a:pPr indent="0" lvl="0" marL="0" marR="0" rtl="0" algn="ctr">
              <a:spcBef>
                <a:spcPts val="0"/>
              </a:spcBef>
              <a:spcAft>
                <a:spcPts val="0"/>
              </a:spcAft>
              <a:buNone/>
            </a:pPr>
            <a:r>
              <a:rPr b="1" lang="it" sz="1500">
                <a:solidFill>
                  <a:srgbClr val="F45F57"/>
                </a:solidFill>
                <a:latin typeface="Arial"/>
                <a:ea typeface="Arial"/>
                <a:cs typeface="Arial"/>
                <a:sym typeface="Arial"/>
              </a:rPr>
              <a:t>CONTROLLED ATTACK</a:t>
            </a:r>
            <a:endParaRPr sz="1500"/>
          </a:p>
        </p:txBody>
      </p:sp>
      <p:sp>
        <p:nvSpPr>
          <p:cNvPr id="658" name="Google Shape;658;p40"/>
          <p:cNvSpPr/>
          <p:nvPr/>
        </p:nvSpPr>
        <p:spPr>
          <a:xfrm>
            <a:off x="6590103" y="3658400"/>
            <a:ext cx="542100" cy="5706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3536">
                <a:solidFill>
                  <a:srgbClr val="F45F57"/>
                </a:solidFill>
                <a:latin typeface="Arial"/>
                <a:ea typeface="Arial"/>
                <a:cs typeface="Arial"/>
                <a:sym typeface="Arial"/>
              </a:rPr>
              <a:t>4</a:t>
            </a:r>
            <a:endParaRPr sz="1144"/>
          </a:p>
        </p:txBody>
      </p:sp>
      <p:sp>
        <p:nvSpPr>
          <p:cNvPr id="659" name="Google Shape;659;p40"/>
          <p:cNvSpPr/>
          <p:nvPr/>
        </p:nvSpPr>
        <p:spPr>
          <a:xfrm>
            <a:off x="7147574" y="3833561"/>
            <a:ext cx="1238400" cy="2586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sz="1552">
                <a:solidFill>
                  <a:srgbClr val="0A2E4F"/>
                </a:solidFill>
                <a:latin typeface="Arial"/>
                <a:ea typeface="Arial"/>
                <a:cs typeface="Arial"/>
                <a:sym typeface="Arial"/>
              </a:rPr>
              <a:t>alerts</a:t>
            </a:r>
            <a:endParaRPr sz="1344"/>
          </a:p>
        </p:txBody>
      </p:sp>
      <p:sp>
        <p:nvSpPr>
          <p:cNvPr id="660" name="Google Shape;660;p40"/>
          <p:cNvSpPr/>
          <p:nvPr/>
        </p:nvSpPr>
        <p:spPr>
          <a:xfrm>
            <a:off x="0" y="4686300"/>
            <a:ext cx="9144000" cy="457200"/>
          </a:xfrm>
          <a:prstGeom prst="rect">
            <a:avLst/>
          </a:prstGeom>
          <a:solidFill>
            <a:srgbClr val="062B4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1" name="Google Shape;661;p40"/>
          <p:cNvSpPr/>
          <p:nvPr/>
        </p:nvSpPr>
        <p:spPr>
          <a:xfrm>
            <a:off x="560800" y="4742775"/>
            <a:ext cx="7751100" cy="2286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it" sz="1500">
                <a:solidFill>
                  <a:srgbClr val="FFFFFF"/>
                </a:solidFill>
                <a:latin typeface="Arial"/>
                <a:ea typeface="Arial"/>
                <a:cs typeface="Arial"/>
                <a:sym typeface="Arial"/>
              </a:rPr>
              <a:t>Detection relied on network-profile deviations, not exploit-specific signatures.</a:t>
            </a:r>
            <a:endParaRPr sz="1500"/>
          </a:p>
        </p:txBody>
      </p:sp>
      <p:sp>
        <p:nvSpPr>
          <p:cNvPr id="662" name="Google Shape;662;p40"/>
          <p:cNvSpPr/>
          <p:nvPr/>
        </p:nvSpPr>
        <p:spPr>
          <a:xfrm>
            <a:off x="8501063" y="4857750"/>
            <a:ext cx="321469" cy="128588"/>
          </a:xfrm>
          <a:prstGeom prst="rect">
            <a:avLst/>
          </a:prstGeom>
          <a:noFill/>
          <a:ln>
            <a:noFill/>
          </a:ln>
        </p:spPr>
        <p:txBody>
          <a:bodyPr anchorCtr="0" anchor="t" bIns="34275" lIns="68575" spcFirstLastPara="1" rIns="68575" wrap="square" tIns="34275">
            <a:noAutofit/>
          </a:bodyPr>
          <a:lstStyle/>
          <a:p>
            <a:pPr indent="0" lvl="0" marL="0" marR="0" rtl="0" algn="r">
              <a:spcBef>
                <a:spcPts val="0"/>
              </a:spcBef>
              <a:spcAft>
                <a:spcPts val="0"/>
              </a:spcAft>
              <a:buNone/>
            </a:pPr>
            <a:r>
              <a:rPr b="0" lang="it" sz="700">
                <a:solidFill>
                  <a:srgbClr val="7AA7CD"/>
                </a:solidFill>
                <a:latin typeface="Arial"/>
                <a:ea typeface="Arial"/>
                <a:cs typeface="Arial"/>
                <a:sym typeface="Arial"/>
              </a:rPr>
              <a:t>27</a:t>
            </a:r>
            <a:endParaRPr sz="1100"/>
          </a:p>
        </p:txBody>
      </p:sp>
      <p:sp>
        <p:nvSpPr>
          <p:cNvPr id="663" name="Google Shape;663;p40"/>
          <p:cNvSpPr/>
          <p:nvPr/>
        </p:nvSpPr>
        <p:spPr>
          <a:xfrm>
            <a:off x="2895100" y="4261925"/>
            <a:ext cx="2786400" cy="2586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b="1" lang="it">
                <a:solidFill>
                  <a:srgbClr val="0A2E4F"/>
                </a:solidFill>
              </a:rPr>
              <a:t>1</a:t>
            </a:r>
            <a:r>
              <a:rPr b="1" lang="it">
                <a:solidFill>
                  <a:srgbClr val="0A2E4F"/>
                </a:solidFill>
              </a:rPr>
              <a:t> alert: HTTP POST to 9001</a:t>
            </a:r>
            <a:endParaRPr b="1">
              <a:solidFill>
                <a:srgbClr val="0A2E4F"/>
              </a:solidFill>
            </a:endParaRPr>
          </a:p>
        </p:txBody>
      </p:sp>
      <p:sp>
        <p:nvSpPr>
          <p:cNvPr id="664" name="Google Shape;664;p40"/>
          <p:cNvSpPr/>
          <p:nvPr/>
        </p:nvSpPr>
        <p:spPr>
          <a:xfrm>
            <a:off x="2631727" y="2509344"/>
            <a:ext cx="2941200" cy="228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lang="it" sz="1436">
                <a:solidFill>
                  <a:srgbClr val="0A2E4F"/>
                </a:solidFill>
              </a:rPr>
              <a:t>Reverse connection on port 4444</a:t>
            </a:r>
            <a:endParaRPr sz="1644">
              <a:solidFill>
                <a:srgbClr val="0A2E4F"/>
              </a:solidFill>
            </a:endParaRPr>
          </a:p>
        </p:txBody>
      </p:sp>
      <p:sp>
        <p:nvSpPr>
          <p:cNvPr id="665" name="Google Shape;665;p40"/>
          <p:cNvSpPr/>
          <p:nvPr/>
        </p:nvSpPr>
        <p:spPr>
          <a:xfrm>
            <a:off x="2634538" y="2968050"/>
            <a:ext cx="2941200" cy="228300"/>
          </a:xfrm>
          <a:prstGeom prst="rect">
            <a:avLst/>
          </a:prstGeom>
          <a:noFill/>
          <a:ln>
            <a:noFill/>
          </a:ln>
        </p:spPr>
        <p:txBody>
          <a:bodyPr anchorCtr="0" anchor="t" bIns="35650" lIns="71325" spcFirstLastPara="1" rIns="71325" wrap="square" tIns="35650">
            <a:noAutofit/>
          </a:bodyPr>
          <a:lstStyle/>
          <a:p>
            <a:pPr indent="0" lvl="0" marL="0" marR="0" rtl="0" algn="l">
              <a:spcBef>
                <a:spcPts val="0"/>
              </a:spcBef>
              <a:spcAft>
                <a:spcPts val="0"/>
              </a:spcAft>
              <a:buNone/>
            </a:pPr>
            <a:r>
              <a:rPr lang="it" sz="1436">
                <a:solidFill>
                  <a:srgbClr val="0A2E4F"/>
                </a:solidFill>
              </a:rPr>
              <a:t>HTTP upload to port 9001</a:t>
            </a:r>
            <a:endParaRPr sz="1644">
              <a:solidFill>
                <a:srgbClr val="0A2E4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1"/>
          <p:cNvSpPr txBox="1"/>
          <p:nvPr>
            <p:ph idx="12" type="sldNum"/>
          </p:nvPr>
        </p:nvSpPr>
        <p:spPr>
          <a:xfrm>
            <a:off x="8472533" y="43400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71" name="Google Shape;671;p41"/>
          <p:cNvSpPr txBox="1"/>
          <p:nvPr>
            <p:ph type="title"/>
          </p:nvPr>
        </p:nvSpPr>
        <p:spPr>
          <a:xfrm>
            <a:off x="0" y="0"/>
            <a:ext cx="9144000" cy="709800"/>
          </a:xfrm>
          <a:prstGeom prst="rect">
            <a:avLst/>
          </a:prstGeom>
          <a:solidFill>
            <a:srgbClr val="042543"/>
          </a:solidFill>
        </p:spPr>
        <p:txBody>
          <a:bodyPr anchorCtr="0" anchor="t" bIns="91425" lIns="91425" spcFirstLastPara="1" rIns="91425" wrap="square" tIns="91425">
            <a:normAutofit/>
          </a:bodyPr>
          <a:lstStyle/>
          <a:p>
            <a:pPr indent="0" lvl="0" marL="457200" rtl="0" algn="l">
              <a:spcBef>
                <a:spcPts val="0"/>
              </a:spcBef>
              <a:spcAft>
                <a:spcPts val="0"/>
              </a:spcAft>
              <a:buNone/>
            </a:pPr>
            <a:r>
              <a:rPr b="1" lang="it">
                <a:solidFill>
                  <a:schemeClr val="lt1"/>
                </a:solidFill>
              </a:rPr>
              <a:t>Performance</a:t>
            </a:r>
            <a:r>
              <a:rPr b="1" lang="it">
                <a:solidFill>
                  <a:schemeClr val="lt1"/>
                </a:solidFill>
              </a:rPr>
              <a:t> Evaluation</a:t>
            </a:r>
            <a:endParaRPr b="1">
              <a:solidFill>
                <a:schemeClr val="lt1"/>
              </a:solidFill>
            </a:endParaRPr>
          </a:p>
        </p:txBody>
      </p:sp>
      <p:sp>
        <p:nvSpPr>
          <p:cNvPr id="672" name="Google Shape;672;p41"/>
          <p:cNvSpPr txBox="1"/>
          <p:nvPr/>
        </p:nvSpPr>
        <p:spPr>
          <a:xfrm>
            <a:off x="5457450" y="796013"/>
            <a:ext cx="36126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42543"/>
                </a:solidFill>
              </a:rPr>
              <a:t>TEST CONDITION</a:t>
            </a:r>
            <a:endParaRPr b="1" sz="1800">
              <a:solidFill>
                <a:srgbClr val="042543"/>
              </a:solidFill>
            </a:endParaRPr>
          </a:p>
          <a:p>
            <a:pPr indent="0" lvl="0" marL="0" rtl="0" algn="l">
              <a:spcBef>
                <a:spcPts val="0"/>
              </a:spcBef>
              <a:spcAft>
                <a:spcPts val="0"/>
              </a:spcAft>
              <a:buNone/>
            </a:pPr>
            <a:r>
              <a:t/>
            </a:r>
            <a:endParaRPr sz="1700">
              <a:solidFill>
                <a:srgbClr val="042543"/>
              </a:solidFill>
            </a:endParaRPr>
          </a:p>
        </p:txBody>
      </p:sp>
      <p:pic>
        <p:nvPicPr>
          <p:cNvPr id="673" name="Google Shape;673;p41" title="Punti guadagnati"/>
          <p:cNvPicPr preferRelativeResize="0"/>
          <p:nvPr/>
        </p:nvPicPr>
        <p:blipFill>
          <a:blip r:embed="rId3">
            <a:alphaModFix/>
          </a:blip>
          <a:stretch>
            <a:fillRect/>
          </a:stretch>
        </p:blipFill>
        <p:spPr>
          <a:xfrm>
            <a:off x="49475" y="1189625"/>
            <a:ext cx="5407980" cy="3235775"/>
          </a:xfrm>
          <a:prstGeom prst="rect">
            <a:avLst/>
          </a:prstGeom>
          <a:noFill/>
          <a:ln>
            <a:noFill/>
          </a:ln>
        </p:spPr>
      </p:pic>
      <p:sp>
        <p:nvSpPr>
          <p:cNvPr id="674" name="Google Shape;674;p41"/>
          <p:cNvSpPr txBox="1"/>
          <p:nvPr/>
        </p:nvSpPr>
        <p:spPr>
          <a:xfrm>
            <a:off x="5553625" y="1186063"/>
            <a:ext cx="803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3D85C6"/>
                </a:solidFill>
              </a:rPr>
              <a:t>120 s</a:t>
            </a:r>
            <a:endParaRPr b="1" sz="1800">
              <a:solidFill>
                <a:srgbClr val="3D85C6"/>
              </a:solidFill>
            </a:endParaRPr>
          </a:p>
        </p:txBody>
      </p:sp>
      <p:sp>
        <p:nvSpPr>
          <p:cNvPr id="675" name="Google Shape;675;p41"/>
          <p:cNvSpPr txBox="1"/>
          <p:nvPr/>
        </p:nvSpPr>
        <p:spPr>
          <a:xfrm>
            <a:off x="5553625" y="1600963"/>
            <a:ext cx="923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3D85C6"/>
                </a:solidFill>
              </a:rPr>
              <a:t>10 ms</a:t>
            </a:r>
            <a:endParaRPr b="1" sz="1800">
              <a:solidFill>
                <a:srgbClr val="3D85C6"/>
              </a:solidFill>
            </a:endParaRPr>
          </a:p>
        </p:txBody>
      </p:sp>
      <p:sp>
        <p:nvSpPr>
          <p:cNvPr id="676" name="Google Shape;676;p41"/>
          <p:cNvSpPr txBox="1"/>
          <p:nvPr/>
        </p:nvSpPr>
        <p:spPr>
          <a:xfrm>
            <a:off x="5553625" y="2015863"/>
            <a:ext cx="803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3D85C6"/>
                </a:solidFill>
              </a:rPr>
              <a:t>~ 1 s</a:t>
            </a:r>
            <a:endParaRPr b="1" sz="1800">
              <a:solidFill>
                <a:srgbClr val="3D85C6"/>
              </a:solidFill>
            </a:endParaRPr>
          </a:p>
        </p:txBody>
      </p:sp>
      <p:sp>
        <p:nvSpPr>
          <p:cNvPr id="677" name="Google Shape;677;p41"/>
          <p:cNvSpPr txBox="1"/>
          <p:nvPr/>
        </p:nvSpPr>
        <p:spPr>
          <a:xfrm>
            <a:off x="6761100" y="1186063"/>
            <a:ext cx="2260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00">
                <a:solidFill>
                  <a:srgbClr val="062B49"/>
                </a:solidFill>
              </a:rPr>
              <a:t>measurement window</a:t>
            </a:r>
            <a:endParaRPr sz="1600">
              <a:solidFill>
                <a:srgbClr val="062B49"/>
              </a:solidFill>
            </a:endParaRPr>
          </a:p>
        </p:txBody>
      </p:sp>
      <p:sp>
        <p:nvSpPr>
          <p:cNvPr id="678" name="Google Shape;678;p41"/>
          <p:cNvSpPr txBox="1"/>
          <p:nvPr/>
        </p:nvSpPr>
        <p:spPr>
          <a:xfrm>
            <a:off x="6761100" y="1600963"/>
            <a:ext cx="238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00">
                <a:solidFill>
                  <a:srgbClr val="062B49"/>
                </a:solidFill>
              </a:rPr>
              <a:t>between request cycles</a:t>
            </a:r>
            <a:endParaRPr sz="1600">
              <a:solidFill>
                <a:srgbClr val="062B49"/>
              </a:solidFill>
            </a:endParaRPr>
          </a:p>
        </p:txBody>
      </p:sp>
      <p:sp>
        <p:nvSpPr>
          <p:cNvPr id="679" name="Google Shape;679;p41"/>
          <p:cNvSpPr txBox="1"/>
          <p:nvPr/>
        </p:nvSpPr>
        <p:spPr>
          <a:xfrm>
            <a:off x="6761100" y="2015863"/>
            <a:ext cx="2260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00">
                <a:solidFill>
                  <a:srgbClr val="062B49"/>
                </a:solidFill>
              </a:rPr>
              <a:t>CPU sampling interval</a:t>
            </a:r>
            <a:endParaRPr sz="1600">
              <a:solidFill>
                <a:srgbClr val="062B49"/>
              </a:solidFill>
            </a:endParaRPr>
          </a:p>
        </p:txBody>
      </p:sp>
      <p:sp>
        <p:nvSpPr>
          <p:cNvPr id="680" name="Google Shape;680;p41"/>
          <p:cNvSpPr txBox="1"/>
          <p:nvPr/>
        </p:nvSpPr>
        <p:spPr>
          <a:xfrm>
            <a:off x="5457450" y="2514713"/>
            <a:ext cx="36126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042543"/>
                </a:solidFill>
              </a:rPr>
              <a:t>KEY FINDINGS</a:t>
            </a:r>
            <a:endParaRPr b="1" sz="1800">
              <a:solidFill>
                <a:srgbClr val="042543"/>
              </a:solidFill>
            </a:endParaRPr>
          </a:p>
          <a:p>
            <a:pPr indent="0" lvl="0" marL="0" rtl="0" algn="l">
              <a:spcBef>
                <a:spcPts val="0"/>
              </a:spcBef>
              <a:spcAft>
                <a:spcPts val="0"/>
              </a:spcAft>
              <a:buNone/>
            </a:pPr>
            <a:r>
              <a:t/>
            </a:r>
            <a:endParaRPr sz="1700">
              <a:solidFill>
                <a:srgbClr val="042543"/>
              </a:solidFill>
            </a:endParaRPr>
          </a:p>
        </p:txBody>
      </p:sp>
      <p:sp>
        <p:nvSpPr>
          <p:cNvPr id="681" name="Google Shape;681;p41"/>
          <p:cNvSpPr txBox="1"/>
          <p:nvPr/>
        </p:nvSpPr>
        <p:spPr>
          <a:xfrm>
            <a:off x="5553625" y="2958763"/>
            <a:ext cx="1103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 sz="1800">
                <a:solidFill>
                  <a:srgbClr val="FF0000"/>
                </a:solidFill>
              </a:rPr>
              <a:t>71 - 79%</a:t>
            </a:r>
            <a:endParaRPr b="1" sz="1800">
              <a:solidFill>
                <a:srgbClr val="FF0000"/>
              </a:solidFill>
            </a:endParaRPr>
          </a:p>
        </p:txBody>
      </p:sp>
      <p:sp>
        <p:nvSpPr>
          <p:cNvPr id="682" name="Google Shape;682;p41"/>
          <p:cNvSpPr txBox="1"/>
          <p:nvPr/>
        </p:nvSpPr>
        <p:spPr>
          <a:xfrm>
            <a:off x="5553625" y="3468938"/>
            <a:ext cx="1282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sz="1800">
                <a:solidFill>
                  <a:srgbClr val="38B80D"/>
                </a:solidFill>
              </a:rPr>
              <a:t>&lt;5% CPU</a:t>
            </a:r>
            <a:endParaRPr b="1" sz="1800">
              <a:solidFill>
                <a:srgbClr val="38B80D"/>
              </a:solidFill>
            </a:endParaRPr>
          </a:p>
          <a:p>
            <a:pPr indent="0" lvl="0" marL="0" rtl="0" algn="ctr">
              <a:spcBef>
                <a:spcPts val="0"/>
              </a:spcBef>
              <a:spcAft>
                <a:spcPts val="0"/>
              </a:spcAft>
              <a:buNone/>
            </a:pPr>
            <a:r>
              <a:rPr b="1" lang="it" sz="1800">
                <a:solidFill>
                  <a:srgbClr val="38B80D"/>
                </a:solidFill>
              </a:rPr>
              <a:t>usage</a:t>
            </a:r>
            <a:endParaRPr b="1" sz="1800">
              <a:solidFill>
                <a:srgbClr val="38B80D"/>
              </a:solidFill>
            </a:endParaRPr>
          </a:p>
        </p:txBody>
      </p:sp>
      <p:sp>
        <p:nvSpPr>
          <p:cNvPr id="683" name="Google Shape;683;p41"/>
          <p:cNvSpPr txBox="1"/>
          <p:nvPr/>
        </p:nvSpPr>
        <p:spPr>
          <a:xfrm>
            <a:off x="6803625" y="2821788"/>
            <a:ext cx="2260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00">
                <a:solidFill>
                  <a:srgbClr val="062B49"/>
                </a:solidFill>
              </a:rPr>
              <a:t>lower mean CPU with UID filtering</a:t>
            </a:r>
            <a:endParaRPr sz="1600">
              <a:solidFill>
                <a:srgbClr val="062B49"/>
              </a:solidFill>
            </a:endParaRPr>
          </a:p>
        </p:txBody>
      </p:sp>
      <p:sp>
        <p:nvSpPr>
          <p:cNvPr id="684" name="Google Shape;684;p41"/>
          <p:cNvSpPr txBox="1"/>
          <p:nvPr/>
        </p:nvSpPr>
        <p:spPr>
          <a:xfrm>
            <a:off x="6771425" y="3466550"/>
            <a:ext cx="22602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00">
                <a:solidFill>
                  <a:srgbClr val="062B49"/>
                </a:solidFill>
              </a:rPr>
              <a:t>for every UID-filtered profile</a:t>
            </a:r>
            <a:endParaRPr sz="1600">
              <a:solidFill>
                <a:srgbClr val="062B49"/>
              </a:solidFill>
            </a:endParaRPr>
          </a:p>
        </p:txBody>
      </p:sp>
      <p:sp>
        <p:nvSpPr>
          <p:cNvPr id="685" name="Google Shape;685;p41"/>
          <p:cNvSpPr txBox="1"/>
          <p:nvPr/>
        </p:nvSpPr>
        <p:spPr>
          <a:xfrm>
            <a:off x="5241925" y="4156925"/>
            <a:ext cx="3828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600">
                <a:solidFill>
                  <a:srgbClr val="062B49"/>
                </a:solidFill>
              </a:rPr>
              <a:t>Full logging added only limited overhead</a:t>
            </a:r>
            <a:endParaRPr sz="1600">
              <a:solidFill>
                <a:srgbClr val="062B4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2543"/>
        </a:solidFill>
      </p:bgPr>
    </p:bg>
    <p:spTree>
      <p:nvGrpSpPr>
        <p:cNvPr id="689" name="Shape 689"/>
        <p:cNvGrpSpPr/>
        <p:nvPr/>
      </p:nvGrpSpPr>
      <p:grpSpPr>
        <a:xfrm>
          <a:off x="0" y="0"/>
          <a:ext cx="0" cy="0"/>
          <a:chOff x="0" y="0"/>
          <a:chExt cx="0" cy="0"/>
        </a:xfrm>
      </p:grpSpPr>
      <p:sp>
        <p:nvSpPr>
          <p:cNvPr id="690" name="Google Shape;690;p42"/>
          <p:cNvSpPr txBox="1"/>
          <p:nvPr/>
        </p:nvSpPr>
        <p:spPr>
          <a:xfrm>
            <a:off x="0" y="0"/>
            <a:ext cx="9144000" cy="8862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rgbClr val="000000"/>
              </a:buClr>
              <a:buSzPts val="3700"/>
              <a:buFont typeface="Arial"/>
              <a:buNone/>
            </a:pPr>
            <a:r>
              <a:rPr b="0" i="0" lang="it" sz="3700" u="none" cap="none" strike="noStrike">
                <a:solidFill>
                  <a:schemeClr val="lt1"/>
                </a:solidFill>
                <a:latin typeface="Roboto ExtraBold"/>
                <a:ea typeface="Roboto ExtraBold"/>
                <a:cs typeface="Roboto ExtraBold"/>
                <a:sym typeface="Roboto ExtraBold"/>
              </a:rPr>
              <a:t>Conclusions</a:t>
            </a:r>
            <a:endParaRPr b="0" i="0" sz="3400" u="none" cap="none" strike="noStrike">
              <a:solidFill>
                <a:schemeClr val="lt1"/>
              </a:solidFill>
              <a:latin typeface="Roboto ExtraBold"/>
              <a:ea typeface="Roboto ExtraBold"/>
              <a:cs typeface="Roboto ExtraBold"/>
              <a:sym typeface="Roboto ExtraBold"/>
            </a:endParaRPr>
          </a:p>
        </p:txBody>
      </p:sp>
      <p:sp>
        <p:nvSpPr>
          <p:cNvPr id="691" name="Google Shape;691;p42"/>
          <p:cNvSpPr txBox="1"/>
          <p:nvPr/>
        </p:nvSpPr>
        <p:spPr>
          <a:xfrm>
            <a:off x="181000" y="687750"/>
            <a:ext cx="8640600" cy="3162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700"/>
              <a:buFont typeface="Arial"/>
              <a:buNone/>
            </a:pPr>
            <a:r>
              <a:rPr b="1" i="0" lang="it" sz="2700" u="none" cap="none" strike="noStrike">
                <a:solidFill>
                  <a:srgbClr val="6D9EEB"/>
                </a:solidFill>
                <a:latin typeface="Arial"/>
                <a:ea typeface="Arial"/>
                <a:cs typeface="Arial"/>
                <a:sym typeface="Arial"/>
              </a:rPr>
              <a:t>Key Findings</a:t>
            </a:r>
            <a:endParaRPr b="1" i="0" sz="2700" u="none" cap="none" strike="noStrike">
              <a:solidFill>
                <a:srgbClr val="6D9EEB"/>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700"/>
              <a:buFont typeface="Arial"/>
              <a:buNone/>
            </a:pPr>
            <a:r>
              <a:t/>
            </a:r>
            <a:endParaRPr b="1" i="0" sz="2700" u="none" cap="none" strike="noStrike">
              <a:solidFill>
                <a:srgbClr val="6D9EEB"/>
              </a:solidFill>
              <a:latin typeface="Arial"/>
              <a:ea typeface="Arial"/>
              <a:cs typeface="Arial"/>
              <a:sym typeface="Arial"/>
            </a:endParaRPr>
          </a:p>
          <a:p>
            <a:pPr indent="-387350" lvl="0" marL="457200" marR="0" rtl="0" algn="l">
              <a:lnSpc>
                <a:spcPct val="100000"/>
              </a:lnSpc>
              <a:spcBef>
                <a:spcPts val="0"/>
              </a:spcBef>
              <a:spcAft>
                <a:spcPts val="0"/>
              </a:spcAft>
              <a:buClr>
                <a:schemeClr val="lt1"/>
              </a:buClr>
              <a:buSzPts val="2500"/>
              <a:buFont typeface="Arial"/>
              <a:buChar char="●"/>
            </a:pPr>
            <a:r>
              <a:rPr b="1" i="0" lang="it" sz="2500" u="none" cap="none" strike="noStrike">
                <a:solidFill>
                  <a:schemeClr val="lt1"/>
                </a:solidFill>
                <a:latin typeface="Arial"/>
                <a:ea typeface="Arial"/>
                <a:cs typeface="Arial"/>
                <a:sym typeface="Arial"/>
              </a:rPr>
              <a:t>Kernel observations can be transformed into consistent security evidence.</a:t>
            </a:r>
            <a:endParaRPr b="1" i="0" sz="2500" u="none" cap="none" strike="noStrike">
              <a:solidFill>
                <a:schemeClr val="lt1"/>
              </a:solidFill>
              <a:latin typeface="Arial"/>
              <a:ea typeface="Arial"/>
              <a:cs typeface="Arial"/>
              <a:sym typeface="Arial"/>
            </a:endParaRPr>
          </a:p>
          <a:p>
            <a:pPr indent="-387350" lvl="0" marL="457200" marR="0" rtl="0" algn="l">
              <a:lnSpc>
                <a:spcPct val="100000"/>
              </a:lnSpc>
              <a:spcBef>
                <a:spcPts val="0"/>
              </a:spcBef>
              <a:spcAft>
                <a:spcPts val="0"/>
              </a:spcAft>
              <a:buClr>
                <a:schemeClr val="lt1"/>
              </a:buClr>
              <a:buSzPts val="2500"/>
              <a:buFont typeface="Arial"/>
              <a:buChar char="●"/>
            </a:pPr>
            <a:r>
              <a:rPr b="1" i="0" lang="it" sz="2500" u="none" cap="none" strike="noStrike">
                <a:solidFill>
                  <a:schemeClr val="lt1"/>
                </a:solidFill>
                <a:latin typeface="Arial"/>
                <a:ea typeface="Arial"/>
                <a:cs typeface="Arial"/>
                <a:sym typeface="Arial"/>
              </a:rPr>
              <a:t>Configurable monitoring supports different investigation task, useful for the security analyst.</a:t>
            </a:r>
            <a:endParaRPr b="1" i="0" sz="2500" u="none" cap="none" strike="noStrike">
              <a:solidFill>
                <a:schemeClr val="lt1"/>
              </a:solidFill>
              <a:latin typeface="Arial"/>
              <a:ea typeface="Arial"/>
              <a:cs typeface="Arial"/>
              <a:sym typeface="Arial"/>
            </a:endParaRPr>
          </a:p>
          <a:p>
            <a:pPr indent="-387350" lvl="0" marL="457200" marR="0" rtl="0" algn="l">
              <a:lnSpc>
                <a:spcPct val="100000"/>
              </a:lnSpc>
              <a:spcBef>
                <a:spcPts val="0"/>
              </a:spcBef>
              <a:spcAft>
                <a:spcPts val="0"/>
              </a:spcAft>
              <a:buClr>
                <a:schemeClr val="lt1"/>
              </a:buClr>
              <a:buSzPts val="2500"/>
              <a:buFont typeface="Arial"/>
              <a:buChar char="●"/>
            </a:pPr>
            <a:r>
              <a:rPr b="1" i="0" lang="it" sz="2500" u="none" cap="none" strike="noStrike">
                <a:solidFill>
                  <a:schemeClr val="lt1"/>
                </a:solidFill>
                <a:latin typeface="Arial"/>
                <a:ea typeface="Arial"/>
                <a:cs typeface="Arial"/>
                <a:sym typeface="Arial"/>
              </a:rPr>
              <a:t>Early filtering can reduce performance cost</a:t>
            </a:r>
            <a:endParaRPr b="1" i="0" sz="2500" u="none" cap="none" strike="noStrike">
              <a:solidFill>
                <a:schemeClr val="lt1"/>
              </a:solidFill>
              <a:latin typeface="Arial"/>
              <a:ea typeface="Arial"/>
              <a:cs typeface="Arial"/>
              <a:sym typeface="Arial"/>
            </a:endParaRPr>
          </a:p>
          <a:p>
            <a:pPr indent="-387350" lvl="0" marL="457200" marR="0" rtl="0" algn="l">
              <a:lnSpc>
                <a:spcPct val="100000"/>
              </a:lnSpc>
              <a:spcBef>
                <a:spcPts val="0"/>
              </a:spcBef>
              <a:spcAft>
                <a:spcPts val="0"/>
              </a:spcAft>
              <a:buClr>
                <a:schemeClr val="lt1"/>
              </a:buClr>
              <a:buSzPts val="2500"/>
              <a:buFont typeface="Arial"/>
              <a:buChar char="●"/>
            </a:pPr>
            <a:r>
              <a:rPr b="1" i="0" lang="it" sz="2500" u="none" cap="none" strike="noStrike">
                <a:solidFill>
                  <a:schemeClr val="lt1"/>
                </a:solidFill>
                <a:latin typeface="Arial"/>
                <a:ea typeface="Arial"/>
                <a:cs typeface="Arial"/>
                <a:sym typeface="Arial"/>
              </a:rPr>
              <a:t>Broader coverage and higher event rates remain future work.</a:t>
            </a:r>
            <a:endParaRPr b="1" i="0" sz="2500" u="none" cap="none" strike="noStrike">
              <a:solidFill>
                <a:schemeClr val="lt1"/>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2500"/>
              <a:buFont typeface="Arial"/>
              <a:buNone/>
            </a:pPr>
            <a:r>
              <a:t/>
            </a:r>
            <a:endParaRPr b="1" i="0" sz="2500" u="none" cap="none" strike="noStrike">
              <a:solidFill>
                <a:schemeClr val="lt1"/>
              </a:solidFill>
              <a:latin typeface="Arial"/>
              <a:ea typeface="Arial"/>
              <a:cs typeface="Arial"/>
              <a:sym typeface="Arial"/>
            </a:endParaRPr>
          </a:p>
        </p:txBody>
      </p:sp>
      <p:sp>
        <p:nvSpPr>
          <p:cNvPr id="692" name="Google Shape;69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693" name="Google Shape;693;p42"/>
          <p:cNvSpPr txBox="1"/>
          <p:nvPr/>
        </p:nvSpPr>
        <p:spPr>
          <a:xfrm>
            <a:off x="0" y="4170625"/>
            <a:ext cx="9144000" cy="886200"/>
          </a:xfrm>
          <a:prstGeom prst="rect">
            <a:avLst/>
          </a:prstGeom>
          <a:noFill/>
          <a:ln>
            <a:noFill/>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Clr>
                <a:srgbClr val="000000"/>
              </a:buClr>
              <a:buSzPts val="3700"/>
              <a:buFont typeface="Arial"/>
              <a:buNone/>
            </a:pPr>
            <a:r>
              <a:rPr b="0" i="0" lang="it" sz="3700" u="none" cap="none" strike="noStrike">
                <a:solidFill>
                  <a:schemeClr val="lt1"/>
                </a:solidFill>
                <a:latin typeface="Roboto ExtraBold"/>
                <a:ea typeface="Roboto ExtraBold"/>
                <a:cs typeface="Roboto ExtraBold"/>
                <a:sym typeface="Roboto ExtraBold"/>
              </a:rPr>
              <a:t>Any question?</a:t>
            </a:r>
            <a:endParaRPr b="0" i="0" sz="3400" u="none" cap="none" strike="noStrike">
              <a:solidFill>
                <a:schemeClr val="lt1"/>
              </a:solidFill>
              <a:latin typeface="Roboto ExtraBold"/>
              <a:ea typeface="Roboto ExtraBold"/>
              <a:cs typeface="Roboto ExtraBold"/>
              <a:sym typeface="Roboto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