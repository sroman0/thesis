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19"/>
      <p:bold r:id="rId20"/>
      <p:italic r:id="rId21"/>
      <p:boldItalic r:id="rId22"/>
    </p:embeddedFont>
    <p:embeddedFont>
      <p:font typeface="Roboto ExtraBold" panose="020B0604020202020204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4C64B6-75DA-BCE1-9D8D-4BCC2A809583}" v="42" dt="2026-09-16T09:35:59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b36b3538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b36b3538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36b35384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b36b35384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b36b35384_1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b36b35384_1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36b35384_1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36b35384_1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b36b35384_1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b36b35384_1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b36b35384_1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24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b36b35384_1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b36b35384_1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b36b35384_1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b36b35384_1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b36b35384_1_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b36b35384_1_6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fb36b35384_1_6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b36b35384_1_7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b36b35384_1_7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b36b35384_1_8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b36b35384_1_8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b36b35384_1_8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b36b35384_1_8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b36b35384_1_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b36b35384_1_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b36b35384_1_10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b36b35384_1_10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b36b35384_1_1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b36b35384_1_10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b36b35384_1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224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b36b35384_1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aquasecurity/tracee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54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105800" y="1634994"/>
            <a:ext cx="69324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 b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Design and implementation of an eBPF-based runtime security monitoring Tool</a:t>
            </a:r>
            <a:endParaRPr sz="3200" b="1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800" y="208119"/>
            <a:ext cx="3019630" cy="13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85650" y="3292300"/>
            <a:ext cx="7772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End-to-End Pipeline and Hook Implementation</a:t>
            </a:r>
            <a:endParaRPr sz="15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49450" y="4478950"/>
            <a:ext cx="804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Simone Romano</a:t>
            </a:r>
            <a:endParaRPr sz="17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58" name="Google Shape;58;p13"/>
          <p:cNvCxnSpPr/>
          <p:nvPr/>
        </p:nvCxnSpPr>
        <p:spPr>
          <a:xfrm>
            <a:off x="1618950" y="3221294"/>
            <a:ext cx="5906100" cy="51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</a:t>
            </a:fld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2650" y="184844"/>
            <a:ext cx="2525550" cy="13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0" y="0"/>
            <a:ext cx="91440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rgbClr val="07376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Project Reference and Architectural Constraints</a:t>
            </a:r>
            <a:endParaRPr sz="2400">
              <a:solidFill>
                <a:srgbClr val="073763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150" y="4118400"/>
            <a:ext cx="9144000" cy="1025100"/>
          </a:xfrm>
          <a:prstGeom prst="rect">
            <a:avLst/>
          </a:prstGeom>
          <a:solidFill>
            <a:srgbClr val="042543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Not a Tracee replica, but a more focused and controllable runtime.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224800" y="886200"/>
            <a:ext cx="4019400" cy="3106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General-purpose, multi-kernel runtime security.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Ring buffer as the primary transport channel.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Reference for the probe registry, pipeline, and event model.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4899800" y="886200"/>
            <a:ext cx="4019400" cy="310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Targeted at Rocky Linux 8, kernel 4.18.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Adapted to verifier constraints and provable memory offsets.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Perf buffer as the main operational transport.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Lightweight policy layer.</a:t>
            </a:r>
            <a:endParaRPr sz="16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" name="Google Shape;69;p14"/>
          <p:cNvCxnSpPr/>
          <p:nvPr/>
        </p:nvCxnSpPr>
        <p:spPr>
          <a:xfrm rot="10800000" flipH="1">
            <a:off x="224800" y="1719828"/>
            <a:ext cx="4019400" cy="1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4"/>
          <p:cNvCxnSpPr/>
          <p:nvPr/>
        </p:nvCxnSpPr>
        <p:spPr>
          <a:xfrm rot="10800000" flipH="1">
            <a:off x="4899800" y="1719828"/>
            <a:ext cx="4019400" cy="1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175" y="1030125"/>
            <a:ext cx="350800" cy="451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9050" y="1030138"/>
            <a:ext cx="350800" cy="45102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673975" y="1057638"/>
            <a:ext cx="3273300" cy="3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u="sng">
                <a:solidFill>
                  <a:schemeClr val="hlink"/>
                </a:solidFill>
                <a:hlinkClick r:id="rId5"/>
              </a:rPr>
              <a:t>Tracee</a:t>
            </a:r>
            <a:r>
              <a:rPr lang="it" sz="1800" b="1">
                <a:solidFill>
                  <a:srgbClr val="073763"/>
                </a:solidFill>
              </a:rPr>
              <a:t> - Reference</a:t>
            </a:r>
            <a:endParaRPr sz="1800" b="1">
              <a:solidFill>
                <a:srgbClr val="073763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5409500" y="102478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73763"/>
                </a:solidFill>
              </a:rPr>
              <a:t>Our Approach</a:t>
            </a:r>
            <a:endParaRPr sz="1800" b="1">
              <a:solidFill>
                <a:srgbClr val="073763"/>
              </a:solidFill>
            </a:endParaRPr>
          </a:p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</a:t>
            </a:fld>
            <a:endParaRPr/>
          </a:p>
        </p:txBody>
      </p:sp>
      <p:cxnSp>
        <p:nvCxnSpPr>
          <p:cNvPr id="76" name="Google Shape;76;p14"/>
          <p:cNvCxnSpPr>
            <a:stCxn id="67" idx="3"/>
            <a:endCxn id="68" idx="1"/>
          </p:cNvCxnSpPr>
          <p:nvPr/>
        </p:nvCxnSpPr>
        <p:spPr>
          <a:xfrm>
            <a:off x="4244200" y="2439300"/>
            <a:ext cx="655500" cy="0"/>
          </a:xfrm>
          <a:prstGeom prst="straightConnector1">
            <a:avLst/>
          </a:prstGeom>
          <a:noFill/>
          <a:ln w="3810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543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End-to-End Architecture and Pipeline</a:t>
            </a:r>
            <a:endParaRPr sz="28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</a:t>
            </a:fld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491788" y="2005225"/>
            <a:ext cx="1094700" cy="6327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FFFF"/>
                </a:solidFill>
              </a:rPr>
              <a:t>Cobra CLI / YAML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1835513" y="2005225"/>
            <a:ext cx="1094700" cy="6327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FFFF"/>
                </a:solidFill>
              </a:rPr>
              <a:t>Probe Registry / libbpfgo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3179238" y="2005225"/>
            <a:ext cx="1094700" cy="6327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FFFF"/>
                </a:solidFill>
              </a:rPr>
              <a:t>eBPF Hook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4522963" y="2005225"/>
            <a:ext cx="1094700" cy="6327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FFFF"/>
                </a:solidFill>
              </a:rPr>
              <a:t>Perf Buffer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5866688" y="2005225"/>
            <a:ext cx="1094700" cy="6327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FFFF"/>
                </a:solidFill>
              </a:rPr>
              <a:t>Go Decoder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7210413" y="2005225"/>
            <a:ext cx="1441800" cy="6327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FFFF"/>
                </a:solidFill>
              </a:rPr>
              <a:t>Normalized Event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7210413" y="1086763"/>
            <a:ext cx="1441800" cy="6327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FFFF"/>
                </a:solidFill>
              </a:rPr>
              <a:t>Event Output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7210413" y="2923675"/>
            <a:ext cx="1441800" cy="6327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FFFF"/>
                </a:solidFill>
              </a:rPr>
              <a:t>Policy &amp; Detector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7210413" y="3842125"/>
            <a:ext cx="1441800" cy="6327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FFFF"/>
                </a:solidFill>
              </a:rPr>
              <a:t>Alert Output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92" name="Google Shape;92;p15"/>
          <p:cNvCxnSpPr>
            <a:stCxn id="83" idx="3"/>
            <a:endCxn id="84" idx="1"/>
          </p:cNvCxnSpPr>
          <p:nvPr/>
        </p:nvCxnSpPr>
        <p:spPr>
          <a:xfrm>
            <a:off x="1586488" y="2321575"/>
            <a:ext cx="249000" cy="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93;p15"/>
          <p:cNvCxnSpPr>
            <a:stCxn id="84" idx="3"/>
            <a:endCxn id="85" idx="1"/>
          </p:cNvCxnSpPr>
          <p:nvPr/>
        </p:nvCxnSpPr>
        <p:spPr>
          <a:xfrm>
            <a:off x="2930213" y="2321575"/>
            <a:ext cx="249000" cy="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" name="Google Shape;94;p15"/>
          <p:cNvCxnSpPr>
            <a:stCxn id="85" idx="3"/>
            <a:endCxn id="86" idx="1"/>
          </p:cNvCxnSpPr>
          <p:nvPr/>
        </p:nvCxnSpPr>
        <p:spPr>
          <a:xfrm>
            <a:off x="4273938" y="2321575"/>
            <a:ext cx="249000" cy="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95;p15"/>
          <p:cNvCxnSpPr>
            <a:stCxn id="86" idx="3"/>
            <a:endCxn id="87" idx="1"/>
          </p:cNvCxnSpPr>
          <p:nvPr/>
        </p:nvCxnSpPr>
        <p:spPr>
          <a:xfrm>
            <a:off x="5617663" y="2321575"/>
            <a:ext cx="249000" cy="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96;p15"/>
          <p:cNvCxnSpPr>
            <a:stCxn id="87" idx="3"/>
            <a:endCxn id="88" idx="1"/>
          </p:cNvCxnSpPr>
          <p:nvPr/>
        </p:nvCxnSpPr>
        <p:spPr>
          <a:xfrm>
            <a:off x="6961388" y="2321575"/>
            <a:ext cx="249000" cy="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" name="Google Shape;97;p15"/>
          <p:cNvCxnSpPr>
            <a:stCxn id="88" idx="0"/>
            <a:endCxn id="89" idx="2"/>
          </p:cNvCxnSpPr>
          <p:nvPr/>
        </p:nvCxnSpPr>
        <p:spPr>
          <a:xfrm rot="10800000">
            <a:off x="7931313" y="1719325"/>
            <a:ext cx="0" cy="28590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" name="Google Shape;98;p15"/>
          <p:cNvCxnSpPr>
            <a:stCxn id="88" idx="2"/>
            <a:endCxn id="90" idx="0"/>
          </p:cNvCxnSpPr>
          <p:nvPr/>
        </p:nvCxnSpPr>
        <p:spPr>
          <a:xfrm>
            <a:off x="7931313" y="2637925"/>
            <a:ext cx="0" cy="28590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" name="Google Shape;99;p15"/>
          <p:cNvCxnSpPr>
            <a:stCxn id="90" idx="2"/>
            <a:endCxn id="91" idx="0"/>
          </p:cNvCxnSpPr>
          <p:nvPr/>
        </p:nvCxnSpPr>
        <p:spPr>
          <a:xfrm>
            <a:off x="7931313" y="3556375"/>
            <a:ext cx="0" cy="28590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0" name="Google Shape;100;p15"/>
          <p:cNvSpPr/>
          <p:nvPr/>
        </p:nvSpPr>
        <p:spPr>
          <a:xfrm>
            <a:off x="3660150" y="801000"/>
            <a:ext cx="1476600" cy="7023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60B2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FFFFFF"/>
                </a:solidFill>
              </a:rPr>
              <a:t>Runtime Diagnostics (Zap)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660150" y="15033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FFD966"/>
                </a:solidFill>
              </a:rPr>
              <a:t>eBPF Kernel Space</a:t>
            </a:r>
            <a:endParaRPr sz="1800" b="1">
              <a:solidFill>
                <a:srgbClr val="FFD966"/>
              </a:solidFill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169050" y="1543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6D9EEB"/>
                </a:solidFill>
              </a:rPr>
              <a:t>Go Userspace</a:t>
            </a:r>
            <a:endParaRPr sz="1800" b="1">
              <a:solidFill>
                <a:srgbClr val="6D9EEB"/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294450" y="2850125"/>
            <a:ext cx="6787200" cy="18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1800"/>
              <a:buChar char="●"/>
            </a:pPr>
            <a:r>
              <a:rPr lang="it" sz="1800" b="1">
                <a:solidFill>
                  <a:srgbClr val="6D9EEB"/>
                </a:solidFill>
              </a:rPr>
              <a:t>Cobra CLI:</a:t>
            </a:r>
            <a:r>
              <a:rPr lang="it" sz="1800">
                <a:solidFill>
                  <a:srgbClr val="6D9EEB"/>
                </a:solidFill>
              </a:rPr>
              <a:t> </a:t>
            </a:r>
            <a:r>
              <a:rPr lang="it" sz="1800">
                <a:solidFill>
                  <a:schemeClr val="lt1"/>
                </a:solidFill>
              </a:rPr>
              <a:t>Parses configuration and initializes the runtime.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1800"/>
              <a:buChar char="●"/>
            </a:pPr>
            <a:r>
              <a:rPr lang="it" sz="1800" b="1">
                <a:solidFill>
                  <a:srgbClr val="6D9EEB"/>
                </a:solidFill>
              </a:rPr>
              <a:t>Collection and transport:</a:t>
            </a:r>
            <a:r>
              <a:rPr lang="it" sz="1800">
                <a:solidFill>
                  <a:srgbClr val="6D9EEB"/>
                </a:solidFill>
              </a:rPr>
              <a:t> </a:t>
            </a:r>
            <a:r>
              <a:rPr lang="it" sz="1800">
                <a:solidFill>
                  <a:schemeClr val="lt1"/>
                </a:solidFill>
              </a:rPr>
              <a:t>eBPF hooks submit events through the perf buffer.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1800"/>
              <a:buChar char="●"/>
            </a:pPr>
            <a:r>
              <a:rPr lang="it" sz="1800" b="1">
                <a:solidFill>
                  <a:srgbClr val="6D9EEB"/>
                </a:solidFill>
              </a:rPr>
              <a:t>Routing: </a:t>
            </a:r>
            <a:r>
              <a:rPr lang="it" sz="1800">
                <a:solidFill>
                  <a:schemeClr val="lt1"/>
                </a:solidFill>
              </a:rPr>
              <a:t>Normalized events are sent to raw output and the detection engine.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543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Binary Contract and Event Normalization</a:t>
            </a:r>
            <a:endParaRPr sz="28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2959400" y="710250"/>
            <a:ext cx="5772300" cy="8010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Kernel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[	event_context_t + argnum + args buffer	]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4025450" y="2199613"/>
            <a:ext cx="3640200" cy="8010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Shared C/Go Registry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025450" y="3688975"/>
            <a:ext cx="3640200" cy="13788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Userspace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Event: 		security_file_open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Path:		 /etc/shadow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Flag:		 O_RDONLY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112" name="Google Shape;112;p16"/>
          <p:cNvSpPr/>
          <p:nvPr/>
        </p:nvSpPr>
        <p:spPr>
          <a:xfrm rot="10800000">
            <a:off x="5688350" y="1566238"/>
            <a:ext cx="423000" cy="5784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6"/>
          <p:cNvSpPr/>
          <p:nvPr/>
        </p:nvSpPr>
        <p:spPr>
          <a:xfrm rot="10800000">
            <a:off x="5688350" y="3055588"/>
            <a:ext cx="423000" cy="5784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1155CC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111350" y="1592800"/>
            <a:ext cx="26724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6D9EEB"/>
                </a:solidFill>
              </a:rPr>
              <a:t>From binary records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111350" y="3082150"/>
            <a:ext cx="26724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6D9EEB"/>
                </a:solidFill>
              </a:rPr>
              <a:t>to typed, indexed arguments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294450" y="1592800"/>
            <a:ext cx="3572700" cy="31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1800"/>
              <a:buChar char="●"/>
            </a:pPr>
            <a:r>
              <a:rPr lang="it" sz="1800" b="1">
                <a:solidFill>
                  <a:srgbClr val="6D9EEB"/>
                </a:solidFill>
              </a:rPr>
              <a:t>Binary contract:</a:t>
            </a:r>
            <a:r>
              <a:rPr lang="it" sz="1800">
                <a:solidFill>
                  <a:srgbClr val="6D9EEB"/>
                </a:solidFill>
              </a:rPr>
              <a:t> </a:t>
            </a:r>
            <a:r>
              <a:rPr lang="it" sz="1800">
                <a:solidFill>
                  <a:schemeClr val="lt1"/>
                </a:solidFill>
              </a:rPr>
              <a:t>Shared context, indexed arguments, and synchronized C/Go registries.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1800"/>
              <a:buChar char="●"/>
            </a:pPr>
            <a:r>
              <a:rPr lang="it" sz="1800" b="1">
                <a:solidFill>
                  <a:srgbClr val="6D9EEB"/>
                </a:solidFill>
              </a:rPr>
              <a:t>Unique mapping:</a:t>
            </a:r>
            <a:r>
              <a:rPr lang="it" sz="1800">
                <a:solidFill>
                  <a:srgbClr val="6D9EEB"/>
                </a:solidFill>
              </a:rPr>
              <a:t> </a:t>
            </a:r>
            <a:r>
              <a:rPr lang="it" sz="1800">
                <a:solidFill>
                  <a:schemeClr val="lt1"/>
                </a:solidFill>
              </a:rPr>
              <a:t>eBPF event ID, event name, and decoding schema.</a:t>
            </a:r>
            <a:endParaRPr sz="1800">
              <a:solidFill>
                <a:schemeClr val="l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1800"/>
              <a:buChar char="●"/>
            </a:pPr>
            <a:r>
              <a:rPr lang="it" sz="1800" b="1">
                <a:solidFill>
                  <a:srgbClr val="6D9EEB"/>
                </a:solidFill>
              </a:rPr>
              <a:t>Enrichment: </a:t>
            </a:r>
            <a:r>
              <a:rPr lang="it" sz="1800">
                <a:solidFill>
                  <a:schemeClr val="lt1"/>
                </a:solidFill>
              </a:rPr>
              <a:t>Userspace normalization of capabilities, flags, bitmasks, and errno values.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17" name="Google Shape;11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3537150" y="886200"/>
            <a:ext cx="2069700" cy="8862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60B2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rgbClr val="FFFFFF"/>
                </a:solidFill>
              </a:rPr>
              <a:t>Detector YAML </a:t>
            </a:r>
            <a:r>
              <a:rPr lang="it" sz="1200" b="1">
                <a:solidFill>
                  <a:srgbClr val="FFFFFF"/>
                </a:solidFill>
              </a:rPr>
              <a:t>Evaluates Threat Conditions</a:t>
            </a:r>
            <a:endParaRPr sz="800" b="1">
              <a:solidFill>
                <a:srgbClr val="FFFFFF"/>
              </a:solidFill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0" y="0"/>
            <a:ext cx="91440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>
                <a:solidFill>
                  <a:srgbClr val="07376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Policy and Detection Layer (YAML)</a:t>
            </a:r>
            <a:endParaRPr sz="2400">
              <a:solidFill>
                <a:srgbClr val="073763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0" y="2688650"/>
            <a:ext cx="9144000" cy="2454900"/>
          </a:xfrm>
          <a:prstGeom prst="rect">
            <a:avLst/>
          </a:prstGeom>
          <a:solidFill>
            <a:srgbClr val="042543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14300" lvl="0" algn="l" rtl="0">
              <a:spcBef>
                <a:spcPts val="0"/>
              </a:spcBef>
              <a:spcAft>
                <a:spcPts val="0"/>
              </a:spcAft>
              <a:buClr>
                <a:srgbClr val="6D9EEB"/>
              </a:buClr>
              <a:buSzPts val="1800"/>
            </a:pPr>
            <a:endParaRPr lang="it" sz="1800">
              <a:solidFill>
                <a:schemeClr val="lt1"/>
              </a:solidFill>
            </a:endParaRPr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</a:t>
            </a:fld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189100" y="886200"/>
            <a:ext cx="2069700" cy="8862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60B2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rgbClr val="FFFFFF"/>
                </a:solidFill>
              </a:rPr>
              <a:t>Policy YAML </a:t>
            </a:r>
            <a:r>
              <a:rPr lang="it" sz="1200" b="1">
                <a:solidFill>
                  <a:srgbClr val="FFFFFF"/>
                </a:solidFill>
              </a:rPr>
              <a:t>Selects What to Observe</a:t>
            </a:r>
            <a:endParaRPr sz="800" b="1">
              <a:solidFill>
                <a:srgbClr val="FFFFFF"/>
              </a:solidFill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6885200" y="886200"/>
            <a:ext cx="2069700" cy="886200"/>
          </a:xfrm>
          <a:prstGeom prst="flowChartAlternateProcess">
            <a:avLst/>
          </a:prstGeom>
          <a:solidFill>
            <a:srgbClr val="1155CC"/>
          </a:solidFill>
          <a:ln w="38100" cap="flat" cmpd="sng">
            <a:solidFill>
              <a:srgbClr val="60B2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rgbClr val="FFFFFF"/>
                </a:solidFill>
              </a:rPr>
              <a:t>Alert Output</a:t>
            </a:r>
            <a:endParaRPr sz="16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>
                <a:solidFill>
                  <a:srgbClr val="FFFFFF"/>
                </a:solidFill>
              </a:rPr>
              <a:t>Detection Result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196350" y="2140250"/>
            <a:ext cx="27513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</a:rPr>
              <a:t>Normalized Event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30" name="Google Shape;130;p17"/>
          <p:cNvCxnSpPr>
            <a:stCxn id="127" idx="3"/>
            <a:endCxn id="122" idx="1"/>
          </p:cNvCxnSpPr>
          <p:nvPr/>
        </p:nvCxnSpPr>
        <p:spPr>
          <a:xfrm>
            <a:off x="2258800" y="1329300"/>
            <a:ext cx="1278300" cy="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31;p17"/>
          <p:cNvCxnSpPr>
            <a:stCxn id="128" idx="1"/>
            <a:endCxn id="122" idx="3"/>
          </p:cNvCxnSpPr>
          <p:nvPr/>
        </p:nvCxnSpPr>
        <p:spPr>
          <a:xfrm rot="10800000">
            <a:off x="5606900" y="1329300"/>
            <a:ext cx="1278300" cy="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" name="Google Shape;132;p17"/>
          <p:cNvCxnSpPr>
            <a:stCxn id="129" idx="0"/>
            <a:endCxn id="122" idx="2"/>
          </p:cNvCxnSpPr>
          <p:nvPr/>
        </p:nvCxnSpPr>
        <p:spPr>
          <a:xfrm rot="10800000">
            <a:off x="4572000" y="1772450"/>
            <a:ext cx="0" cy="367800"/>
          </a:xfrm>
          <a:prstGeom prst="straightConnector1">
            <a:avLst/>
          </a:prstGeom>
          <a:noFill/>
          <a:ln w="19050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" name="Google Shape;133;p17"/>
          <p:cNvSpPr txBox="1"/>
          <p:nvPr/>
        </p:nvSpPr>
        <p:spPr>
          <a:xfrm>
            <a:off x="2103700" y="1006775"/>
            <a:ext cx="15885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chemeClr val="dk1"/>
                </a:solidFill>
              </a:rPr>
              <a:t>Selected Events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" name="Google Shape;140;p18">
            <a:extLst>
              <a:ext uri="{FF2B5EF4-FFF2-40B4-BE49-F238E27FC236}">
                <a16:creationId xmlns:a16="http://schemas.microsoft.com/office/drawing/2014/main" id="{01B94C14-EBD9-2E64-7187-DFB24A72D6BD}"/>
              </a:ext>
            </a:extLst>
          </p:cNvPr>
          <p:cNvSpPr/>
          <p:nvPr/>
        </p:nvSpPr>
        <p:spPr>
          <a:xfrm>
            <a:off x="154700" y="3769150"/>
            <a:ext cx="2647500" cy="8010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security_task_fix_setuid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(new_euid=0)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5" name="Google Shape;141;p18">
            <a:extLst>
              <a:ext uri="{FF2B5EF4-FFF2-40B4-BE49-F238E27FC236}">
                <a16:creationId xmlns:a16="http://schemas.microsoft.com/office/drawing/2014/main" id="{CCD21F90-8C08-45CC-C90D-F34DD8CAE149}"/>
              </a:ext>
            </a:extLst>
          </p:cNvPr>
          <p:cNvSpPr/>
          <p:nvPr/>
        </p:nvSpPr>
        <p:spPr>
          <a:xfrm>
            <a:off x="3248250" y="3769150"/>
            <a:ext cx="2647500" cy="8010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sched_process_exec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(uid=0)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7" name="Google Shape;142;p18">
            <a:extLst>
              <a:ext uri="{FF2B5EF4-FFF2-40B4-BE49-F238E27FC236}">
                <a16:creationId xmlns:a16="http://schemas.microsoft.com/office/drawing/2014/main" id="{EDE255F5-3C0D-8AAE-6571-5DC29C1C98D2}"/>
              </a:ext>
            </a:extLst>
          </p:cNvPr>
          <p:cNvSpPr/>
          <p:nvPr/>
        </p:nvSpPr>
        <p:spPr>
          <a:xfrm>
            <a:off x="6341800" y="3769150"/>
            <a:ext cx="2647500" cy="801000"/>
          </a:xfrm>
          <a:prstGeom prst="rect">
            <a:avLst/>
          </a:prstGeom>
          <a:solidFill>
            <a:srgbClr val="E0666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Alert: Privilege Escalation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[MITRE: TA0004]</a:t>
            </a:r>
            <a:endParaRPr sz="1600" b="1">
              <a:solidFill>
                <a:schemeClr val="dk1"/>
              </a:solidFill>
            </a:endParaRPr>
          </a:p>
        </p:txBody>
      </p:sp>
      <p:cxnSp>
        <p:nvCxnSpPr>
          <p:cNvPr id="9" name="Google Shape;143;p18">
            <a:extLst>
              <a:ext uri="{FF2B5EF4-FFF2-40B4-BE49-F238E27FC236}">
                <a16:creationId xmlns:a16="http://schemas.microsoft.com/office/drawing/2014/main" id="{9DEB12AD-A759-8A03-7862-703FECD68469}"/>
              </a:ext>
            </a:extLst>
          </p:cNvPr>
          <p:cNvCxnSpPr/>
          <p:nvPr/>
        </p:nvCxnSpPr>
        <p:spPr>
          <a:xfrm>
            <a:off x="2802200" y="4169650"/>
            <a:ext cx="456602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oogle Shape;144;p18">
            <a:extLst>
              <a:ext uri="{FF2B5EF4-FFF2-40B4-BE49-F238E27FC236}">
                <a16:creationId xmlns:a16="http://schemas.microsoft.com/office/drawing/2014/main" id="{9AD491F2-D40C-51C1-DB37-08BBF6D934F9}"/>
              </a:ext>
            </a:extLst>
          </p:cNvPr>
          <p:cNvCxnSpPr/>
          <p:nvPr/>
        </p:nvCxnSpPr>
        <p:spPr>
          <a:xfrm>
            <a:off x="5895750" y="4169650"/>
            <a:ext cx="456602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Google Shape;145;p18">
            <a:extLst>
              <a:ext uri="{FF2B5EF4-FFF2-40B4-BE49-F238E27FC236}">
                <a16:creationId xmlns:a16="http://schemas.microsoft.com/office/drawing/2014/main" id="{FF518567-26E3-5573-3541-4959EE176433}"/>
              </a:ext>
            </a:extLst>
          </p:cNvPr>
          <p:cNvSpPr txBox="1"/>
          <p:nvPr/>
        </p:nvSpPr>
        <p:spPr>
          <a:xfrm>
            <a:off x="1854950" y="3051550"/>
            <a:ext cx="2340600" cy="439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</a:rPr>
              <a:t>[Within t seconds]</a:t>
            </a:r>
            <a:endParaRPr sz="1800" b="1">
              <a:solidFill>
                <a:schemeClr val="dk1"/>
              </a:solidFill>
            </a:endParaRPr>
          </a:p>
        </p:txBody>
      </p:sp>
      <p:cxnSp>
        <p:nvCxnSpPr>
          <p:cNvPr id="15" name="Google Shape;146;p18">
            <a:extLst>
              <a:ext uri="{FF2B5EF4-FFF2-40B4-BE49-F238E27FC236}">
                <a16:creationId xmlns:a16="http://schemas.microsoft.com/office/drawing/2014/main" id="{392A67B2-6199-3393-16C3-AE34ACC4F603}"/>
              </a:ext>
            </a:extLst>
          </p:cNvPr>
          <p:cNvCxnSpPr/>
          <p:nvPr/>
        </p:nvCxnSpPr>
        <p:spPr>
          <a:xfrm rot="16200000" flipH="1">
            <a:off x="3659750" y="2856850"/>
            <a:ext cx="277800" cy="15468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60B28E"/>
            </a:solidFill>
            <a:prstDash val="solid"/>
            <a:round/>
            <a:headEnd type="stealth" w="med" len="med"/>
            <a:tailEnd type="none" w="med" len="med"/>
          </a:ln>
        </p:spPr>
      </p:cxnSp>
      <p:cxnSp>
        <p:nvCxnSpPr>
          <p:cNvPr id="17" name="Google Shape;147;p18">
            <a:extLst>
              <a:ext uri="{FF2B5EF4-FFF2-40B4-BE49-F238E27FC236}">
                <a16:creationId xmlns:a16="http://schemas.microsoft.com/office/drawing/2014/main" id="{F6A6D635-5F7F-6625-C551-6E40A4EBE489}"/>
              </a:ext>
            </a:extLst>
          </p:cNvPr>
          <p:cNvCxnSpPr/>
          <p:nvPr/>
        </p:nvCxnSpPr>
        <p:spPr>
          <a:xfrm rot="5400000">
            <a:off x="2112950" y="2856850"/>
            <a:ext cx="277800" cy="15468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60B28E"/>
            </a:solidFill>
            <a:prstDash val="solid"/>
            <a:round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0" y="0"/>
            <a:ext cx="91440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it" sz="2700">
                <a:solidFill>
                  <a:srgbClr val="07376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Kernel Hook </a:t>
            </a:r>
            <a:r>
              <a:rPr lang="it" sz="2700" err="1">
                <a:solidFill>
                  <a:srgbClr val="07376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Implementation</a:t>
            </a:r>
            <a:r>
              <a:rPr lang="it" sz="2700">
                <a:solidFill>
                  <a:srgbClr val="07376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Strategy</a:t>
            </a:r>
            <a:endParaRPr sz="2400">
              <a:solidFill>
                <a:srgbClr val="073763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0" y="886200"/>
            <a:ext cx="32103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300"/>
              <a:buChar char="●"/>
            </a:pPr>
            <a:r>
              <a:rPr lang="it" sz="1700" b="1">
                <a:solidFill>
                  <a:srgbClr val="073763"/>
                </a:solidFill>
              </a:rPr>
              <a:t>Semantic hooks: </a:t>
            </a:r>
            <a:r>
              <a:rPr lang="it" sz="1700">
                <a:solidFill>
                  <a:srgbClr val="073763"/>
                </a:solidFill>
              </a:rPr>
              <a:t>Primarily based on kprobes and security hooks exposing resolved kernel objects.</a:t>
            </a:r>
            <a:endParaRPr sz="1700">
              <a:solidFill>
                <a:srgbClr val="073763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300"/>
              <a:buChar char="●"/>
            </a:pPr>
            <a:r>
              <a:rPr lang="it" sz="1700" b="1">
                <a:solidFill>
                  <a:srgbClr val="073763"/>
                </a:solidFill>
              </a:rPr>
              <a:t>Enter/exit model: </a:t>
            </a:r>
            <a:r>
              <a:rPr lang="it" sz="1700">
                <a:solidFill>
                  <a:srgbClr val="073763"/>
                </a:solidFill>
              </a:rPr>
              <a:t>Entry stores arguments; exit adds the final return value.</a:t>
            </a:r>
            <a:endParaRPr sz="1700">
              <a:solidFill>
                <a:srgbClr val="073763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700"/>
              <a:buChar char="●"/>
            </a:pPr>
            <a:r>
              <a:rPr lang="it" sz="1700" b="1">
                <a:solidFill>
                  <a:srgbClr val="073763"/>
                </a:solidFill>
              </a:rPr>
              <a:t>Kernel adaptation:</a:t>
            </a:r>
            <a:r>
              <a:rPr lang="it" sz="1700">
                <a:solidFill>
                  <a:srgbClr val="073763"/>
                </a:solidFill>
              </a:rPr>
              <a:t> Designed around Rocky Linux 4.18 verifier constraints.</a:t>
            </a:r>
            <a:endParaRPr sz="1700" b="1">
              <a:solidFill>
                <a:srgbClr val="073763"/>
              </a:solidFill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4616904" y="1129350"/>
            <a:ext cx="2767500" cy="4230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lt1"/>
                </a:solidFill>
              </a:rPr>
              <a:t>Required Information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4616904" y="1949950"/>
            <a:ext cx="2767500" cy="4230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lt1"/>
                </a:solidFill>
              </a:rPr>
              <a:t>Is the Return Value Required?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616904" y="3970250"/>
            <a:ext cx="2767500" cy="4230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lt1"/>
                </a:solidFill>
              </a:rPr>
              <a:t>Normalized Event in Go Userspace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6" name="Google Shape;166;p20"/>
          <p:cNvCxnSpPr>
            <a:stCxn id="163" idx="2"/>
            <a:endCxn id="164" idx="0"/>
          </p:cNvCxnSpPr>
          <p:nvPr/>
        </p:nvCxnSpPr>
        <p:spPr>
          <a:xfrm>
            <a:off x="6000654" y="1552350"/>
            <a:ext cx="0" cy="397500"/>
          </a:xfrm>
          <a:prstGeom prst="straightConnector1">
            <a:avLst/>
          </a:prstGeom>
          <a:noFill/>
          <a:ln w="22975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7" name="Google Shape;167;p20"/>
          <p:cNvSpPr/>
          <p:nvPr/>
        </p:nvSpPr>
        <p:spPr>
          <a:xfrm>
            <a:off x="3156250" y="2960100"/>
            <a:ext cx="2767500" cy="4230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lt1"/>
                </a:solidFill>
              </a:rPr>
              <a:t>Enter/Exit Model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6256307" y="2960100"/>
            <a:ext cx="2767500" cy="4230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lt1"/>
                </a:solidFill>
              </a:rPr>
              <a:t>Semantic Hook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169" name="Google Shape;169;p20"/>
          <p:cNvCxnSpPr>
            <a:stCxn id="164" idx="2"/>
            <a:endCxn id="167" idx="0"/>
          </p:cNvCxnSpPr>
          <p:nvPr/>
        </p:nvCxnSpPr>
        <p:spPr>
          <a:xfrm flipH="1">
            <a:off x="4539954" y="2372950"/>
            <a:ext cx="1460700" cy="587100"/>
          </a:xfrm>
          <a:prstGeom prst="straightConnector1">
            <a:avLst/>
          </a:prstGeom>
          <a:noFill/>
          <a:ln w="22975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20"/>
          <p:cNvCxnSpPr>
            <a:stCxn id="164" idx="2"/>
            <a:endCxn id="168" idx="0"/>
          </p:cNvCxnSpPr>
          <p:nvPr/>
        </p:nvCxnSpPr>
        <p:spPr>
          <a:xfrm>
            <a:off x="6000654" y="2372950"/>
            <a:ext cx="1639500" cy="587100"/>
          </a:xfrm>
          <a:prstGeom prst="straightConnector1">
            <a:avLst/>
          </a:prstGeom>
          <a:noFill/>
          <a:ln w="22975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20"/>
          <p:cNvCxnSpPr>
            <a:stCxn id="167" idx="2"/>
            <a:endCxn id="165" idx="0"/>
          </p:cNvCxnSpPr>
          <p:nvPr/>
        </p:nvCxnSpPr>
        <p:spPr>
          <a:xfrm>
            <a:off x="4540000" y="3383100"/>
            <a:ext cx="1460700" cy="587100"/>
          </a:xfrm>
          <a:prstGeom prst="straightConnector1">
            <a:avLst/>
          </a:prstGeom>
          <a:noFill/>
          <a:ln w="22975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20"/>
          <p:cNvCxnSpPr>
            <a:stCxn id="168" idx="2"/>
            <a:endCxn id="165" idx="0"/>
          </p:cNvCxnSpPr>
          <p:nvPr/>
        </p:nvCxnSpPr>
        <p:spPr>
          <a:xfrm flipH="1">
            <a:off x="6000557" y="3383100"/>
            <a:ext cx="1639500" cy="587100"/>
          </a:xfrm>
          <a:prstGeom prst="straightConnector1">
            <a:avLst/>
          </a:prstGeom>
          <a:noFill/>
          <a:ln w="22975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3" name="Google Shape;173;p20"/>
          <p:cNvSpPr txBox="1"/>
          <p:nvPr/>
        </p:nvSpPr>
        <p:spPr>
          <a:xfrm>
            <a:off x="4614750" y="2452650"/>
            <a:ext cx="5907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Yes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971597" y="2452650"/>
            <a:ext cx="59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No</a:t>
            </a:r>
            <a:endParaRPr sz="15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</p:txBody>
      </p:sp>
      <p:sp>
        <p:nvSpPr>
          <p:cNvPr id="175" name="Google Shape;175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543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Common eBPF Implementation Pattern</a:t>
            </a:r>
            <a:endParaRPr sz="28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203800" y="801000"/>
            <a:ext cx="1895100" cy="2940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program_data_t</a:t>
            </a:r>
            <a:endParaRPr sz="1174" b="1">
              <a:solidFill>
                <a:srgbClr val="FFFFFF"/>
              </a:solidFill>
            </a:endParaRPr>
          </a:p>
        </p:txBody>
      </p:sp>
      <p:cxnSp>
        <p:nvCxnSpPr>
          <p:cNvPr id="182" name="Google Shape;182;p21"/>
          <p:cNvCxnSpPr>
            <a:stCxn id="183" idx="3"/>
          </p:cNvCxnSpPr>
          <p:nvPr/>
        </p:nvCxnSpPr>
        <p:spPr>
          <a:xfrm rot="10800000" flipH="1">
            <a:off x="2098900" y="1425500"/>
            <a:ext cx="602400" cy="5400"/>
          </a:xfrm>
          <a:prstGeom prst="straightConnector1">
            <a:avLst/>
          </a:prstGeom>
          <a:noFill/>
          <a:ln w="38100" cap="flat" cmpd="sng">
            <a:solidFill>
              <a:srgbClr val="60B28E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3" name="Google Shape;183;p21"/>
          <p:cNvSpPr/>
          <p:nvPr/>
        </p:nvSpPr>
        <p:spPr>
          <a:xfrm>
            <a:off x="203800" y="1095050"/>
            <a:ext cx="1895100" cy="6717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Per-hook working state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2701300" y="801000"/>
            <a:ext cx="1895100" cy="2940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event_data_t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2701300" y="1095047"/>
            <a:ext cx="1895100" cy="31134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Event under construction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830841" y="1554585"/>
            <a:ext cx="1635900" cy="12438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event_context_t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2894857" y="1848611"/>
            <a:ext cx="1508100" cy="2940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timestamp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2894857" y="2138676"/>
            <a:ext cx="1508100" cy="2940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event ID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894857" y="2432723"/>
            <a:ext cx="1508100" cy="2940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task_context_t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2830841" y="2896222"/>
            <a:ext cx="1635900" cy="12438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args_buffer_t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2894857" y="3190269"/>
            <a:ext cx="1508100" cy="8448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Indexed and serialized arguments.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12850" y="4358450"/>
            <a:ext cx="8718300" cy="618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rgbClr val="042543"/>
                </a:solidFill>
              </a:rPr>
              <a:t>When the return value is required, entry stores the arguments and exit completes the event with the syscall outcome.</a:t>
            </a:r>
            <a:endParaRPr sz="1200" b="1">
              <a:solidFill>
                <a:srgbClr val="042543"/>
              </a:solidFill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198800" y="801000"/>
            <a:ext cx="1895100" cy="6717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init_program_data()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198800" y="2042212"/>
            <a:ext cx="1895100" cy="6717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save_to_submit_buf() /</a:t>
            </a:r>
            <a:endParaRPr sz="1174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save_str_to_buf() /</a:t>
            </a:r>
            <a:endParaRPr sz="1174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save_str_arr_to_buf()</a:t>
            </a:r>
            <a:endParaRPr sz="1174" b="1">
              <a:solidFill>
                <a:srgbClr val="FFFFFF"/>
              </a:solidFill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198800" y="3283437"/>
            <a:ext cx="1895100" cy="671700"/>
          </a:xfrm>
          <a:prstGeom prst="rect">
            <a:avLst/>
          </a:prstGeom>
          <a:solidFill>
            <a:srgbClr val="1155CC"/>
          </a:solidFill>
          <a:ln w="319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650" tIns="76650" rIns="76650" bIns="76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74" b="1">
                <a:solidFill>
                  <a:srgbClr val="FFFFFF"/>
                </a:solidFill>
              </a:rPr>
              <a:t>events_perf_submit()</a:t>
            </a:r>
            <a:endParaRPr sz="1174" b="1">
              <a:solidFill>
                <a:srgbClr val="FFFFFF"/>
              </a:solidFill>
            </a:endParaRPr>
          </a:p>
        </p:txBody>
      </p:sp>
      <p:cxnSp>
        <p:nvCxnSpPr>
          <p:cNvPr id="196" name="Google Shape;196;p21"/>
          <p:cNvCxnSpPr>
            <a:stCxn id="193" idx="2"/>
            <a:endCxn id="194" idx="0"/>
          </p:cNvCxnSpPr>
          <p:nvPr/>
        </p:nvCxnSpPr>
        <p:spPr>
          <a:xfrm>
            <a:off x="6146350" y="1472700"/>
            <a:ext cx="0" cy="569400"/>
          </a:xfrm>
          <a:prstGeom prst="straightConnector1">
            <a:avLst/>
          </a:prstGeom>
          <a:noFill/>
          <a:ln w="38100" cap="flat" cmpd="sng">
            <a:solidFill>
              <a:srgbClr val="60B28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21"/>
          <p:cNvCxnSpPr>
            <a:stCxn id="194" idx="2"/>
            <a:endCxn id="195" idx="0"/>
          </p:cNvCxnSpPr>
          <p:nvPr/>
        </p:nvCxnSpPr>
        <p:spPr>
          <a:xfrm>
            <a:off x="6146350" y="2713912"/>
            <a:ext cx="0" cy="569400"/>
          </a:xfrm>
          <a:prstGeom prst="straightConnector1">
            <a:avLst/>
          </a:prstGeom>
          <a:noFill/>
          <a:ln w="38100" cap="flat" cmpd="sng">
            <a:solidFill>
              <a:srgbClr val="60B28E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8" name="Google Shape;198;p21"/>
          <p:cNvSpPr txBox="1"/>
          <p:nvPr/>
        </p:nvSpPr>
        <p:spPr>
          <a:xfrm>
            <a:off x="7182000" y="874200"/>
            <a:ext cx="18012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6D9EEB"/>
                </a:solidFill>
              </a:rPr>
              <a:t>Context Initialization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7182000" y="2115400"/>
            <a:ext cx="18012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6D9EEB"/>
                </a:solidFill>
              </a:rPr>
              <a:t>Typed Serialization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7182000" y="3350025"/>
            <a:ext cx="1801200" cy="5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rgbClr val="6D9EEB"/>
                </a:solidFill>
              </a:rPr>
              <a:t>Perf-Buffer Submission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1" name="Google Shape;20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543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Process Lifecycle</a:t>
            </a:r>
            <a:endParaRPr sz="28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cxnSp>
        <p:nvCxnSpPr>
          <p:cNvPr id="207" name="Google Shape;207;p22"/>
          <p:cNvCxnSpPr/>
          <p:nvPr/>
        </p:nvCxnSpPr>
        <p:spPr>
          <a:xfrm>
            <a:off x="290350" y="2770850"/>
            <a:ext cx="8744100" cy="0"/>
          </a:xfrm>
          <a:prstGeom prst="straightConnector1">
            <a:avLst/>
          </a:prstGeom>
          <a:noFill/>
          <a:ln w="76200" cap="flat" cmpd="sng">
            <a:solidFill>
              <a:srgbClr val="60B28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22"/>
          <p:cNvCxnSpPr/>
          <p:nvPr/>
        </p:nvCxnSpPr>
        <p:spPr>
          <a:xfrm>
            <a:off x="1330450" y="2458425"/>
            <a:ext cx="0" cy="588900"/>
          </a:xfrm>
          <a:prstGeom prst="straightConnector1">
            <a:avLst/>
          </a:prstGeom>
          <a:noFill/>
          <a:ln w="76200" cap="flat" cmpd="sng">
            <a:solidFill>
              <a:srgbClr val="60B28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2"/>
          <p:cNvCxnSpPr/>
          <p:nvPr/>
        </p:nvCxnSpPr>
        <p:spPr>
          <a:xfrm>
            <a:off x="2951200" y="2458425"/>
            <a:ext cx="0" cy="588900"/>
          </a:xfrm>
          <a:prstGeom prst="straightConnector1">
            <a:avLst/>
          </a:prstGeom>
          <a:noFill/>
          <a:ln w="76200" cap="flat" cmpd="sng">
            <a:solidFill>
              <a:srgbClr val="60B28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2"/>
          <p:cNvCxnSpPr/>
          <p:nvPr/>
        </p:nvCxnSpPr>
        <p:spPr>
          <a:xfrm>
            <a:off x="4580300" y="2458425"/>
            <a:ext cx="0" cy="588900"/>
          </a:xfrm>
          <a:prstGeom prst="straightConnector1">
            <a:avLst/>
          </a:prstGeom>
          <a:noFill/>
          <a:ln w="76200" cap="flat" cmpd="sng">
            <a:solidFill>
              <a:srgbClr val="60B28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2"/>
          <p:cNvCxnSpPr/>
          <p:nvPr/>
        </p:nvCxnSpPr>
        <p:spPr>
          <a:xfrm>
            <a:off x="6192775" y="2458425"/>
            <a:ext cx="0" cy="588900"/>
          </a:xfrm>
          <a:prstGeom prst="straightConnector1">
            <a:avLst/>
          </a:prstGeom>
          <a:noFill/>
          <a:ln w="76200" cap="flat" cmpd="sng">
            <a:solidFill>
              <a:srgbClr val="60B28E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2"/>
          <p:cNvCxnSpPr/>
          <p:nvPr/>
        </p:nvCxnSpPr>
        <p:spPr>
          <a:xfrm>
            <a:off x="7813550" y="2458425"/>
            <a:ext cx="0" cy="588900"/>
          </a:xfrm>
          <a:prstGeom prst="straightConnector1">
            <a:avLst/>
          </a:prstGeom>
          <a:noFill/>
          <a:ln w="76200" cap="flat" cmpd="sng">
            <a:solidFill>
              <a:srgbClr val="60B28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3" name="Google Shape;213;p22"/>
          <p:cNvSpPr/>
          <p:nvPr/>
        </p:nvSpPr>
        <p:spPr>
          <a:xfrm>
            <a:off x="59500" y="662375"/>
            <a:ext cx="2541900" cy="17055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fork / vfork / clone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lt1"/>
                </a:solidFill>
              </a:rPr>
              <a:t>Syscall Request:</a:t>
            </a:r>
            <a:endParaRPr sz="16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Capture the initial process-creation request.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1680250" y="3101850"/>
            <a:ext cx="2541900" cy="17055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sched_process_fork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lt1"/>
                </a:solidFill>
              </a:rPr>
              <a:t>Parent-child relationship:</a:t>
            </a:r>
            <a:endParaRPr sz="16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Observe the task relationship established by the kernel.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309350" y="662375"/>
            <a:ext cx="2541900" cy="17055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task_rename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lt1"/>
                </a:solidFill>
              </a:rPr>
              <a:t>Task transition:</a:t>
            </a:r>
            <a:endParaRPr sz="16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Track changes to the process comm.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4921825" y="3101850"/>
            <a:ext cx="2541900" cy="17055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sched_process_exec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lt1"/>
                </a:solidFill>
              </a:rPr>
              <a:t>Executable image:</a:t>
            </a:r>
            <a:endParaRPr sz="16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Confirm successful image replacement.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542600" y="662375"/>
            <a:ext cx="2541900" cy="17055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sched_process_exit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lt1"/>
                </a:solidFill>
              </a:rPr>
              <a:t>Termination:</a:t>
            </a:r>
            <a:endParaRPr sz="16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Record process exit and exit code.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18" name="Google Shape;21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/>
          <p:nvPr/>
        </p:nvSpPr>
        <p:spPr>
          <a:xfrm>
            <a:off x="68975" y="1404900"/>
            <a:ext cx="2049000" cy="22689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/>
              <a:t>Initial request</a:t>
            </a:r>
            <a:endParaRPr b="1"/>
          </a:p>
        </p:txBody>
      </p:sp>
      <p:sp>
        <p:nvSpPr>
          <p:cNvPr id="224" name="Google Shape;224;p23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rgbClr val="04254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Execution Monitoring: Attempts and Outcomes</a:t>
            </a:r>
            <a:endParaRPr sz="2800">
              <a:solidFill>
                <a:srgbClr val="042543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262475" y="1881713"/>
            <a:ext cx="1662000" cy="636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execve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262475" y="2722688"/>
            <a:ext cx="1662000" cy="636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execveat</a:t>
            </a:r>
            <a:endParaRPr sz="1600" b="1">
              <a:solidFill>
                <a:schemeClr val="dk1"/>
              </a:solidFill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2552525" y="1992450"/>
            <a:ext cx="2411100" cy="1093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security_bprm_check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</a:rPr>
              <a:t>Security Validation:</a:t>
            </a:r>
            <a:endParaRPr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Observes executable-image security checks.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398175" y="1992450"/>
            <a:ext cx="3495000" cy="1093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security_bprm_creds_for_exec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>
                <a:solidFill>
                  <a:srgbClr val="042543"/>
                </a:solidFill>
              </a:rPr>
              <a:t>Credential preparation:</a:t>
            </a:r>
            <a:endParaRPr b="1">
              <a:solidFill>
                <a:srgbClr val="04254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42543"/>
                </a:solidFill>
              </a:rPr>
              <a:t>Observes credentials prepared for the new image.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5398175" y="619650"/>
            <a:ext cx="3495000" cy="8847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sched_process_exec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</a:rPr>
              <a:t>Successful outcome: </a:t>
            </a:r>
            <a:r>
              <a:rPr lang="it">
                <a:solidFill>
                  <a:schemeClr val="dk1"/>
                </a:solidFill>
              </a:rPr>
              <a:t>Confirms executable-image replacement.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5398175" y="3577950"/>
            <a:ext cx="3495000" cy="10938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dk1"/>
                </a:solidFill>
              </a:rPr>
              <a:t>process_execute_failed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dk1"/>
                </a:solidFill>
              </a:rPr>
              <a:t>Failed outcome: </a:t>
            </a:r>
            <a:r>
              <a:rPr lang="it">
                <a:solidFill>
                  <a:schemeClr val="dk1"/>
                </a:solidFill>
              </a:rPr>
              <a:t>Reports isolated failures with a normalized errno.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31" name="Google Shape;231;p23"/>
          <p:cNvCxnSpPr>
            <a:stCxn id="223" idx="3"/>
            <a:endCxn id="227" idx="1"/>
          </p:cNvCxnSpPr>
          <p:nvPr/>
        </p:nvCxnSpPr>
        <p:spPr>
          <a:xfrm>
            <a:off x="2117975" y="2539350"/>
            <a:ext cx="434700" cy="0"/>
          </a:xfrm>
          <a:prstGeom prst="straightConnector1">
            <a:avLst/>
          </a:prstGeom>
          <a:noFill/>
          <a:ln w="38100" cap="flat" cmpd="sng">
            <a:solidFill>
              <a:srgbClr val="60B28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2" name="Google Shape;232;p23"/>
          <p:cNvCxnSpPr/>
          <p:nvPr/>
        </p:nvCxnSpPr>
        <p:spPr>
          <a:xfrm>
            <a:off x="4963625" y="2571750"/>
            <a:ext cx="434700" cy="0"/>
          </a:xfrm>
          <a:prstGeom prst="straightConnector1">
            <a:avLst/>
          </a:prstGeom>
          <a:noFill/>
          <a:ln w="38100" cap="flat" cmpd="sng">
            <a:solidFill>
              <a:srgbClr val="60B28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3" name="Google Shape;233;p23"/>
          <p:cNvCxnSpPr>
            <a:stCxn id="228" idx="0"/>
            <a:endCxn id="229" idx="2"/>
          </p:cNvCxnSpPr>
          <p:nvPr/>
        </p:nvCxnSpPr>
        <p:spPr>
          <a:xfrm rot="10800000">
            <a:off x="7145675" y="1504350"/>
            <a:ext cx="0" cy="488100"/>
          </a:xfrm>
          <a:prstGeom prst="straightConnector1">
            <a:avLst/>
          </a:prstGeom>
          <a:noFill/>
          <a:ln w="38100" cap="flat" cmpd="sng">
            <a:solidFill>
              <a:srgbClr val="60B28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4" name="Google Shape;234;p23"/>
          <p:cNvCxnSpPr>
            <a:stCxn id="228" idx="2"/>
            <a:endCxn id="230" idx="0"/>
          </p:cNvCxnSpPr>
          <p:nvPr/>
        </p:nvCxnSpPr>
        <p:spPr>
          <a:xfrm>
            <a:off x="7145675" y="3086250"/>
            <a:ext cx="0" cy="4917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5" name="Google Shape;23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rgbClr val="04254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Identity, Credentials, and Capabilities</a:t>
            </a:r>
            <a:endParaRPr sz="2800">
              <a:solidFill>
                <a:srgbClr val="042543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271229" y="1129350"/>
            <a:ext cx="2767500" cy="4230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lt1"/>
                </a:solidFill>
              </a:rPr>
              <a:t>Previous Credentials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271229" y="1949950"/>
            <a:ext cx="2767500" cy="4230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lt1"/>
                </a:solidFill>
              </a:rPr>
              <a:t>setuid / setgid Families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3" name="Google Shape;243;p24"/>
          <p:cNvCxnSpPr>
            <a:stCxn id="241" idx="2"/>
            <a:endCxn id="242" idx="0"/>
          </p:cNvCxnSpPr>
          <p:nvPr/>
        </p:nvCxnSpPr>
        <p:spPr>
          <a:xfrm>
            <a:off x="1654979" y="1552350"/>
            <a:ext cx="0" cy="397500"/>
          </a:xfrm>
          <a:prstGeom prst="straightConnector1">
            <a:avLst/>
          </a:prstGeom>
          <a:noFill/>
          <a:ln w="22975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4" name="Google Shape;244;p24"/>
          <p:cNvCxnSpPr>
            <a:stCxn id="242" idx="2"/>
            <a:endCxn id="245" idx="0"/>
          </p:cNvCxnSpPr>
          <p:nvPr/>
        </p:nvCxnSpPr>
        <p:spPr>
          <a:xfrm>
            <a:off x="1654979" y="2372950"/>
            <a:ext cx="0" cy="397500"/>
          </a:xfrm>
          <a:prstGeom prst="straightConnector1">
            <a:avLst/>
          </a:prstGeom>
          <a:noFill/>
          <a:ln w="22975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24"/>
          <p:cNvSpPr/>
          <p:nvPr/>
        </p:nvSpPr>
        <p:spPr>
          <a:xfrm>
            <a:off x="271229" y="2770550"/>
            <a:ext cx="2767500" cy="4230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lt1"/>
                </a:solidFill>
              </a:rPr>
              <a:t>security_task_fix_setuid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271229" y="3591150"/>
            <a:ext cx="2767500" cy="4230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3810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>
                <a:solidFill>
                  <a:schemeClr val="lt1"/>
                </a:solidFill>
              </a:rPr>
              <a:t>commit_creds</a:t>
            </a:r>
            <a:endParaRPr b="1">
              <a:solidFill>
                <a:schemeClr val="lt1"/>
              </a:solidFill>
            </a:endParaRPr>
          </a:p>
        </p:txBody>
      </p:sp>
      <p:cxnSp>
        <p:nvCxnSpPr>
          <p:cNvPr id="247" name="Google Shape;247;p24"/>
          <p:cNvCxnSpPr>
            <a:stCxn id="245" idx="2"/>
            <a:endCxn id="246" idx="0"/>
          </p:cNvCxnSpPr>
          <p:nvPr/>
        </p:nvCxnSpPr>
        <p:spPr>
          <a:xfrm>
            <a:off x="1654979" y="3193550"/>
            <a:ext cx="0" cy="397500"/>
          </a:xfrm>
          <a:prstGeom prst="straightConnector1">
            <a:avLst/>
          </a:prstGeom>
          <a:noFill/>
          <a:ln w="22975" cap="flat" cmpd="sng">
            <a:solidFill>
              <a:srgbClr val="6FA8D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8" name="Google Shape;248;p24"/>
          <p:cNvSpPr txBox="1"/>
          <p:nvPr/>
        </p:nvSpPr>
        <p:spPr>
          <a:xfrm>
            <a:off x="3148900" y="1960650"/>
            <a:ext cx="26481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42543"/>
                </a:solidFill>
              </a:rPr>
              <a:t>Userspace Request</a:t>
            </a:r>
            <a:endParaRPr>
              <a:solidFill>
                <a:srgbClr val="042543"/>
              </a:solidFill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3148900" y="2702550"/>
            <a:ext cx="26481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42543"/>
                </a:solidFill>
              </a:rPr>
              <a:t>Security-Path Validation</a:t>
            </a:r>
            <a:endParaRPr>
              <a:solidFill>
                <a:srgbClr val="042543"/>
              </a:solidFill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3148900" y="3517800"/>
            <a:ext cx="2648100" cy="3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042543"/>
                </a:solidFill>
              </a:rPr>
              <a:t>Final Credential Commit</a:t>
            </a:r>
            <a:endParaRPr>
              <a:solidFill>
                <a:srgbClr val="042543"/>
              </a:solidFill>
            </a:endParaRPr>
          </a:p>
        </p:txBody>
      </p:sp>
      <p:cxnSp>
        <p:nvCxnSpPr>
          <p:cNvPr id="251" name="Google Shape;251;p24"/>
          <p:cNvCxnSpPr/>
          <p:nvPr/>
        </p:nvCxnSpPr>
        <p:spPr>
          <a:xfrm rot="5400000">
            <a:off x="3626800" y="2824850"/>
            <a:ext cx="4354800" cy="14400"/>
          </a:xfrm>
          <a:prstGeom prst="straightConnector1">
            <a:avLst/>
          </a:prstGeom>
          <a:noFill/>
          <a:ln w="38100" cap="flat" cmpd="sng">
            <a:solidFill>
              <a:srgbClr val="04254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2" name="Google Shape;252;p24"/>
          <p:cNvSpPr/>
          <p:nvPr/>
        </p:nvSpPr>
        <p:spPr>
          <a:xfrm>
            <a:off x="6105275" y="1075400"/>
            <a:ext cx="2767500" cy="3513300"/>
          </a:xfrm>
          <a:prstGeom prst="rect">
            <a:avLst/>
          </a:prstGeom>
          <a:noFill/>
          <a:ln w="38100" cap="flat" cmpd="sng">
            <a:solidFill>
              <a:srgbClr val="0425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</a:rPr>
              <a:t>Capability and process control</a:t>
            </a:r>
            <a:endParaRPr sz="1800" b="1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 b="1">
                <a:solidFill>
                  <a:schemeClr val="dk1"/>
                </a:solidFill>
              </a:rPr>
              <a:t>cap_capable: </a:t>
            </a:r>
            <a:r>
              <a:rPr lang="it" sz="1600">
                <a:solidFill>
                  <a:schemeClr val="dk1"/>
                </a:solidFill>
              </a:rPr>
              <a:t>Observes checks for specific capabilities.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 b="1">
                <a:solidFill>
                  <a:schemeClr val="dk1"/>
                </a:solidFill>
              </a:rPr>
              <a:t>ptrace </a:t>
            </a:r>
            <a:r>
              <a:rPr lang="it" sz="1600">
                <a:solidFill>
                  <a:schemeClr val="dk1"/>
                </a:solidFill>
              </a:rPr>
              <a:t>and </a:t>
            </a:r>
            <a:r>
              <a:rPr lang="it" sz="1600" b="1">
                <a:solidFill>
                  <a:schemeClr val="dk1"/>
                </a:solidFill>
              </a:rPr>
              <a:t>security_task_prctl: </a:t>
            </a:r>
            <a:r>
              <a:rPr lang="it" sz="1600">
                <a:solidFill>
                  <a:schemeClr val="dk1"/>
                </a:solidFill>
              </a:rPr>
              <a:t>Observe direct process interaction and state manipulation.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3" name="Google Shape;25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rgbClr val="04254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File, Permission, and Filesystem Security</a:t>
            </a:r>
            <a:endParaRPr sz="2800">
              <a:solidFill>
                <a:srgbClr val="042543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cxnSp>
        <p:nvCxnSpPr>
          <p:cNvPr id="259" name="Google Shape;259;p25"/>
          <p:cNvCxnSpPr/>
          <p:nvPr/>
        </p:nvCxnSpPr>
        <p:spPr>
          <a:xfrm>
            <a:off x="4653500" y="801000"/>
            <a:ext cx="0" cy="3974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0" name="Google Shape;260;p25"/>
          <p:cNvCxnSpPr/>
          <p:nvPr/>
        </p:nvCxnSpPr>
        <p:spPr>
          <a:xfrm rot="10800000">
            <a:off x="439950" y="2784300"/>
            <a:ext cx="82641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1" name="Google Shape;261;p25"/>
          <p:cNvSpPr txBox="1"/>
          <p:nvPr/>
        </p:nvSpPr>
        <p:spPr>
          <a:xfrm>
            <a:off x="0" y="801000"/>
            <a:ext cx="4572000" cy="18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42543"/>
                </a:solidFill>
              </a:rPr>
              <a:t>File Access</a:t>
            </a:r>
            <a:endParaRPr sz="1800" b="1">
              <a:solidFill>
                <a:srgbClr val="04254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42543"/>
              </a:buClr>
              <a:buSzPts val="1800"/>
              <a:buChar char="-"/>
            </a:pPr>
            <a:r>
              <a:rPr lang="it" sz="1800" b="1">
                <a:solidFill>
                  <a:srgbClr val="042543"/>
                </a:solidFill>
              </a:rPr>
              <a:t>open: </a:t>
            </a:r>
            <a:r>
              <a:rPr lang="it" sz="1800">
                <a:solidFill>
                  <a:srgbClr val="042543"/>
                </a:solidFill>
              </a:rPr>
              <a:t>reports the syscall outcome.</a:t>
            </a:r>
            <a:endParaRPr sz="1800">
              <a:solidFill>
                <a:srgbClr val="04254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42543"/>
              </a:buClr>
              <a:buSzPts val="1800"/>
              <a:buChar char="-"/>
            </a:pPr>
            <a:r>
              <a:rPr lang="it" sz="1800" b="1">
                <a:solidFill>
                  <a:srgbClr val="042543"/>
                </a:solidFill>
              </a:rPr>
              <a:t>security_file_open / security_file_permission: </a:t>
            </a:r>
            <a:r>
              <a:rPr lang="it" sz="1800">
                <a:solidFill>
                  <a:srgbClr val="042543"/>
                </a:solidFill>
              </a:rPr>
              <a:t>expose stable metadata (path, inode, device, and ctime)</a:t>
            </a:r>
            <a:endParaRPr sz="1800">
              <a:solidFill>
                <a:srgbClr val="042543"/>
              </a:solidFill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4693275" y="2877600"/>
            <a:ext cx="4572000" cy="18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42543"/>
                </a:solidFill>
              </a:rPr>
              <a:t>Mounting</a:t>
            </a:r>
            <a:endParaRPr sz="1800" b="1">
              <a:solidFill>
                <a:srgbClr val="04254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42543"/>
              </a:buClr>
              <a:buSzPts val="1800"/>
              <a:buChar char="-"/>
            </a:pPr>
            <a:r>
              <a:rPr lang="it" sz="1800" b="1">
                <a:solidFill>
                  <a:srgbClr val="042543"/>
                </a:solidFill>
              </a:rPr>
              <a:t>security_sb_mount /  security_sb_unumount: </a:t>
            </a:r>
            <a:r>
              <a:rPr lang="it" sz="1800">
                <a:solidFill>
                  <a:srgbClr val="042543"/>
                </a:solidFill>
              </a:rPr>
              <a:t>observe mount points and associated flags.</a:t>
            </a:r>
            <a:endParaRPr sz="1800">
              <a:solidFill>
                <a:srgbClr val="042543"/>
              </a:solidFill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0" y="2877600"/>
            <a:ext cx="4572000" cy="18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42543"/>
                </a:solidFill>
              </a:rPr>
              <a:t>Inode</a:t>
            </a:r>
            <a:endParaRPr sz="1800" b="1">
              <a:solidFill>
                <a:srgbClr val="04254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42543"/>
              </a:buClr>
              <a:buSzPts val="1800"/>
              <a:buChar char="-"/>
            </a:pPr>
            <a:r>
              <a:rPr lang="it" sz="1800" b="1">
                <a:solidFill>
                  <a:srgbClr val="042543"/>
                </a:solidFill>
              </a:rPr>
              <a:t>unlink, rename, symlink and mknod: </a:t>
            </a:r>
            <a:r>
              <a:rPr lang="it" sz="1800">
                <a:solidFill>
                  <a:srgbClr val="042543"/>
                </a:solidFill>
              </a:rPr>
              <a:t>track structural filesystem changes.</a:t>
            </a:r>
            <a:endParaRPr sz="1800">
              <a:solidFill>
                <a:srgbClr val="042543"/>
              </a:solidFill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4693275" y="843600"/>
            <a:ext cx="4572000" cy="18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42543"/>
                </a:solidFill>
              </a:rPr>
              <a:t>Permissions</a:t>
            </a:r>
            <a:endParaRPr sz="1800" b="1">
              <a:solidFill>
                <a:srgbClr val="04254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42543"/>
              </a:buClr>
              <a:buSzPts val="1800"/>
              <a:buChar char="-"/>
            </a:pPr>
            <a:r>
              <a:rPr lang="it" sz="1800">
                <a:solidFill>
                  <a:srgbClr val="042543"/>
                </a:solidFill>
              </a:rPr>
              <a:t>The </a:t>
            </a:r>
            <a:r>
              <a:rPr lang="it" sz="1800" b="1">
                <a:solidFill>
                  <a:srgbClr val="042543"/>
                </a:solidFill>
              </a:rPr>
              <a:t>chmod </a:t>
            </a:r>
            <a:r>
              <a:rPr lang="it" sz="1800">
                <a:solidFill>
                  <a:srgbClr val="042543"/>
                </a:solidFill>
              </a:rPr>
              <a:t>and </a:t>
            </a:r>
            <a:r>
              <a:rPr lang="it" sz="1800" b="1">
                <a:solidFill>
                  <a:srgbClr val="042543"/>
                </a:solidFill>
              </a:rPr>
              <a:t>chown</a:t>
            </a:r>
            <a:r>
              <a:rPr lang="it" sz="1800">
                <a:solidFill>
                  <a:srgbClr val="042543"/>
                </a:solidFill>
              </a:rPr>
              <a:t> families monitor permission and ownership changes, including return values.</a:t>
            </a:r>
            <a:endParaRPr sz="1800">
              <a:solidFill>
                <a:srgbClr val="042543"/>
              </a:solidFill>
            </a:endParaRPr>
          </a:p>
        </p:txBody>
      </p:sp>
      <p:sp>
        <p:nvSpPr>
          <p:cNvPr id="265" name="Google Shape;26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rgbClr val="04254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Memory and Namespaces</a:t>
            </a:r>
            <a:endParaRPr sz="2800">
              <a:solidFill>
                <a:srgbClr val="042543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cxnSp>
        <p:nvCxnSpPr>
          <p:cNvPr id="271" name="Google Shape;271;p26"/>
          <p:cNvCxnSpPr/>
          <p:nvPr/>
        </p:nvCxnSpPr>
        <p:spPr>
          <a:xfrm rot="10800000">
            <a:off x="439950" y="2784300"/>
            <a:ext cx="8264100" cy="8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26"/>
          <p:cNvSpPr txBox="1"/>
          <p:nvPr/>
        </p:nvSpPr>
        <p:spPr>
          <a:xfrm>
            <a:off x="0" y="3005025"/>
            <a:ext cx="2819700" cy="18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73763"/>
                </a:solidFill>
              </a:rPr>
              <a:t>Namespace Transitions</a:t>
            </a:r>
            <a:endParaRPr sz="1800">
              <a:solidFill>
                <a:srgbClr val="073763"/>
              </a:solidFill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0" y="760575"/>
            <a:ext cx="2819700" cy="18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73763"/>
                </a:solidFill>
              </a:rPr>
              <a:t>Memory Management</a:t>
            </a:r>
            <a:endParaRPr sz="1800">
              <a:solidFill>
                <a:srgbClr val="073763"/>
              </a:solidFill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2762750" y="847575"/>
            <a:ext cx="5941200" cy="17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solidFill>
                  <a:schemeClr val="dk2"/>
                </a:solidFill>
              </a:rPr>
              <a:t>mmap</a:t>
            </a:r>
            <a:endParaRPr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solidFill>
                  <a:schemeClr val="dk2"/>
                </a:solidFill>
              </a:rPr>
              <a:t>mprotect</a:t>
            </a:r>
            <a:endParaRPr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solidFill>
                  <a:schemeClr val="dk2"/>
                </a:solidFill>
              </a:rPr>
              <a:t>pkey_mprotect</a:t>
            </a:r>
            <a:endParaRPr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solidFill>
                  <a:schemeClr val="dk2"/>
                </a:solidFill>
              </a:rPr>
              <a:t>memfd_create</a:t>
            </a:r>
            <a:endParaRPr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solidFill>
                  <a:schemeClr val="dk2"/>
                </a:solidFill>
              </a:rPr>
              <a:t>process_vm_readv / process_vm_writev</a:t>
            </a:r>
            <a:endParaRPr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</a:rPr>
              <a:t>Visibility into executable-memory transitions, fileless execution, unusual mappings, and cross-process memory access.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2819700" y="3091950"/>
            <a:ext cx="5941200" cy="17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solidFill>
                  <a:schemeClr val="dk2"/>
                </a:solidFill>
              </a:rPr>
              <a:t>setns</a:t>
            </a:r>
            <a:endParaRPr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solidFill>
                  <a:schemeClr val="dk2"/>
                </a:solidFill>
              </a:rPr>
              <a:t>unshare</a:t>
            </a:r>
            <a:endParaRPr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i="1">
                <a:solidFill>
                  <a:schemeClr val="dk2"/>
                </a:solidFill>
              </a:rPr>
              <a:t>switch_task_ns</a:t>
            </a:r>
            <a:endParaRPr i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2"/>
                </a:solidFill>
              </a:rPr>
              <a:t>Observes isolation requests and verifies the namespace changes effectively applied by the kernel.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76" name="Google Shape;27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rgbClr val="04254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Kernel Hardening and Modules</a:t>
            </a:r>
            <a:endParaRPr sz="2800">
              <a:solidFill>
                <a:srgbClr val="042543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5802600" y="801000"/>
            <a:ext cx="3131100" cy="3942000"/>
          </a:xfrm>
          <a:prstGeom prst="rect">
            <a:avLst/>
          </a:prstGeom>
          <a:noFill/>
          <a:ln w="3917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25350" tIns="125350" rIns="125350" bIns="1253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450" b="1"/>
              <a:t>Example of a scenario observable through distinct events</a:t>
            </a:r>
            <a:endParaRPr sz="1450" b="1"/>
          </a:p>
        </p:txBody>
      </p:sp>
      <p:sp>
        <p:nvSpPr>
          <p:cNvPr id="283" name="Google Shape;283;p27"/>
          <p:cNvSpPr/>
          <p:nvPr/>
        </p:nvSpPr>
        <p:spPr>
          <a:xfrm>
            <a:off x="6228750" y="1637575"/>
            <a:ext cx="2278800" cy="609300"/>
          </a:xfrm>
          <a:prstGeom prst="rect">
            <a:avLst/>
          </a:prstGeom>
          <a:noFill/>
          <a:ln w="522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350" tIns="125350" rIns="125350" bIns="125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</a:rPr>
              <a:t>module load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6228750" y="2732100"/>
            <a:ext cx="2278800" cy="609300"/>
          </a:xfrm>
          <a:prstGeom prst="rect">
            <a:avLst/>
          </a:prstGeom>
          <a:noFill/>
          <a:ln w="522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350" tIns="125350" rIns="125350" bIns="125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</a:rPr>
              <a:t>register_kprobe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6228750" y="3826625"/>
            <a:ext cx="2278800" cy="609300"/>
          </a:xfrm>
          <a:prstGeom prst="rect">
            <a:avLst/>
          </a:prstGeom>
          <a:noFill/>
          <a:ln w="522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350" tIns="125350" rIns="125350" bIns="1253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</a:rPr>
              <a:t>procfs Entry</a:t>
            </a:r>
            <a:endParaRPr sz="1800" b="1">
              <a:solidFill>
                <a:schemeClr val="dk1"/>
              </a:solidFill>
            </a:endParaRPr>
          </a:p>
        </p:txBody>
      </p:sp>
      <p:cxnSp>
        <p:nvCxnSpPr>
          <p:cNvPr id="286" name="Google Shape;286;p27"/>
          <p:cNvCxnSpPr>
            <a:stCxn id="283" idx="2"/>
            <a:endCxn id="284" idx="0"/>
          </p:cNvCxnSpPr>
          <p:nvPr/>
        </p:nvCxnSpPr>
        <p:spPr>
          <a:xfrm>
            <a:off x="7368150" y="2246875"/>
            <a:ext cx="0" cy="485100"/>
          </a:xfrm>
          <a:prstGeom prst="straightConnector1">
            <a:avLst/>
          </a:prstGeom>
          <a:noFill/>
          <a:ln w="38100" cap="flat" cmpd="sng">
            <a:solidFill>
              <a:srgbClr val="60B28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7" name="Google Shape;287;p27"/>
          <p:cNvCxnSpPr>
            <a:stCxn id="284" idx="2"/>
            <a:endCxn id="285" idx="0"/>
          </p:cNvCxnSpPr>
          <p:nvPr/>
        </p:nvCxnSpPr>
        <p:spPr>
          <a:xfrm>
            <a:off x="7368150" y="3341400"/>
            <a:ext cx="0" cy="485100"/>
          </a:xfrm>
          <a:prstGeom prst="straightConnector1">
            <a:avLst/>
          </a:prstGeom>
          <a:noFill/>
          <a:ln w="38100" cap="flat" cmpd="sng">
            <a:solidFill>
              <a:srgbClr val="60B28E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88" name="Google Shape;288;p27"/>
          <p:cNvCxnSpPr/>
          <p:nvPr/>
        </p:nvCxnSpPr>
        <p:spPr>
          <a:xfrm rot="10800000">
            <a:off x="474000" y="1680500"/>
            <a:ext cx="5017500" cy="16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9" name="Google Shape;289;p27"/>
          <p:cNvSpPr txBox="1"/>
          <p:nvPr/>
        </p:nvSpPr>
        <p:spPr>
          <a:xfrm>
            <a:off x="0" y="680275"/>
            <a:ext cx="20484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73763"/>
                </a:solidFill>
              </a:rPr>
              <a:t>Module lifecycle:</a:t>
            </a:r>
            <a:endParaRPr sz="1800">
              <a:solidFill>
                <a:srgbClr val="073763"/>
              </a:solidFill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2048338" y="680275"/>
            <a:ext cx="34431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module_load,</a:t>
            </a:r>
            <a:endParaRPr sz="1800" i="1">
              <a:solidFill>
                <a:srgbClr val="0425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module_free,</a:t>
            </a:r>
            <a:endParaRPr sz="1800" i="1">
              <a:solidFill>
                <a:srgbClr val="0425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do_init_module.</a:t>
            </a:r>
            <a:endParaRPr sz="1800" i="1">
              <a:solidFill>
                <a:srgbClr val="042543"/>
              </a:solidFill>
            </a:endParaRPr>
          </a:p>
        </p:txBody>
      </p:sp>
      <p:cxnSp>
        <p:nvCxnSpPr>
          <p:cNvPr id="291" name="Google Shape;291;p27"/>
          <p:cNvCxnSpPr/>
          <p:nvPr/>
        </p:nvCxnSpPr>
        <p:spPr>
          <a:xfrm rot="10800000">
            <a:off x="474000" y="2824450"/>
            <a:ext cx="5017500" cy="16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2" name="Google Shape;292;p27"/>
          <p:cNvSpPr txBox="1"/>
          <p:nvPr/>
        </p:nvSpPr>
        <p:spPr>
          <a:xfrm>
            <a:off x="0" y="1824225"/>
            <a:ext cx="20484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73763"/>
                </a:solidFill>
              </a:rPr>
              <a:t>eBPF surface:</a:t>
            </a:r>
            <a:endParaRPr sz="1800">
              <a:solidFill>
                <a:srgbClr val="073763"/>
              </a:solidFill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2048338" y="1824225"/>
            <a:ext cx="34431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security_bpf,</a:t>
            </a:r>
            <a:endParaRPr sz="1800" i="1">
              <a:solidFill>
                <a:srgbClr val="0425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security_bpf_map,</a:t>
            </a:r>
            <a:endParaRPr sz="1800" i="1">
              <a:solidFill>
                <a:srgbClr val="0425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security_bpf_prog.</a:t>
            </a:r>
            <a:endParaRPr sz="1800" i="1">
              <a:solidFill>
                <a:srgbClr val="042543"/>
              </a:solidFill>
            </a:endParaRPr>
          </a:p>
        </p:txBody>
      </p:sp>
      <p:cxnSp>
        <p:nvCxnSpPr>
          <p:cNvPr id="294" name="Google Shape;294;p27"/>
          <p:cNvCxnSpPr/>
          <p:nvPr/>
        </p:nvCxnSpPr>
        <p:spPr>
          <a:xfrm rot="10800000">
            <a:off x="474000" y="3720450"/>
            <a:ext cx="5017500" cy="16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7"/>
          <p:cNvSpPr txBox="1"/>
          <p:nvPr/>
        </p:nvSpPr>
        <p:spPr>
          <a:xfrm>
            <a:off x="0" y="2968175"/>
            <a:ext cx="20484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73763"/>
                </a:solidFill>
              </a:rPr>
              <a:t>Dynamic instrumentation:</a:t>
            </a:r>
            <a:endParaRPr sz="1800">
              <a:solidFill>
                <a:srgbClr val="073763"/>
              </a:solidFill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2048338" y="2968175"/>
            <a:ext cx="34431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register_kprobe,</a:t>
            </a:r>
            <a:endParaRPr sz="1800" i="1">
              <a:solidFill>
                <a:srgbClr val="0425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kallsyms_lookup_name.</a:t>
            </a:r>
            <a:endParaRPr sz="1800" i="1">
              <a:solidFill>
                <a:srgbClr val="042543"/>
              </a:solidFill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0" y="3826625"/>
            <a:ext cx="20484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073763"/>
                </a:solidFill>
              </a:rPr>
              <a:t>Kernel interfaces:</a:t>
            </a:r>
            <a:endParaRPr sz="1800">
              <a:solidFill>
                <a:srgbClr val="073763"/>
              </a:solidFill>
            </a:endParaRPr>
          </a:p>
        </p:txBody>
      </p:sp>
      <p:sp>
        <p:nvSpPr>
          <p:cNvPr id="298" name="Google Shape;298;p27"/>
          <p:cNvSpPr txBox="1"/>
          <p:nvPr/>
        </p:nvSpPr>
        <p:spPr>
          <a:xfrm>
            <a:off x="2048338" y="3826625"/>
            <a:ext cx="3443100" cy="8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proc_create,</a:t>
            </a:r>
            <a:endParaRPr sz="1800" i="1">
              <a:solidFill>
                <a:srgbClr val="0425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call_usermodehelper,</a:t>
            </a:r>
            <a:endParaRPr sz="1800" i="1">
              <a:solidFill>
                <a:srgbClr val="0425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rgbClr val="042543"/>
                </a:solidFill>
              </a:rPr>
              <a:t>security_kernel_read_file.</a:t>
            </a:r>
            <a:endParaRPr sz="1800" i="1">
              <a:solidFill>
                <a:srgbClr val="042543"/>
              </a:solidFill>
            </a:endParaRPr>
          </a:p>
        </p:txBody>
      </p:sp>
      <p:sp>
        <p:nvSpPr>
          <p:cNvPr id="299" name="Google Shape;29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543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Experimental Validation Setup</a:t>
            </a:r>
            <a:endParaRPr sz="28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59500" y="662375"/>
            <a:ext cx="1972500" cy="24129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Monitor Pod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</a:rPr>
              <a:t>eBPF Agent</a:t>
            </a:r>
            <a:endParaRPr sz="18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</a:rPr>
              <a:t>Filtering on UID 10001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2454863" y="662375"/>
            <a:ext cx="1972500" cy="24129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Trigger Pod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</a:rPr>
              <a:t>Exploit Client</a:t>
            </a:r>
            <a:endParaRPr sz="18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</a:rPr>
              <a:t>(Attacker)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290350" y="4006350"/>
            <a:ext cx="8730900" cy="8010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Shared Linux Kernel (Rocky Linux 8.10)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7112000" y="662375"/>
            <a:ext cx="1972500" cy="2412900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lt1"/>
                </a:solidFill>
              </a:rPr>
              <a:t>Target Pod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</a:rPr>
              <a:t>Vulnerable CTF Service (UID 10001)</a:t>
            </a:r>
            <a:endParaRPr sz="18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lt1"/>
                </a:solidFill>
              </a:rPr>
              <a:t>Contains Flag Secret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309" name="Google Shape;309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14</a:t>
            </a:fld>
            <a:endParaRPr/>
          </a:p>
        </p:txBody>
      </p:sp>
      <p:cxnSp>
        <p:nvCxnSpPr>
          <p:cNvPr id="310" name="Google Shape;310;p28"/>
          <p:cNvCxnSpPr>
            <a:stCxn id="306" idx="3"/>
            <a:endCxn id="308" idx="1"/>
          </p:cNvCxnSpPr>
          <p:nvPr/>
        </p:nvCxnSpPr>
        <p:spPr>
          <a:xfrm>
            <a:off x="4427363" y="1868825"/>
            <a:ext cx="2684700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11" name="Google Shape;311;p28"/>
          <p:cNvSpPr txBox="1"/>
          <p:nvPr/>
        </p:nvSpPr>
        <p:spPr>
          <a:xfrm>
            <a:off x="4577000" y="710375"/>
            <a:ext cx="23796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b="1">
                <a:solidFill>
                  <a:schemeClr val="lt1"/>
                </a:solidFill>
              </a:rPr>
              <a:t>Attack sequence</a:t>
            </a:r>
            <a:r>
              <a:rPr lang="it" sz="1600">
                <a:solidFill>
                  <a:schemeClr val="lt1"/>
                </a:solidFill>
              </a:rPr>
              <a:t>: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Exploit -&gt; ROP chain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-&gt; /bin/sh -&gt; /bin/cat -&gt;</a:t>
            </a:r>
            <a:endParaRPr sz="16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lt1"/>
                </a:solidFill>
              </a:rPr>
              <a:t>File Exfiltration</a:t>
            </a:r>
            <a:endParaRPr sz="1600">
              <a:solidFill>
                <a:schemeClr val="lt1"/>
              </a:solidFill>
            </a:endParaRPr>
          </a:p>
        </p:txBody>
      </p:sp>
      <p:cxnSp>
        <p:nvCxnSpPr>
          <p:cNvPr id="312" name="Google Shape;312;p28"/>
          <p:cNvCxnSpPr>
            <a:stCxn id="305" idx="2"/>
          </p:cNvCxnSpPr>
          <p:nvPr/>
        </p:nvCxnSpPr>
        <p:spPr>
          <a:xfrm>
            <a:off x="1045750" y="3075275"/>
            <a:ext cx="300" cy="9051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Google Shape;313;p28"/>
          <p:cNvCxnSpPr/>
          <p:nvPr/>
        </p:nvCxnSpPr>
        <p:spPr>
          <a:xfrm>
            <a:off x="3440975" y="3075275"/>
            <a:ext cx="300" cy="9051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28"/>
          <p:cNvCxnSpPr/>
          <p:nvPr/>
        </p:nvCxnSpPr>
        <p:spPr>
          <a:xfrm>
            <a:off x="8098100" y="3088263"/>
            <a:ext cx="300" cy="90510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9"/>
          <p:cNvSpPr txBox="1"/>
          <p:nvPr/>
        </p:nvSpPr>
        <p:spPr>
          <a:xfrm>
            <a:off x="0" y="0"/>
            <a:ext cx="91440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>
                <a:solidFill>
                  <a:srgbClr val="042543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Evaluation Results: CPU Consumption</a:t>
            </a:r>
            <a:endParaRPr sz="2800">
              <a:solidFill>
                <a:srgbClr val="042543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5813850" y="1075413"/>
            <a:ext cx="3207300" cy="3513300"/>
          </a:xfrm>
          <a:prstGeom prst="rect">
            <a:avLst/>
          </a:prstGeom>
          <a:noFill/>
          <a:ln w="38100" cap="flat" cmpd="sng">
            <a:solidFill>
              <a:srgbClr val="0425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it" sz="1800">
                <a:solidFill>
                  <a:schemeClr val="dk1"/>
                </a:solidFill>
              </a:rPr>
              <a:t>The prototype reduced mean CPU by about 92% through filtering before transport.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 sz="1800">
                <a:solidFill>
                  <a:schemeClr val="dk1"/>
                </a:solidFill>
              </a:rPr>
              <a:t>All retained runs recovered the flags and produced the required evidence.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 sz="1800">
                <a:solidFill>
                  <a:schemeClr val="dk1"/>
                </a:solidFill>
              </a:rPr>
              <a:t>Falco, Tetragon, and the prototype apply</a:t>
            </a:r>
            <a:r>
              <a:rPr lang="it"/>
              <a:t> </a:t>
            </a:r>
            <a:r>
              <a:rPr lang="it" sz="1800" b="1"/>
              <a:t>UID </a:t>
            </a:r>
            <a:r>
              <a:rPr lang="it" sz="1800"/>
              <a:t>selection at different stages</a:t>
            </a:r>
            <a:endParaRPr sz="1800"/>
          </a:p>
        </p:txBody>
      </p:sp>
      <p:sp>
        <p:nvSpPr>
          <p:cNvPr id="321" name="Google Shape;32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15</a:t>
            </a:fld>
            <a:endParaRPr/>
          </a:p>
        </p:txBody>
      </p:sp>
      <p:pic>
        <p:nvPicPr>
          <p:cNvPr id="322" name="Google Shape;322;p29" title="mean_monitor_container_cpu_consump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3400"/>
            <a:ext cx="5509048" cy="3760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2543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0"/>
          <p:cNvSpPr txBox="1"/>
          <p:nvPr/>
        </p:nvSpPr>
        <p:spPr>
          <a:xfrm>
            <a:off x="0" y="0"/>
            <a:ext cx="91440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37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Conclusions</a:t>
            </a:r>
            <a:endParaRPr sz="34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28" name="Google Shape;328;p30"/>
          <p:cNvSpPr txBox="1"/>
          <p:nvPr/>
        </p:nvSpPr>
        <p:spPr>
          <a:xfrm>
            <a:off x="181000" y="687750"/>
            <a:ext cx="8640600" cy="3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700" b="1">
                <a:solidFill>
                  <a:srgbClr val="6D9EEB"/>
                </a:solidFill>
              </a:rPr>
              <a:t>Key Findings</a:t>
            </a:r>
            <a:endParaRPr sz="2700" b="1">
              <a:solidFill>
                <a:srgbClr val="6D9EEB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700" b="1">
              <a:solidFill>
                <a:srgbClr val="6D9EEB"/>
              </a:solidFill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it" sz="2500" b="1">
                <a:solidFill>
                  <a:schemeClr val="lt1"/>
                </a:solidFill>
              </a:rPr>
              <a:t>Kernel observations can be transformed into consistent security evidence.</a:t>
            </a:r>
            <a:endParaRPr sz="2500" b="1">
              <a:solidFill>
                <a:schemeClr val="lt1"/>
              </a:solidFill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it" sz="2500" b="1">
                <a:solidFill>
                  <a:schemeClr val="lt1"/>
                </a:solidFill>
              </a:rPr>
              <a:t>Configurable monitoring supports different investigation task, useful for the security analyst.</a:t>
            </a:r>
            <a:endParaRPr sz="2500" b="1">
              <a:solidFill>
                <a:schemeClr val="lt1"/>
              </a:solidFill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it" sz="2500" b="1">
                <a:solidFill>
                  <a:schemeClr val="lt1"/>
                </a:solidFill>
              </a:rPr>
              <a:t>Early filtering can reduce performance cost</a:t>
            </a:r>
            <a:endParaRPr sz="2500" b="1">
              <a:solidFill>
                <a:schemeClr val="lt1"/>
              </a:solidFill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it" sz="2500" b="1">
                <a:solidFill>
                  <a:schemeClr val="lt1"/>
                </a:solidFill>
              </a:rPr>
              <a:t>Broader coverage and higher event rates remain future work.</a:t>
            </a:r>
            <a:endParaRPr sz="2500" b="1">
              <a:solidFill>
                <a:schemeClr val="lt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chemeClr val="lt1"/>
              </a:solidFill>
            </a:endParaRPr>
          </a:p>
        </p:txBody>
      </p:sp>
      <p:sp>
        <p:nvSpPr>
          <p:cNvPr id="329" name="Google Shape;32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16</a:t>
            </a:fld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0" y="4170625"/>
            <a:ext cx="91440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3700">
                <a:solidFill>
                  <a:schemeClr val="lt1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Any question?</a:t>
            </a:r>
            <a:endParaRPr sz="3400">
              <a:solidFill>
                <a:schemeClr val="lt1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2026-09-16T09:42:03Z</dcterms:modified>
</cp:coreProperties>
</file>